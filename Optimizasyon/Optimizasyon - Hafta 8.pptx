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0" r:id="rId2"/>
    <p:sldId id="361" r:id="rId3"/>
    <p:sldId id="362" r:id="rId4"/>
    <p:sldId id="363" r:id="rId5"/>
    <p:sldId id="364" r:id="rId6"/>
    <p:sldId id="365" r:id="rId7"/>
    <p:sldId id="366" r:id="rId8"/>
    <p:sldId id="367" r:id="rId9"/>
    <p:sldId id="368" r:id="rId10"/>
    <p:sldId id="369" r:id="rId11"/>
    <p:sldId id="370" r:id="rId12"/>
    <p:sldId id="371" r:id="rId13"/>
    <p:sldId id="372" r:id="rId14"/>
    <p:sldId id="373" r:id="rId15"/>
    <p:sldId id="374" r:id="rId16"/>
    <p:sldId id="375" r:id="rId17"/>
    <p:sldId id="382" r:id="rId18"/>
    <p:sldId id="376" r:id="rId19"/>
    <p:sldId id="377" r:id="rId20"/>
    <p:sldId id="378" r:id="rId21"/>
  </p:sldIdLst>
  <p:sldSz cx="9144000" cy="6858000" type="screen4x3"/>
  <p:notesSz cx="6858000" cy="9144000"/>
  <p:defaultTextStyle>
    <a:defPPr>
      <a:defRPr lang="tr-TR"/>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p:cViewPr varScale="1">
        <p:scale>
          <a:sx n="82" d="100"/>
          <a:sy n="82" d="100"/>
        </p:scale>
        <p:origin x="1411" y="72"/>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Veri Yer Tutucusu 3"/>
          <p:cNvSpPr>
            <a:spLocks noGrp="1"/>
          </p:cNvSpPr>
          <p:nvPr>
            <p:ph type="dt" sz="half" idx="10"/>
          </p:nvPr>
        </p:nvSpPr>
        <p:spPr/>
        <p:txBody>
          <a:bodyPr/>
          <a:lstStyle>
            <a:lvl1pPr>
              <a:defRPr/>
            </a:lvl1pPr>
          </a:lstStyle>
          <a:p>
            <a:pPr>
              <a:defRPr/>
            </a:pPr>
            <a:fld id="{E9E41130-B465-4D13-9E39-48CBF37E7BCA}" type="datetimeFigureOut">
              <a:rPr lang="tr-TR"/>
              <a:pPr>
                <a:defRPr/>
              </a:pPr>
              <a:t>14.04.2026</a:t>
            </a:fld>
            <a:endParaRPr lang="tr-TR"/>
          </a:p>
        </p:txBody>
      </p:sp>
      <p:sp>
        <p:nvSpPr>
          <p:cNvPr id="5" name="Altbilgi Yer Tutucusu 4"/>
          <p:cNvSpPr>
            <a:spLocks noGrp="1"/>
          </p:cNvSpPr>
          <p:nvPr>
            <p:ph type="ftr" sz="quarter" idx="11"/>
          </p:nvPr>
        </p:nvSpPr>
        <p:spPr/>
        <p:txBody>
          <a:bodyPr/>
          <a:lstStyle>
            <a:lvl1pPr>
              <a:defRPr/>
            </a:lvl1pPr>
          </a:lstStyle>
          <a:p>
            <a:pPr>
              <a:defRPr/>
            </a:pPr>
            <a:endParaRPr lang="tr-TR"/>
          </a:p>
        </p:txBody>
      </p:sp>
      <p:sp>
        <p:nvSpPr>
          <p:cNvPr id="6" name="Slayt Numarası Yer Tutucusu 5"/>
          <p:cNvSpPr>
            <a:spLocks noGrp="1"/>
          </p:cNvSpPr>
          <p:nvPr>
            <p:ph type="sldNum" sz="quarter" idx="12"/>
          </p:nvPr>
        </p:nvSpPr>
        <p:spPr/>
        <p:txBody>
          <a:bodyPr/>
          <a:lstStyle>
            <a:lvl1pPr>
              <a:defRPr/>
            </a:lvl1pPr>
          </a:lstStyle>
          <a:p>
            <a:fld id="{EC0724BF-FB36-4D3F-B55E-50B139415B65}" type="slidenum">
              <a:rPr lang="tr-TR" altLang="tr-TR"/>
              <a:pPr/>
              <a:t>‹#›</a:t>
            </a:fld>
            <a:endParaRPr lang="tr-TR" altLang="tr-TR"/>
          </a:p>
        </p:txBody>
      </p:sp>
    </p:spTree>
    <p:extLst>
      <p:ext uri="{BB962C8B-B14F-4D97-AF65-F5344CB8AC3E}">
        <p14:creationId xmlns:p14="http://schemas.microsoft.com/office/powerpoint/2010/main" val="3362118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lvl1pPr>
              <a:defRPr/>
            </a:lvl1pPr>
          </a:lstStyle>
          <a:p>
            <a:pPr>
              <a:defRPr/>
            </a:pPr>
            <a:fld id="{4C4FC49C-A3E7-4210-8848-179E6C4E309D}" type="datetimeFigureOut">
              <a:rPr lang="tr-TR"/>
              <a:pPr>
                <a:defRPr/>
              </a:pPr>
              <a:t>14.04.2026</a:t>
            </a:fld>
            <a:endParaRPr lang="tr-TR"/>
          </a:p>
        </p:txBody>
      </p:sp>
      <p:sp>
        <p:nvSpPr>
          <p:cNvPr id="5" name="Altbilgi Yer Tutucusu 4"/>
          <p:cNvSpPr>
            <a:spLocks noGrp="1"/>
          </p:cNvSpPr>
          <p:nvPr>
            <p:ph type="ftr" sz="quarter" idx="11"/>
          </p:nvPr>
        </p:nvSpPr>
        <p:spPr/>
        <p:txBody>
          <a:bodyPr/>
          <a:lstStyle>
            <a:lvl1pPr>
              <a:defRPr/>
            </a:lvl1pPr>
          </a:lstStyle>
          <a:p>
            <a:pPr>
              <a:defRPr/>
            </a:pPr>
            <a:endParaRPr lang="tr-TR"/>
          </a:p>
        </p:txBody>
      </p:sp>
      <p:sp>
        <p:nvSpPr>
          <p:cNvPr id="6" name="Slayt Numarası Yer Tutucusu 5"/>
          <p:cNvSpPr>
            <a:spLocks noGrp="1"/>
          </p:cNvSpPr>
          <p:nvPr>
            <p:ph type="sldNum" sz="quarter" idx="12"/>
          </p:nvPr>
        </p:nvSpPr>
        <p:spPr/>
        <p:txBody>
          <a:bodyPr/>
          <a:lstStyle>
            <a:lvl1pPr>
              <a:defRPr/>
            </a:lvl1pPr>
          </a:lstStyle>
          <a:p>
            <a:fld id="{642EF0B0-79F7-472B-A080-6F1CBB715CD7}" type="slidenum">
              <a:rPr lang="tr-TR" altLang="tr-TR"/>
              <a:pPr/>
              <a:t>‹#›</a:t>
            </a:fld>
            <a:endParaRPr lang="tr-TR" altLang="tr-TR"/>
          </a:p>
        </p:txBody>
      </p:sp>
    </p:spTree>
    <p:extLst>
      <p:ext uri="{BB962C8B-B14F-4D97-AF65-F5344CB8AC3E}">
        <p14:creationId xmlns:p14="http://schemas.microsoft.com/office/powerpoint/2010/main" val="3182759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lvl1pPr>
              <a:defRPr/>
            </a:lvl1pPr>
          </a:lstStyle>
          <a:p>
            <a:pPr>
              <a:defRPr/>
            </a:pPr>
            <a:fld id="{7B79F008-AD75-43EC-84A2-6B62306120B4}" type="datetimeFigureOut">
              <a:rPr lang="tr-TR"/>
              <a:pPr>
                <a:defRPr/>
              </a:pPr>
              <a:t>14.04.2026</a:t>
            </a:fld>
            <a:endParaRPr lang="tr-TR"/>
          </a:p>
        </p:txBody>
      </p:sp>
      <p:sp>
        <p:nvSpPr>
          <p:cNvPr id="5" name="Altbilgi Yer Tutucusu 4"/>
          <p:cNvSpPr>
            <a:spLocks noGrp="1"/>
          </p:cNvSpPr>
          <p:nvPr>
            <p:ph type="ftr" sz="quarter" idx="11"/>
          </p:nvPr>
        </p:nvSpPr>
        <p:spPr/>
        <p:txBody>
          <a:bodyPr/>
          <a:lstStyle>
            <a:lvl1pPr>
              <a:defRPr/>
            </a:lvl1pPr>
          </a:lstStyle>
          <a:p>
            <a:pPr>
              <a:defRPr/>
            </a:pPr>
            <a:endParaRPr lang="tr-TR"/>
          </a:p>
        </p:txBody>
      </p:sp>
      <p:sp>
        <p:nvSpPr>
          <p:cNvPr id="6" name="Slayt Numarası Yer Tutucusu 5"/>
          <p:cNvSpPr>
            <a:spLocks noGrp="1"/>
          </p:cNvSpPr>
          <p:nvPr>
            <p:ph type="sldNum" sz="quarter" idx="12"/>
          </p:nvPr>
        </p:nvSpPr>
        <p:spPr/>
        <p:txBody>
          <a:bodyPr/>
          <a:lstStyle>
            <a:lvl1pPr>
              <a:defRPr/>
            </a:lvl1pPr>
          </a:lstStyle>
          <a:p>
            <a:fld id="{914CE72F-BCBF-4A57-926E-6D67BD9AC8DC}" type="slidenum">
              <a:rPr lang="tr-TR" altLang="tr-TR"/>
              <a:pPr/>
              <a:t>‹#›</a:t>
            </a:fld>
            <a:endParaRPr lang="tr-TR" altLang="tr-TR"/>
          </a:p>
        </p:txBody>
      </p:sp>
    </p:spTree>
    <p:extLst>
      <p:ext uri="{BB962C8B-B14F-4D97-AF65-F5344CB8AC3E}">
        <p14:creationId xmlns:p14="http://schemas.microsoft.com/office/powerpoint/2010/main" val="650932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3"/>
          <p:cNvSpPr>
            <a:spLocks noGrp="1"/>
          </p:cNvSpPr>
          <p:nvPr>
            <p:ph type="dt" sz="half" idx="10"/>
          </p:nvPr>
        </p:nvSpPr>
        <p:spPr/>
        <p:txBody>
          <a:bodyPr/>
          <a:lstStyle>
            <a:lvl1pPr>
              <a:defRPr/>
            </a:lvl1pPr>
          </a:lstStyle>
          <a:p>
            <a:pPr>
              <a:defRPr/>
            </a:pPr>
            <a:fld id="{3F9982EA-9BA2-4154-9AE6-05E6CC86DE5D}" type="datetimeFigureOut">
              <a:rPr lang="tr-TR"/>
              <a:pPr>
                <a:defRPr/>
              </a:pPr>
              <a:t>14.04.2026</a:t>
            </a:fld>
            <a:endParaRPr lang="tr-TR"/>
          </a:p>
        </p:txBody>
      </p:sp>
      <p:sp>
        <p:nvSpPr>
          <p:cNvPr id="6" name="Altbilgi Yer Tutucusu 4"/>
          <p:cNvSpPr>
            <a:spLocks noGrp="1"/>
          </p:cNvSpPr>
          <p:nvPr>
            <p:ph type="ftr" sz="quarter" idx="11"/>
          </p:nvPr>
        </p:nvSpPr>
        <p:spPr/>
        <p:txBody>
          <a:bodyPr/>
          <a:lstStyle>
            <a:lvl1pPr>
              <a:defRPr/>
            </a:lvl1pPr>
          </a:lstStyle>
          <a:p>
            <a:pPr>
              <a:defRPr/>
            </a:pPr>
            <a:endParaRPr lang="tr-TR"/>
          </a:p>
        </p:txBody>
      </p:sp>
      <p:sp>
        <p:nvSpPr>
          <p:cNvPr id="7" name="Slayt Numarası Yer Tutucusu 5"/>
          <p:cNvSpPr>
            <a:spLocks noGrp="1"/>
          </p:cNvSpPr>
          <p:nvPr>
            <p:ph type="sldNum" sz="quarter" idx="12"/>
          </p:nvPr>
        </p:nvSpPr>
        <p:spPr/>
        <p:txBody>
          <a:bodyPr/>
          <a:lstStyle>
            <a:lvl1pPr>
              <a:defRPr/>
            </a:lvl1pPr>
          </a:lstStyle>
          <a:p>
            <a:fld id="{D74DD5C0-6E82-4D87-842B-5C39CB940C20}" type="slidenum">
              <a:rPr lang="tr-TR" altLang="tr-TR"/>
              <a:pPr/>
              <a:t>‹#›</a:t>
            </a:fld>
            <a:endParaRPr lang="tr-TR" altLang="tr-TR"/>
          </a:p>
        </p:txBody>
      </p:sp>
    </p:spTree>
    <p:extLst>
      <p:ext uri="{BB962C8B-B14F-4D97-AF65-F5344CB8AC3E}">
        <p14:creationId xmlns:p14="http://schemas.microsoft.com/office/powerpoint/2010/main" val="761933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3"/>
          <p:cNvSpPr>
            <a:spLocks noGrp="1"/>
          </p:cNvSpPr>
          <p:nvPr>
            <p:ph type="dt" sz="half" idx="10"/>
          </p:nvPr>
        </p:nvSpPr>
        <p:spPr/>
        <p:txBody>
          <a:bodyPr/>
          <a:lstStyle>
            <a:lvl1pPr>
              <a:defRPr/>
            </a:lvl1pPr>
          </a:lstStyle>
          <a:p>
            <a:pPr>
              <a:defRPr/>
            </a:pPr>
            <a:fld id="{E87B75BE-A559-41E5-9C72-F7CAA9534828}" type="datetimeFigureOut">
              <a:rPr lang="tr-TR"/>
              <a:pPr>
                <a:defRPr/>
              </a:pPr>
              <a:t>14.04.2026</a:t>
            </a:fld>
            <a:endParaRPr lang="tr-TR"/>
          </a:p>
        </p:txBody>
      </p:sp>
      <p:sp>
        <p:nvSpPr>
          <p:cNvPr id="8" name="Altbilgi Yer Tutucusu 4"/>
          <p:cNvSpPr>
            <a:spLocks noGrp="1"/>
          </p:cNvSpPr>
          <p:nvPr>
            <p:ph type="ftr" sz="quarter" idx="11"/>
          </p:nvPr>
        </p:nvSpPr>
        <p:spPr/>
        <p:txBody>
          <a:bodyPr/>
          <a:lstStyle>
            <a:lvl1pPr>
              <a:defRPr/>
            </a:lvl1pPr>
          </a:lstStyle>
          <a:p>
            <a:pPr>
              <a:defRPr/>
            </a:pPr>
            <a:endParaRPr lang="tr-TR"/>
          </a:p>
        </p:txBody>
      </p:sp>
      <p:sp>
        <p:nvSpPr>
          <p:cNvPr id="9" name="Slayt Numarası Yer Tutucusu 5"/>
          <p:cNvSpPr>
            <a:spLocks noGrp="1"/>
          </p:cNvSpPr>
          <p:nvPr>
            <p:ph type="sldNum" sz="quarter" idx="12"/>
          </p:nvPr>
        </p:nvSpPr>
        <p:spPr/>
        <p:txBody>
          <a:bodyPr/>
          <a:lstStyle>
            <a:lvl1pPr>
              <a:defRPr/>
            </a:lvl1pPr>
          </a:lstStyle>
          <a:p>
            <a:fld id="{8B4657A4-C901-498D-A374-4B9E7903B51B}" type="slidenum">
              <a:rPr lang="tr-TR" altLang="tr-TR"/>
              <a:pPr/>
              <a:t>‹#›</a:t>
            </a:fld>
            <a:endParaRPr lang="tr-TR" altLang="tr-TR"/>
          </a:p>
        </p:txBody>
      </p:sp>
    </p:spTree>
    <p:extLst>
      <p:ext uri="{BB962C8B-B14F-4D97-AF65-F5344CB8AC3E}">
        <p14:creationId xmlns:p14="http://schemas.microsoft.com/office/powerpoint/2010/main" val="1330448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3"/>
          <p:cNvSpPr>
            <a:spLocks noGrp="1"/>
          </p:cNvSpPr>
          <p:nvPr>
            <p:ph type="dt" sz="half" idx="10"/>
          </p:nvPr>
        </p:nvSpPr>
        <p:spPr/>
        <p:txBody>
          <a:bodyPr/>
          <a:lstStyle>
            <a:lvl1pPr>
              <a:defRPr/>
            </a:lvl1pPr>
          </a:lstStyle>
          <a:p>
            <a:pPr>
              <a:defRPr/>
            </a:pPr>
            <a:fld id="{F39BCB96-E457-40C6-BE91-C21285639BCA}" type="datetimeFigureOut">
              <a:rPr lang="tr-TR"/>
              <a:pPr>
                <a:defRPr/>
              </a:pPr>
              <a:t>14.04.2026</a:t>
            </a:fld>
            <a:endParaRPr lang="tr-TR"/>
          </a:p>
        </p:txBody>
      </p:sp>
      <p:sp>
        <p:nvSpPr>
          <p:cNvPr id="4" name="Altbilgi Yer Tutucusu 4"/>
          <p:cNvSpPr>
            <a:spLocks noGrp="1"/>
          </p:cNvSpPr>
          <p:nvPr>
            <p:ph type="ftr" sz="quarter" idx="11"/>
          </p:nvPr>
        </p:nvSpPr>
        <p:spPr/>
        <p:txBody>
          <a:bodyPr/>
          <a:lstStyle>
            <a:lvl1pPr>
              <a:defRPr/>
            </a:lvl1pPr>
          </a:lstStyle>
          <a:p>
            <a:pPr>
              <a:defRPr/>
            </a:pPr>
            <a:endParaRPr lang="tr-TR"/>
          </a:p>
        </p:txBody>
      </p:sp>
      <p:sp>
        <p:nvSpPr>
          <p:cNvPr id="5" name="Slayt Numarası Yer Tutucusu 5"/>
          <p:cNvSpPr>
            <a:spLocks noGrp="1"/>
          </p:cNvSpPr>
          <p:nvPr>
            <p:ph type="sldNum" sz="quarter" idx="12"/>
          </p:nvPr>
        </p:nvSpPr>
        <p:spPr/>
        <p:txBody>
          <a:bodyPr/>
          <a:lstStyle>
            <a:lvl1pPr>
              <a:defRPr/>
            </a:lvl1pPr>
          </a:lstStyle>
          <a:p>
            <a:fld id="{F2F4ED63-93F8-4E88-B1C6-24E9F126EC02}" type="slidenum">
              <a:rPr lang="tr-TR" altLang="tr-TR"/>
              <a:pPr/>
              <a:t>‹#›</a:t>
            </a:fld>
            <a:endParaRPr lang="tr-TR" altLang="tr-TR"/>
          </a:p>
        </p:txBody>
      </p:sp>
    </p:spTree>
    <p:extLst>
      <p:ext uri="{BB962C8B-B14F-4D97-AF65-F5344CB8AC3E}">
        <p14:creationId xmlns:p14="http://schemas.microsoft.com/office/powerpoint/2010/main" val="3374291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3"/>
          <p:cNvSpPr>
            <a:spLocks noGrp="1"/>
          </p:cNvSpPr>
          <p:nvPr>
            <p:ph type="dt" sz="half" idx="10"/>
          </p:nvPr>
        </p:nvSpPr>
        <p:spPr/>
        <p:txBody>
          <a:bodyPr/>
          <a:lstStyle>
            <a:lvl1pPr>
              <a:defRPr/>
            </a:lvl1pPr>
          </a:lstStyle>
          <a:p>
            <a:pPr>
              <a:defRPr/>
            </a:pPr>
            <a:fld id="{E25764D3-54C6-473C-BB9D-A6215853344D}" type="datetimeFigureOut">
              <a:rPr lang="tr-TR"/>
              <a:pPr>
                <a:defRPr/>
              </a:pPr>
              <a:t>14.04.2026</a:t>
            </a:fld>
            <a:endParaRPr lang="tr-TR"/>
          </a:p>
        </p:txBody>
      </p:sp>
      <p:sp>
        <p:nvSpPr>
          <p:cNvPr id="3" name="Altbilgi Yer Tutucusu 4"/>
          <p:cNvSpPr>
            <a:spLocks noGrp="1"/>
          </p:cNvSpPr>
          <p:nvPr>
            <p:ph type="ftr" sz="quarter" idx="11"/>
          </p:nvPr>
        </p:nvSpPr>
        <p:spPr/>
        <p:txBody>
          <a:bodyPr/>
          <a:lstStyle>
            <a:lvl1pPr>
              <a:defRPr/>
            </a:lvl1pPr>
          </a:lstStyle>
          <a:p>
            <a:pPr>
              <a:defRPr/>
            </a:pPr>
            <a:endParaRPr lang="tr-TR"/>
          </a:p>
        </p:txBody>
      </p:sp>
      <p:sp>
        <p:nvSpPr>
          <p:cNvPr id="4" name="Slayt Numarası Yer Tutucusu 5"/>
          <p:cNvSpPr>
            <a:spLocks noGrp="1"/>
          </p:cNvSpPr>
          <p:nvPr>
            <p:ph type="sldNum" sz="quarter" idx="12"/>
          </p:nvPr>
        </p:nvSpPr>
        <p:spPr/>
        <p:txBody>
          <a:bodyPr/>
          <a:lstStyle>
            <a:lvl1pPr>
              <a:defRPr/>
            </a:lvl1pPr>
          </a:lstStyle>
          <a:p>
            <a:fld id="{3FA034C2-CA6F-450C-8379-BA0A5DA75690}" type="slidenum">
              <a:rPr lang="tr-TR" altLang="tr-TR"/>
              <a:pPr/>
              <a:t>‹#›</a:t>
            </a:fld>
            <a:endParaRPr lang="tr-TR" altLang="tr-TR"/>
          </a:p>
        </p:txBody>
      </p:sp>
    </p:spTree>
    <p:extLst>
      <p:ext uri="{BB962C8B-B14F-4D97-AF65-F5344CB8AC3E}">
        <p14:creationId xmlns:p14="http://schemas.microsoft.com/office/powerpoint/2010/main" val="2004365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3"/>
          <p:cNvSpPr>
            <a:spLocks noGrp="1"/>
          </p:cNvSpPr>
          <p:nvPr>
            <p:ph type="dt" sz="half" idx="10"/>
          </p:nvPr>
        </p:nvSpPr>
        <p:spPr/>
        <p:txBody>
          <a:bodyPr/>
          <a:lstStyle>
            <a:lvl1pPr>
              <a:defRPr/>
            </a:lvl1pPr>
          </a:lstStyle>
          <a:p>
            <a:pPr>
              <a:defRPr/>
            </a:pPr>
            <a:fld id="{1A7DD309-2DA8-4194-9E94-93486FA09E21}" type="datetimeFigureOut">
              <a:rPr lang="tr-TR"/>
              <a:pPr>
                <a:defRPr/>
              </a:pPr>
              <a:t>14.04.2026</a:t>
            </a:fld>
            <a:endParaRPr lang="tr-TR"/>
          </a:p>
        </p:txBody>
      </p:sp>
      <p:sp>
        <p:nvSpPr>
          <p:cNvPr id="6" name="Altbilgi Yer Tutucusu 4"/>
          <p:cNvSpPr>
            <a:spLocks noGrp="1"/>
          </p:cNvSpPr>
          <p:nvPr>
            <p:ph type="ftr" sz="quarter" idx="11"/>
          </p:nvPr>
        </p:nvSpPr>
        <p:spPr/>
        <p:txBody>
          <a:bodyPr/>
          <a:lstStyle>
            <a:lvl1pPr>
              <a:defRPr/>
            </a:lvl1pPr>
          </a:lstStyle>
          <a:p>
            <a:pPr>
              <a:defRPr/>
            </a:pPr>
            <a:endParaRPr lang="tr-TR"/>
          </a:p>
        </p:txBody>
      </p:sp>
      <p:sp>
        <p:nvSpPr>
          <p:cNvPr id="7" name="Slayt Numarası Yer Tutucusu 5"/>
          <p:cNvSpPr>
            <a:spLocks noGrp="1"/>
          </p:cNvSpPr>
          <p:nvPr>
            <p:ph type="sldNum" sz="quarter" idx="12"/>
          </p:nvPr>
        </p:nvSpPr>
        <p:spPr/>
        <p:txBody>
          <a:bodyPr/>
          <a:lstStyle>
            <a:lvl1pPr>
              <a:defRPr/>
            </a:lvl1pPr>
          </a:lstStyle>
          <a:p>
            <a:fld id="{14E0EDB7-F842-4B67-A4DE-2621FA07989E}" type="slidenum">
              <a:rPr lang="tr-TR" altLang="tr-TR"/>
              <a:pPr/>
              <a:t>‹#›</a:t>
            </a:fld>
            <a:endParaRPr lang="tr-TR" altLang="tr-TR"/>
          </a:p>
        </p:txBody>
      </p:sp>
    </p:spTree>
    <p:extLst>
      <p:ext uri="{BB962C8B-B14F-4D97-AF65-F5344CB8AC3E}">
        <p14:creationId xmlns:p14="http://schemas.microsoft.com/office/powerpoint/2010/main" val="720166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tr-TR" noProof="0"/>
              <a:t>Resim eklemek için simgeyi tıklatın</a:t>
            </a: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3"/>
          <p:cNvSpPr>
            <a:spLocks noGrp="1"/>
          </p:cNvSpPr>
          <p:nvPr>
            <p:ph type="dt" sz="half" idx="10"/>
          </p:nvPr>
        </p:nvSpPr>
        <p:spPr/>
        <p:txBody>
          <a:bodyPr/>
          <a:lstStyle>
            <a:lvl1pPr>
              <a:defRPr/>
            </a:lvl1pPr>
          </a:lstStyle>
          <a:p>
            <a:pPr>
              <a:defRPr/>
            </a:pPr>
            <a:fld id="{C2D2A12F-604B-4B21-B522-43C53CA70BBB}" type="datetimeFigureOut">
              <a:rPr lang="tr-TR"/>
              <a:pPr>
                <a:defRPr/>
              </a:pPr>
              <a:t>14.04.2026</a:t>
            </a:fld>
            <a:endParaRPr lang="tr-TR"/>
          </a:p>
        </p:txBody>
      </p:sp>
      <p:sp>
        <p:nvSpPr>
          <p:cNvPr id="6" name="Altbilgi Yer Tutucusu 4"/>
          <p:cNvSpPr>
            <a:spLocks noGrp="1"/>
          </p:cNvSpPr>
          <p:nvPr>
            <p:ph type="ftr" sz="quarter" idx="11"/>
          </p:nvPr>
        </p:nvSpPr>
        <p:spPr/>
        <p:txBody>
          <a:bodyPr/>
          <a:lstStyle>
            <a:lvl1pPr>
              <a:defRPr/>
            </a:lvl1pPr>
          </a:lstStyle>
          <a:p>
            <a:pPr>
              <a:defRPr/>
            </a:pPr>
            <a:endParaRPr lang="tr-TR"/>
          </a:p>
        </p:txBody>
      </p:sp>
      <p:sp>
        <p:nvSpPr>
          <p:cNvPr id="7" name="Slayt Numarası Yer Tutucusu 5"/>
          <p:cNvSpPr>
            <a:spLocks noGrp="1"/>
          </p:cNvSpPr>
          <p:nvPr>
            <p:ph type="sldNum" sz="quarter" idx="12"/>
          </p:nvPr>
        </p:nvSpPr>
        <p:spPr/>
        <p:txBody>
          <a:bodyPr/>
          <a:lstStyle>
            <a:lvl1pPr>
              <a:defRPr/>
            </a:lvl1pPr>
          </a:lstStyle>
          <a:p>
            <a:fld id="{1F5691A5-21A9-46F2-88AB-484000EC46DD}" type="slidenum">
              <a:rPr lang="tr-TR" altLang="tr-TR"/>
              <a:pPr/>
              <a:t>‹#›</a:t>
            </a:fld>
            <a:endParaRPr lang="tr-TR" altLang="tr-TR"/>
          </a:p>
        </p:txBody>
      </p:sp>
    </p:spTree>
    <p:extLst>
      <p:ext uri="{BB962C8B-B14F-4D97-AF65-F5344CB8AC3E}">
        <p14:creationId xmlns:p14="http://schemas.microsoft.com/office/powerpoint/2010/main" val="2712945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lvl1pPr>
              <a:defRPr/>
            </a:lvl1pPr>
          </a:lstStyle>
          <a:p>
            <a:pPr>
              <a:defRPr/>
            </a:pPr>
            <a:fld id="{94F26882-4AD8-4419-9D0C-5B40844DA737}" type="datetimeFigureOut">
              <a:rPr lang="tr-TR"/>
              <a:pPr>
                <a:defRPr/>
              </a:pPr>
              <a:t>14.04.2026</a:t>
            </a:fld>
            <a:endParaRPr lang="tr-TR"/>
          </a:p>
        </p:txBody>
      </p:sp>
      <p:sp>
        <p:nvSpPr>
          <p:cNvPr id="5" name="Altbilgi Yer Tutucusu 4"/>
          <p:cNvSpPr>
            <a:spLocks noGrp="1"/>
          </p:cNvSpPr>
          <p:nvPr>
            <p:ph type="ftr" sz="quarter" idx="11"/>
          </p:nvPr>
        </p:nvSpPr>
        <p:spPr/>
        <p:txBody>
          <a:bodyPr/>
          <a:lstStyle>
            <a:lvl1pPr>
              <a:defRPr/>
            </a:lvl1pPr>
          </a:lstStyle>
          <a:p>
            <a:pPr>
              <a:defRPr/>
            </a:pPr>
            <a:endParaRPr lang="tr-TR"/>
          </a:p>
        </p:txBody>
      </p:sp>
      <p:sp>
        <p:nvSpPr>
          <p:cNvPr id="6" name="Slayt Numarası Yer Tutucusu 5"/>
          <p:cNvSpPr>
            <a:spLocks noGrp="1"/>
          </p:cNvSpPr>
          <p:nvPr>
            <p:ph type="sldNum" sz="quarter" idx="12"/>
          </p:nvPr>
        </p:nvSpPr>
        <p:spPr/>
        <p:txBody>
          <a:bodyPr/>
          <a:lstStyle>
            <a:lvl1pPr>
              <a:defRPr/>
            </a:lvl1pPr>
          </a:lstStyle>
          <a:p>
            <a:fld id="{3AEDDDD4-F3CA-4776-96E8-0B06FBFF91F5}" type="slidenum">
              <a:rPr lang="tr-TR" altLang="tr-TR"/>
              <a:pPr/>
              <a:t>‹#›</a:t>
            </a:fld>
            <a:endParaRPr lang="tr-TR" altLang="tr-TR"/>
          </a:p>
        </p:txBody>
      </p:sp>
    </p:spTree>
    <p:extLst>
      <p:ext uri="{BB962C8B-B14F-4D97-AF65-F5344CB8AC3E}">
        <p14:creationId xmlns:p14="http://schemas.microsoft.com/office/powerpoint/2010/main" val="2187586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lvl1pPr>
              <a:defRPr/>
            </a:lvl1pPr>
          </a:lstStyle>
          <a:p>
            <a:pPr>
              <a:defRPr/>
            </a:pPr>
            <a:fld id="{14042670-362B-455D-87E1-BE912C6B641E}" type="datetimeFigureOut">
              <a:rPr lang="tr-TR"/>
              <a:pPr>
                <a:defRPr/>
              </a:pPr>
              <a:t>14.04.2026</a:t>
            </a:fld>
            <a:endParaRPr lang="tr-TR"/>
          </a:p>
        </p:txBody>
      </p:sp>
      <p:sp>
        <p:nvSpPr>
          <p:cNvPr id="5" name="Altbilgi Yer Tutucusu 4"/>
          <p:cNvSpPr>
            <a:spLocks noGrp="1"/>
          </p:cNvSpPr>
          <p:nvPr>
            <p:ph type="ftr" sz="quarter" idx="11"/>
          </p:nvPr>
        </p:nvSpPr>
        <p:spPr/>
        <p:txBody>
          <a:bodyPr/>
          <a:lstStyle>
            <a:lvl1pPr>
              <a:defRPr/>
            </a:lvl1pPr>
          </a:lstStyle>
          <a:p>
            <a:pPr>
              <a:defRPr/>
            </a:pPr>
            <a:endParaRPr lang="tr-TR"/>
          </a:p>
        </p:txBody>
      </p:sp>
      <p:sp>
        <p:nvSpPr>
          <p:cNvPr id="6" name="Slayt Numarası Yer Tutucusu 5"/>
          <p:cNvSpPr>
            <a:spLocks noGrp="1"/>
          </p:cNvSpPr>
          <p:nvPr>
            <p:ph type="sldNum" sz="quarter" idx="12"/>
          </p:nvPr>
        </p:nvSpPr>
        <p:spPr/>
        <p:txBody>
          <a:bodyPr/>
          <a:lstStyle>
            <a:lvl1pPr>
              <a:defRPr/>
            </a:lvl1pPr>
          </a:lstStyle>
          <a:p>
            <a:fld id="{BAE2C8A8-C6C7-4E0E-AA99-3899295D65F3}" type="slidenum">
              <a:rPr lang="tr-TR" altLang="tr-TR"/>
              <a:pPr/>
              <a:t>‹#›</a:t>
            </a:fld>
            <a:endParaRPr lang="tr-TR" altLang="tr-TR"/>
          </a:p>
        </p:txBody>
      </p:sp>
    </p:spTree>
    <p:extLst>
      <p:ext uri="{BB962C8B-B14F-4D97-AF65-F5344CB8AC3E}">
        <p14:creationId xmlns:p14="http://schemas.microsoft.com/office/powerpoint/2010/main" val="565952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aşlık Yer Tutucusu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tr-TR"/>
              <a:t>Asıl başlık stili için tıklatın</a:t>
            </a:r>
          </a:p>
        </p:txBody>
      </p:sp>
      <p:sp>
        <p:nvSpPr>
          <p:cNvPr id="1027" name="Metin Yer Tutucusu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tr-TR"/>
              <a:t>Asıl metin stillerini düzenlemek için tıklatın</a:t>
            </a:r>
          </a:p>
          <a:p>
            <a:pPr lvl="1"/>
            <a:r>
              <a:rPr lang="tr-TR" altLang="tr-TR"/>
              <a:t>İkinci düzey</a:t>
            </a:r>
          </a:p>
          <a:p>
            <a:pPr lvl="2"/>
            <a:r>
              <a:rPr lang="tr-TR" altLang="tr-TR"/>
              <a:t>Üçüncü düzey</a:t>
            </a:r>
          </a:p>
          <a:p>
            <a:pPr lvl="3"/>
            <a:r>
              <a:rPr lang="tr-TR" altLang="tr-TR"/>
              <a:t>Dördüncü düzey</a:t>
            </a:r>
          </a:p>
          <a:p>
            <a:pPr lvl="4"/>
            <a:r>
              <a:rPr lang="tr-TR" alt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7B1574D3-B7C6-40F2-85EA-6E88734E29E6}" type="datetimeFigureOut">
              <a:rPr lang="tr-TR"/>
              <a:pPr>
                <a:defRPr/>
              </a:pPr>
              <a:t>14.04.2026</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A3B2FF55-B342-4D15-AF8A-63ECD9D7B536}" type="slidenum">
              <a:rPr lang="tr-TR" altLang="tr-TR"/>
              <a:pPr/>
              <a:t>‹#›</a:t>
            </a:fld>
            <a:endParaRPr lang="tr-TR" alt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pic>
        <p:nvPicPr>
          <p:cNvPr id="9"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
        <p:nvSpPr>
          <p:cNvPr id="12" name="Unvan 1"/>
          <p:cNvSpPr>
            <a:spLocks noGrp="1"/>
          </p:cNvSpPr>
          <p:nvPr>
            <p:ph type="title"/>
          </p:nvPr>
        </p:nvSpPr>
        <p:spPr>
          <a:xfrm>
            <a:off x="19173" y="692696"/>
            <a:ext cx="9125287" cy="1598585"/>
          </a:xfrm>
        </p:spPr>
        <p:txBody>
          <a:bodyPr>
            <a:normAutofit/>
          </a:bodyPr>
          <a:lstStyle/>
          <a:p>
            <a:pPr algn="ctr"/>
            <a:r>
              <a:rPr lang="tr-TR" sz="4400" b="1" dirty="0"/>
              <a:t>Doğrusal Olmayan Modeller</a:t>
            </a:r>
            <a:br>
              <a:rPr lang="tr-TR" sz="4400" b="1" dirty="0"/>
            </a:br>
            <a:r>
              <a:rPr lang="tr-TR" sz="2800" b="1" dirty="0">
                <a:solidFill>
                  <a:schemeClr val="tx1">
                    <a:lumMod val="50000"/>
                    <a:lumOff val="50000"/>
                  </a:schemeClr>
                </a:solidFill>
              </a:rPr>
              <a:t>(Nonlinear Programming)</a:t>
            </a:r>
            <a:endParaRPr lang="tr-TR" sz="1600" dirty="0">
              <a:solidFill>
                <a:schemeClr val="tx1">
                  <a:lumMod val="50000"/>
                  <a:lumOff val="50000"/>
                </a:schemeClr>
              </a:solidFill>
            </a:endParaRPr>
          </a:p>
        </p:txBody>
      </p:sp>
      <p:sp>
        <p:nvSpPr>
          <p:cNvPr id="8" name="İçerik Yer Tutucusu 2"/>
          <p:cNvSpPr txBox="1">
            <a:spLocks/>
          </p:cNvSpPr>
          <p:nvPr/>
        </p:nvSpPr>
        <p:spPr bwMode="auto">
          <a:xfrm>
            <a:off x="9783" y="2648915"/>
            <a:ext cx="9135070" cy="3400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77500" lnSpcReduction="20000"/>
          </a:bodyPr>
          <a:lst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endParaRPr lang="tr-TR" sz="4800" b="1" dirty="0"/>
          </a:p>
          <a:p>
            <a:pPr marL="0" indent="0" algn="ctr">
              <a:buFont typeface="Arial" panose="020B0604020202020204" pitchFamily="34" charset="0"/>
              <a:buNone/>
            </a:pPr>
            <a:r>
              <a:rPr lang="tr-TR" sz="4800" b="1" dirty="0"/>
              <a:t>OPTİMİZASYON</a:t>
            </a:r>
            <a:endParaRPr lang="tr-TR" sz="4700" b="1" dirty="0"/>
          </a:p>
          <a:p>
            <a:pPr marL="0" indent="0" algn="ctr">
              <a:buFont typeface="Arial" panose="020B0604020202020204" pitchFamily="34" charset="0"/>
              <a:buNone/>
            </a:pPr>
            <a:r>
              <a:rPr lang="tr-TR" sz="3500" b="1" dirty="0"/>
              <a:t>8.Hafta</a:t>
            </a:r>
            <a:endParaRPr lang="tr-TR" sz="2200" dirty="0"/>
          </a:p>
          <a:p>
            <a:pPr marL="0" indent="0" algn="ctr">
              <a:buFont typeface="Arial" panose="020B0604020202020204" pitchFamily="34" charset="0"/>
              <a:buNone/>
            </a:pPr>
            <a:endParaRPr lang="tr-TR" dirty="0"/>
          </a:p>
          <a:p>
            <a:pPr marL="0" indent="0" algn="ctr">
              <a:buFont typeface="Arial" panose="020B0604020202020204" pitchFamily="34" charset="0"/>
              <a:buNone/>
            </a:pPr>
            <a:endParaRPr lang="tr-TR" dirty="0"/>
          </a:p>
          <a:p>
            <a:pPr marL="0" indent="0" algn="ctr">
              <a:buFont typeface="Arial" panose="020B0604020202020204" pitchFamily="34" charset="0"/>
              <a:buNone/>
            </a:pPr>
            <a:endParaRPr lang="tr-TR" dirty="0"/>
          </a:p>
          <a:p>
            <a:pPr marL="0" indent="0" algn="ctr">
              <a:buFont typeface="Arial" panose="020B0604020202020204" pitchFamily="34" charset="0"/>
              <a:buNone/>
            </a:pPr>
            <a:endParaRPr lang="tr-TR" sz="2100" dirty="0"/>
          </a:p>
          <a:p>
            <a:pPr marL="0" indent="0" algn="ctr">
              <a:buFont typeface="Arial" panose="020B0604020202020204" pitchFamily="34" charset="0"/>
              <a:buNone/>
            </a:pPr>
            <a:endParaRPr lang="tr-TR" sz="2100" dirty="0"/>
          </a:p>
          <a:p>
            <a:pPr marL="0" indent="0" algn="ctr">
              <a:spcBef>
                <a:spcPct val="0"/>
              </a:spcBef>
              <a:buFont typeface="Arial" panose="020B0604020202020204" pitchFamily="34" charset="0"/>
              <a:buNone/>
            </a:pPr>
            <a:r>
              <a:rPr lang="tr-TR" sz="2600" b="1" dirty="0">
                <a:solidFill>
                  <a:schemeClr val="tx1">
                    <a:lumMod val="50000"/>
                    <a:lumOff val="50000"/>
                  </a:schemeClr>
                </a:solidFill>
                <a:latin typeface="+mj-lt"/>
                <a:ea typeface="+mj-ea"/>
                <a:cs typeface="+mj-cs"/>
              </a:rPr>
              <a:t>						Dr. Furkan YENER</a:t>
            </a:r>
          </a:p>
        </p:txBody>
      </p:sp>
    </p:spTree>
    <p:extLst>
      <p:ext uri="{BB962C8B-B14F-4D97-AF65-F5344CB8AC3E}">
        <p14:creationId xmlns:p14="http://schemas.microsoft.com/office/powerpoint/2010/main" val="7603607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7" name="Unvan 1"/>
          <p:cNvSpPr>
            <a:spLocks noGrp="1"/>
          </p:cNvSpPr>
          <p:nvPr>
            <p:ph type="title"/>
          </p:nvPr>
        </p:nvSpPr>
        <p:spPr>
          <a:xfrm>
            <a:off x="0" y="692696"/>
            <a:ext cx="9144000" cy="1368152"/>
          </a:xfrm>
        </p:spPr>
        <p:txBody>
          <a:bodyPr/>
          <a:lstStyle/>
          <a:p>
            <a:r>
              <a:rPr lang="tr-TR" sz="4000" b="1" dirty="0"/>
              <a:t>Çok Değişkenli Kısıtlı Doğrusal Olmayan Problemlerin Optimizasyonu</a:t>
            </a:r>
            <a:endParaRPr lang="tr-TR" sz="4000" dirty="0"/>
          </a:p>
        </p:txBody>
      </p:sp>
      <mc:AlternateContent xmlns:mc="http://schemas.openxmlformats.org/markup-compatibility/2006" xmlns:a14="http://schemas.microsoft.com/office/drawing/2010/main">
        <mc:Choice Requires="a14">
          <p:sp>
            <p:nvSpPr>
              <p:cNvPr id="10" name="Metin kutusu 9"/>
              <p:cNvSpPr txBox="1"/>
              <p:nvPr/>
            </p:nvSpPr>
            <p:spPr>
              <a:xfrm>
                <a:off x="7914" y="2070178"/>
                <a:ext cx="8884566" cy="3929537"/>
              </a:xfrm>
              <a:prstGeom prst="rect">
                <a:avLst/>
              </a:prstGeom>
              <a:noFill/>
            </p:spPr>
            <p:txBody>
              <a:bodyPr wrap="square" rtlCol="0">
                <a:spAutoFit/>
              </a:bodyPr>
              <a:lstStyle/>
              <a:p>
                <a:r>
                  <a:rPr lang="tr-TR" sz="2400" b="1" dirty="0" err="1"/>
                  <a:t>Lagrange</a:t>
                </a:r>
                <a:r>
                  <a:rPr lang="tr-TR" sz="2400" b="1" dirty="0"/>
                  <a:t> Çarpanları Yöntemi</a:t>
                </a:r>
                <a:endParaRPr lang="tr-TR" sz="2400" dirty="0"/>
              </a:p>
              <a:p>
                <a:r>
                  <a:rPr lang="tr-TR" sz="1600" dirty="0"/>
                  <a:t>Çok değişkenli doğrusal olmayan problemlerde tüm kısıtlar eşitlik halinde ise; </a:t>
                </a:r>
              </a:p>
              <a:p>
                <a:pPr algn="ctr"/>
                <a:r>
                  <a:rPr lang="tr-TR" sz="1600" dirty="0" err="1"/>
                  <a:t>maks</a:t>
                </a:r>
                <a:r>
                  <a:rPr lang="tr-TR" sz="1600" dirty="0"/>
                  <a:t>. (</a:t>
                </a:r>
                <a:r>
                  <a:rPr lang="tr-TR" sz="1600" dirty="0" err="1"/>
                  <a:t>or</a:t>
                </a:r>
                <a:r>
                  <a:rPr lang="tr-TR" sz="1600" dirty="0"/>
                  <a:t> min.) f(x</a:t>
                </a:r>
                <a:r>
                  <a:rPr lang="tr-TR" sz="1600" baseline="-25000" dirty="0"/>
                  <a:t>1</a:t>
                </a:r>
                <a:r>
                  <a:rPr lang="tr-TR" sz="1600" dirty="0"/>
                  <a:t>, x</a:t>
                </a:r>
                <a:r>
                  <a:rPr lang="tr-TR" sz="1600" baseline="-25000" dirty="0"/>
                  <a:t>2</a:t>
                </a:r>
                <a:r>
                  <a:rPr lang="tr-TR" sz="1600" dirty="0"/>
                  <a:t>, …, </a:t>
                </a:r>
                <a:r>
                  <a:rPr lang="tr-TR" sz="1600" dirty="0" err="1"/>
                  <a:t>x</a:t>
                </a:r>
                <a:r>
                  <a:rPr lang="tr-TR" sz="1600" baseline="-25000" dirty="0" err="1"/>
                  <a:t>n</a:t>
                </a:r>
                <a:r>
                  <a:rPr lang="tr-TR" sz="1600" dirty="0"/>
                  <a:t>)</a:t>
                </a:r>
              </a:p>
              <a:p>
                <a:pPr algn="ctr"/>
                <a:r>
                  <a:rPr lang="tr-TR" sz="1600" dirty="0"/>
                  <a:t>g</a:t>
                </a:r>
                <a:r>
                  <a:rPr lang="tr-TR" sz="1600" baseline="-25000" dirty="0"/>
                  <a:t>1</a:t>
                </a:r>
                <a:r>
                  <a:rPr lang="tr-TR" sz="1600" dirty="0"/>
                  <a:t>(x</a:t>
                </a:r>
                <a:r>
                  <a:rPr lang="tr-TR" sz="1600" baseline="-25000" dirty="0"/>
                  <a:t>1</a:t>
                </a:r>
                <a:r>
                  <a:rPr lang="tr-TR" sz="1600" dirty="0"/>
                  <a:t>, x</a:t>
                </a:r>
                <a:r>
                  <a:rPr lang="tr-TR" sz="1600" baseline="-25000" dirty="0"/>
                  <a:t>2</a:t>
                </a:r>
                <a:r>
                  <a:rPr lang="tr-TR" sz="1600" dirty="0"/>
                  <a:t>, …, </a:t>
                </a:r>
                <a:r>
                  <a:rPr lang="tr-TR" sz="1600" dirty="0" err="1"/>
                  <a:t>x</a:t>
                </a:r>
                <a:r>
                  <a:rPr lang="tr-TR" sz="1600" baseline="-25000" dirty="0" err="1"/>
                  <a:t>n</a:t>
                </a:r>
                <a:r>
                  <a:rPr lang="tr-TR" sz="1600" dirty="0"/>
                  <a:t>)=b</a:t>
                </a:r>
                <a:r>
                  <a:rPr lang="tr-TR" sz="1600" baseline="-25000" dirty="0"/>
                  <a:t>1</a:t>
                </a:r>
                <a:endParaRPr lang="tr-TR" sz="1600" dirty="0"/>
              </a:p>
              <a:p>
                <a:pPr algn="ctr"/>
                <a:r>
                  <a:rPr lang="tr-TR" sz="1600" dirty="0"/>
                  <a:t>g</a:t>
                </a:r>
                <a:r>
                  <a:rPr lang="tr-TR" sz="1600" baseline="-25000" dirty="0"/>
                  <a:t>2</a:t>
                </a:r>
                <a:r>
                  <a:rPr lang="tr-TR" sz="1600" dirty="0"/>
                  <a:t>(x</a:t>
                </a:r>
                <a:r>
                  <a:rPr lang="tr-TR" sz="1600" baseline="-25000" dirty="0"/>
                  <a:t>1</a:t>
                </a:r>
                <a:r>
                  <a:rPr lang="tr-TR" sz="1600" dirty="0"/>
                  <a:t>, x</a:t>
                </a:r>
                <a:r>
                  <a:rPr lang="tr-TR" sz="1600" baseline="-25000" dirty="0"/>
                  <a:t>2</a:t>
                </a:r>
                <a:r>
                  <a:rPr lang="tr-TR" sz="1600" dirty="0"/>
                  <a:t>, …, </a:t>
                </a:r>
                <a:r>
                  <a:rPr lang="tr-TR" sz="1600" dirty="0" err="1"/>
                  <a:t>x</a:t>
                </a:r>
                <a:r>
                  <a:rPr lang="tr-TR" sz="1600" baseline="-25000" dirty="0" err="1"/>
                  <a:t>n</a:t>
                </a:r>
                <a:r>
                  <a:rPr lang="tr-TR" sz="1600" dirty="0"/>
                  <a:t>)=b</a:t>
                </a:r>
                <a:r>
                  <a:rPr lang="tr-TR" sz="1600" baseline="-25000" dirty="0"/>
                  <a:t>2</a:t>
                </a:r>
                <a:endParaRPr lang="tr-TR" sz="1600" dirty="0"/>
              </a:p>
              <a:p>
                <a:pPr algn="ctr"/>
                <a:r>
                  <a:rPr lang="tr-TR" sz="1600" dirty="0"/>
                  <a:t>…</a:t>
                </a:r>
              </a:p>
              <a:p>
                <a:pPr algn="ctr"/>
                <a:r>
                  <a:rPr lang="tr-TR" sz="1600" dirty="0" err="1"/>
                  <a:t>g</a:t>
                </a:r>
                <a:r>
                  <a:rPr lang="tr-TR" sz="1600" baseline="-25000" dirty="0" err="1"/>
                  <a:t>m</a:t>
                </a:r>
                <a:r>
                  <a:rPr lang="tr-TR" sz="1600" dirty="0"/>
                  <a:t>(x</a:t>
                </a:r>
                <a:r>
                  <a:rPr lang="tr-TR" sz="1600" baseline="-25000" dirty="0"/>
                  <a:t>1</a:t>
                </a:r>
                <a:r>
                  <a:rPr lang="tr-TR" sz="1600" dirty="0"/>
                  <a:t>, x</a:t>
                </a:r>
                <a:r>
                  <a:rPr lang="tr-TR" sz="1600" baseline="-25000" dirty="0"/>
                  <a:t>2</a:t>
                </a:r>
                <a:r>
                  <a:rPr lang="tr-TR" sz="1600" dirty="0"/>
                  <a:t>, …, </a:t>
                </a:r>
                <a:r>
                  <a:rPr lang="tr-TR" sz="1600" dirty="0" err="1"/>
                  <a:t>x</a:t>
                </a:r>
                <a:r>
                  <a:rPr lang="tr-TR" sz="1600" baseline="-25000" dirty="0" err="1"/>
                  <a:t>n</a:t>
                </a:r>
                <a:r>
                  <a:rPr lang="tr-TR" sz="1600" dirty="0"/>
                  <a:t>)=</a:t>
                </a:r>
                <a:r>
                  <a:rPr lang="tr-TR" sz="1600" dirty="0" err="1"/>
                  <a:t>b</a:t>
                </a:r>
                <a:r>
                  <a:rPr lang="tr-TR" sz="1600" baseline="-25000" dirty="0" err="1"/>
                  <a:t>m</a:t>
                </a:r>
                <a:endParaRPr lang="tr-TR" sz="1600" dirty="0"/>
              </a:p>
              <a:p>
                <a:r>
                  <a:rPr lang="tr-TR" sz="1600" dirty="0" err="1"/>
                  <a:t>Lagrange</a:t>
                </a:r>
                <a:r>
                  <a:rPr lang="tr-TR" sz="1600" dirty="0"/>
                  <a:t> çarpanları yöntemiyle optimal çözüm elde edilebilir. Çözüm için her bir kısıt bilinmeyen taraf (eşitliğin sol tarafı) sağ tarafa atılarak (bu şekilde sıfıra eşitlenerek) </a:t>
                </a:r>
                <a:r>
                  <a:rPr lang="tr-TR" sz="1600" dirty="0" err="1"/>
                  <a:t>λ</a:t>
                </a:r>
                <a:r>
                  <a:rPr lang="tr-TR" sz="1600" baseline="-25000" dirty="0" err="1"/>
                  <a:t>i</a:t>
                </a:r>
                <a:r>
                  <a:rPr lang="tr-TR" sz="1600" dirty="0"/>
                  <a:t> gibi bir katsayıyla çarpılıp amaç fonksiyonuna eklenir. Bu durumda amaç fonksiyonu;</a:t>
                </a:r>
              </a:p>
              <a:p>
                <a14:m>
                  <m:oMath xmlns:m="http://schemas.openxmlformats.org/officeDocument/2006/math">
                    <m:r>
                      <m:rPr>
                        <m:sty m:val="p"/>
                      </m:rPr>
                      <a:rPr lang="tr-TR" sz="1600">
                        <a:latin typeface="Cambria Math" panose="02040503050406030204" pitchFamily="18" charset="0"/>
                      </a:rPr>
                      <m:t>L</m:t>
                    </m:r>
                    <m:d>
                      <m:dPr>
                        <m:ctrlPr>
                          <a:rPr lang="tr-TR" sz="1600" i="1">
                            <a:latin typeface="Cambria Math" panose="02040503050406030204" pitchFamily="18" charset="0"/>
                          </a:rPr>
                        </m:ctrlPr>
                      </m:dPr>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a:rPr lang="tr-TR" sz="1600">
                                <a:latin typeface="Cambria Math" panose="02040503050406030204" pitchFamily="18" charset="0"/>
                              </a:rPr>
                              <m:t>1</m:t>
                            </m:r>
                          </m:sub>
                        </m:sSub>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a:rPr lang="tr-TR" sz="1600">
                                <a:latin typeface="Cambria Math" panose="02040503050406030204" pitchFamily="18" charset="0"/>
                              </a:rPr>
                              <m:t>2</m:t>
                            </m:r>
                          </m:sub>
                        </m:sSub>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m:rPr>
                                <m:sty m:val="p"/>
                              </m:rPr>
                              <a:rPr lang="tr-TR" sz="1600">
                                <a:latin typeface="Cambria Math" panose="02040503050406030204" pitchFamily="18" charset="0"/>
                              </a:rPr>
                              <m:t>n</m:t>
                            </m:r>
                          </m:sub>
                        </m:sSub>
                      </m:e>
                    </m:d>
                    <m:r>
                      <a:rPr lang="tr-TR" sz="1600">
                        <a:latin typeface="Cambria Math" panose="02040503050406030204" pitchFamily="18" charset="0"/>
                      </a:rPr>
                      <m:t>=</m:t>
                    </m:r>
                    <m:r>
                      <m:rPr>
                        <m:sty m:val="p"/>
                      </m:rPr>
                      <a:rPr lang="tr-TR" sz="1600">
                        <a:latin typeface="Cambria Math" panose="02040503050406030204" pitchFamily="18" charset="0"/>
                      </a:rPr>
                      <m:t>f</m:t>
                    </m:r>
                    <m:d>
                      <m:dPr>
                        <m:ctrlPr>
                          <a:rPr lang="tr-TR" sz="1600" i="1">
                            <a:latin typeface="Cambria Math" panose="02040503050406030204" pitchFamily="18" charset="0"/>
                          </a:rPr>
                        </m:ctrlPr>
                      </m:dPr>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a:rPr lang="tr-TR" sz="1600">
                                <a:latin typeface="Cambria Math" panose="02040503050406030204" pitchFamily="18" charset="0"/>
                              </a:rPr>
                              <m:t>1</m:t>
                            </m:r>
                          </m:sub>
                        </m:sSub>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a:rPr lang="tr-TR" sz="1600">
                                <a:latin typeface="Cambria Math" panose="02040503050406030204" pitchFamily="18" charset="0"/>
                              </a:rPr>
                              <m:t>2</m:t>
                            </m:r>
                          </m:sub>
                        </m:sSub>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m:rPr>
                                <m:sty m:val="p"/>
                              </m:rPr>
                              <a:rPr lang="tr-TR" sz="1600">
                                <a:latin typeface="Cambria Math" panose="02040503050406030204" pitchFamily="18" charset="0"/>
                              </a:rPr>
                              <m:t>n</m:t>
                            </m:r>
                          </m:sub>
                        </m:sSub>
                      </m:e>
                    </m:d>
                    <m:r>
                      <a:rPr lang="tr-TR" sz="1600">
                        <a:latin typeface="Cambria Math" panose="02040503050406030204" pitchFamily="18" charset="0"/>
                      </a:rPr>
                      <m:t>+</m:t>
                    </m:r>
                    <m:nary>
                      <m:naryPr>
                        <m:chr m:val="∑"/>
                        <m:limLoc m:val="undOvr"/>
                        <m:ctrlPr>
                          <a:rPr lang="tr-TR" sz="1600" i="1">
                            <a:latin typeface="Cambria Math" panose="02040503050406030204" pitchFamily="18" charset="0"/>
                          </a:rPr>
                        </m:ctrlPr>
                      </m:naryPr>
                      <m:sub>
                        <m:r>
                          <m:rPr>
                            <m:sty m:val="p"/>
                          </m:rPr>
                          <a:rPr lang="tr-TR" sz="1600">
                            <a:latin typeface="Cambria Math" panose="02040503050406030204" pitchFamily="18" charset="0"/>
                          </a:rPr>
                          <m:t>i</m:t>
                        </m:r>
                        <m:r>
                          <a:rPr lang="tr-TR" sz="1600">
                            <a:latin typeface="Cambria Math" panose="02040503050406030204" pitchFamily="18" charset="0"/>
                          </a:rPr>
                          <m:t>=1</m:t>
                        </m:r>
                      </m:sub>
                      <m:sup>
                        <m:r>
                          <m:rPr>
                            <m:sty m:val="p"/>
                          </m:rPr>
                          <a:rPr lang="tr-TR" sz="1600">
                            <a:latin typeface="Cambria Math" panose="02040503050406030204" pitchFamily="18" charset="0"/>
                          </a:rPr>
                          <m:t>i</m:t>
                        </m:r>
                        <m:r>
                          <a:rPr lang="tr-TR" sz="1600">
                            <a:latin typeface="Cambria Math" panose="02040503050406030204" pitchFamily="18" charset="0"/>
                          </a:rPr>
                          <m:t>=</m:t>
                        </m:r>
                        <m:r>
                          <m:rPr>
                            <m:sty m:val="p"/>
                          </m:rPr>
                          <a:rPr lang="tr-TR" sz="1600">
                            <a:latin typeface="Cambria Math" panose="02040503050406030204" pitchFamily="18" charset="0"/>
                          </a:rPr>
                          <m:t>m</m:t>
                        </m:r>
                      </m:sup>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λ</m:t>
                            </m:r>
                          </m:e>
                          <m:sub>
                            <m:r>
                              <m:rPr>
                                <m:sty m:val="p"/>
                              </m:rPr>
                              <a:rPr lang="tr-TR" sz="1600">
                                <a:latin typeface="Cambria Math" panose="02040503050406030204" pitchFamily="18" charset="0"/>
                              </a:rPr>
                              <m:t>i</m:t>
                            </m:r>
                          </m:sub>
                        </m:sSub>
                      </m:e>
                    </m:nary>
                    <m:d>
                      <m:dPr>
                        <m:begChr m:val="["/>
                        <m:endChr m:val="]"/>
                        <m:ctrlPr>
                          <a:rPr lang="tr-TR" sz="1600" i="1">
                            <a:latin typeface="Cambria Math" panose="02040503050406030204" pitchFamily="18" charset="0"/>
                          </a:rPr>
                        </m:ctrlPr>
                      </m:dPr>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b</m:t>
                            </m:r>
                          </m:e>
                          <m:sub>
                            <m:r>
                              <m:rPr>
                                <m:sty m:val="p"/>
                              </m:rPr>
                              <a:rPr lang="tr-TR" sz="1600">
                                <a:latin typeface="Cambria Math" panose="02040503050406030204" pitchFamily="18" charset="0"/>
                              </a:rPr>
                              <m:t>i</m:t>
                            </m:r>
                          </m:sub>
                        </m:sSub>
                        <m:r>
                          <a:rPr lang="tr-TR" sz="1600" i="1">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g</m:t>
                            </m:r>
                          </m:e>
                          <m:sub>
                            <m:r>
                              <m:rPr>
                                <m:sty m:val="p"/>
                              </m:rPr>
                              <a:rPr lang="tr-TR" sz="1600">
                                <a:latin typeface="Cambria Math" panose="02040503050406030204" pitchFamily="18" charset="0"/>
                              </a:rPr>
                              <m:t>i</m:t>
                            </m:r>
                          </m:sub>
                        </m:sSub>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a:rPr lang="tr-TR" sz="1600">
                                <a:latin typeface="Cambria Math" panose="02040503050406030204" pitchFamily="18" charset="0"/>
                              </a:rPr>
                              <m:t>1</m:t>
                            </m:r>
                          </m:sub>
                        </m:sSub>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a:rPr lang="tr-TR" sz="1600">
                                <a:latin typeface="Cambria Math" panose="02040503050406030204" pitchFamily="18" charset="0"/>
                              </a:rPr>
                              <m:t>2</m:t>
                            </m:r>
                          </m:sub>
                        </m:sSub>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m:rPr>
                                <m:sty m:val="p"/>
                              </m:rPr>
                              <a:rPr lang="tr-TR" sz="1600">
                                <a:latin typeface="Cambria Math" panose="02040503050406030204" pitchFamily="18" charset="0"/>
                              </a:rPr>
                              <m:t>n</m:t>
                            </m:r>
                          </m:sub>
                        </m:sSub>
                        <m:r>
                          <a:rPr lang="tr-TR" sz="1600">
                            <a:latin typeface="Cambria Math" panose="02040503050406030204" pitchFamily="18" charset="0"/>
                          </a:rPr>
                          <m:t>)</m:t>
                        </m:r>
                      </m:e>
                    </m:d>
                  </m:oMath>
                </a14:m>
                <a:r>
                  <a:rPr lang="tr-TR" sz="1600" dirty="0"/>
                  <a:t> şekline dönüşür.</a:t>
                </a:r>
              </a:p>
              <a:p>
                <a:r>
                  <a:rPr lang="tr-TR" sz="1600" dirty="0"/>
                  <a:t>Yani artık model, çok değişkenli kısıtsız doğrusal olmayan model halini almıştır. Daha önceki bölümlerde anlatıldığı üzere amaç fonksiyonunun her değişkene göre ayrı ayrı kısmi türevi alınıp bu türevler sıfıra eşitlenir. Elde edilen çözüm noktası bir </a:t>
                </a:r>
                <a:r>
                  <a:rPr lang="tr-TR" sz="1600" dirty="0" err="1"/>
                  <a:t>ekstremum</a:t>
                </a:r>
                <a:r>
                  <a:rPr lang="tr-TR" sz="1600" dirty="0"/>
                  <a:t> noktadır. Bu noktanın optimal olup olmadığını kontrol için de </a:t>
                </a:r>
                <a:r>
                  <a:rPr lang="tr-TR" sz="1600" dirty="0" err="1"/>
                  <a:t>Hessian</a:t>
                </a:r>
                <a:r>
                  <a:rPr lang="tr-TR" sz="1600" dirty="0"/>
                  <a:t> matrisine bakılır. Şimdi bu işlemleri bir örnek üzerinde gösterelim:</a:t>
                </a:r>
              </a:p>
            </p:txBody>
          </p:sp>
        </mc:Choice>
        <mc:Fallback xmlns="">
          <p:sp>
            <p:nvSpPr>
              <p:cNvPr id="10" name="Metin kutusu 9"/>
              <p:cNvSpPr txBox="1">
                <a:spLocks noRot="1" noChangeAspect="1" noMove="1" noResize="1" noEditPoints="1" noAdjustHandles="1" noChangeArrowheads="1" noChangeShapeType="1" noTextEdit="1"/>
              </p:cNvSpPr>
              <p:nvPr/>
            </p:nvSpPr>
            <p:spPr>
              <a:xfrm>
                <a:off x="7914" y="2070178"/>
                <a:ext cx="8884566" cy="3929537"/>
              </a:xfrm>
              <a:prstGeom prst="rect">
                <a:avLst/>
              </a:prstGeom>
              <a:blipFill>
                <a:blip r:embed="rId5"/>
                <a:stretch>
                  <a:fillRect l="-1029" t="-1242" b="-1242"/>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DF1198BA-104F-26BA-593B-41A58D69EFC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51375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0" name="Metin kutusu 9"/>
          <p:cNvSpPr txBox="1"/>
          <p:nvPr/>
        </p:nvSpPr>
        <p:spPr>
          <a:xfrm>
            <a:off x="9738" y="692696"/>
            <a:ext cx="9145016" cy="830997"/>
          </a:xfrm>
          <a:prstGeom prst="rect">
            <a:avLst/>
          </a:prstGeom>
          <a:noFill/>
        </p:spPr>
        <p:txBody>
          <a:bodyPr wrap="square" rtlCol="0">
            <a:spAutoFit/>
          </a:bodyPr>
          <a:lstStyle/>
          <a:p>
            <a:pPr algn="ctr"/>
            <a:r>
              <a:rPr lang="tr-TR" sz="4800" b="1" dirty="0"/>
              <a:t>ÖRNEK 1</a:t>
            </a:r>
            <a:endParaRPr lang="tr-TR" sz="4800" dirty="0"/>
          </a:p>
        </p:txBody>
      </p:sp>
      <p:sp>
        <p:nvSpPr>
          <p:cNvPr id="12" name="Metin kutusu 11"/>
          <p:cNvSpPr txBox="1"/>
          <p:nvPr/>
        </p:nvSpPr>
        <p:spPr>
          <a:xfrm>
            <a:off x="0" y="1556792"/>
            <a:ext cx="9145016" cy="1200329"/>
          </a:xfrm>
          <a:prstGeom prst="rect">
            <a:avLst/>
          </a:prstGeom>
          <a:noFill/>
        </p:spPr>
        <p:txBody>
          <a:bodyPr wrap="square" rtlCol="0">
            <a:spAutoFit/>
          </a:bodyPr>
          <a:lstStyle/>
          <a:p>
            <a:r>
              <a:rPr lang="tr-TR" b="1" dirty="0"/>
              <a:t>Örnek: </a:t>
            </a:r>
            <a:r>
              <a:rPr lang="tr-TR" dirty="0"/>
              <a:t>Bir işletme reklam için 10.000 TL harcamayı planlamaktadır. Televizyonda reklam yayınlatmanın dakikası 3000 TL, radyoda 1000 TL’dir. Eğer işletme televizyonda x dakika, radyoda y dakika reklam yayınlatırsa kazancı f(x, y)= -2x</a:t>
            </a:r>
            <a:r>
              <a:rPr lang="tr-TR" baseline="30000" dirty="0"/>
              <a:t>2</a:t>
            </a:r>
            <a:r>
              <a:rPr lang="tr-TR" dirty="0"/>
              <a:t>-y</a:t>
            </a:r>
            <a:r>
              <a:rPr lang="tr-TR" baseline="30000" dirty="0"/>
              <a:t>2</a:t>
            </a:r>
            <a:r>
              <a:rPr lang="tr-TR" dirty="0"/>
              <a:t>+xy+8x+3y olacaktır. Buna göre işletme kazancını </a:t>
            </a:r>
            <a:r>
              <a:rPr lang="tr-TR" dirty="0" err="1"/>
              <a:t>enbüyüklemek</a:t>
            </a:r>
            <a:r>
              <a:rPr lang="tr-TR" dirty="0"/>
              <a:t> için kaçar dakika reklam vermelidir?</a:t>
            </a:r>
          </a:p>
        </p:txBody>
      </p:sp>
      <mc:AlternateContent xmlns:mc="http://schemas.openxmlformats.org/markup-compatibility/2006" xmlns:a14="http://schemas.microsoft.com/office/drawing/2010/main">
        <mc:Choice Requires="a14">
          <p:sp>
            <p:nvSpPr>
              <p:cNvPr id="13" name="Metin kutusu 12"/>
              <p:cNvSpPr txBox="1"/>
              <p:nvPr/>
            </p:nvSpPr>
            <p:spPr>
              <a:xfrm>
                <a:off x="2125" y="2708920"/>
                <a:ext cx="9194390" cy="3834127"/>
              </a:xfrm>
              <a:prstGeom prst="rect">
                <a:avLst/>
              </a:prstGeom>
              <a:noFill/>
            </p:spPr>
            <p:txBody>
              <a:bodyPr wrap="square" rtlCol="0">
                <a:spAutoFit/>
              </a:bodyPr>
              <a:lstStyle/>
              <a:p>
                <a:r>
                  <a:rPr lang="tr-TR" b="1" dirty="0"/>
                  <a:t>Çözüm:</a:t>
                </a:r>
                <a:r>
                  <a:rPr lang="tr-TR" dirty="0"/>
                  <a:t> Öncelikle doğrusal olmayan modeli kuralım:</a:t>
                </a:r>
              </a:p>
              <a:p>
                <a:pPr algn="ctr"/>
                <a:r>
                  <a:rPr lang="tr-TR" dirty="0" err="1"/>
                  <a:t>Z</a:t>
                </a:r>
                <a:r>
                  <a:rPr lang="tr-TR" baseline="-25000" dirty="0" err="1"/>
                  <a:t>ençok</a:t>
                </a:r>
                <a:r>
                  <a:rPr lang="tr-TR" dirty="0"/>
                  <a:t>=-2x</a:t>
                </a:r>
                <a:r>
                  <a:rPr lang="tr-TR" baseline="30000" dirty="0"/>
                  <a:t>2</a:t>
                </a:r>
                <a:r>
                  <a:rPr lang="tr-TR" dirty="0"/>
                  <a:t>-y</a:t>
                </a:r>
                <a:r>
                  <a:rPr lang="tr-TR" baseline="30000" dirty="0"/>
                  <a:t>2</a:t>
                </a:r>
                <a:r>
                  <a:rPr lang="tr-TR" dirty="0"/>
                  <a:t>+xy+8x+3y</a:t>
                </a:r>
              </a:p>
              <a:p>
                <a:pPr algn="ctr"/>
                <a:r>
                  <a:rPr lang="tr-TR" dirty="0"/>
                  <a:t>3x+y=10</a:t>
                </a:r>
              </a:p>
              <a:p>
                <a:r>
                  <a:rPr lang="tr-TR" dirty="0"/>
                  <a:t>Yukarıdaki modelde, kısıt denklemini sıfıra eşitleyip λ gibi bir sayıyla çarparak amaç fonksiyonuna ekleyelim. Bu durumda yeni amaç fonksiyonu şöyle olacaktır:</a:t>
                </a:r>
              </a:p>
              <a:p>
                <a:pPr algn="ctr"/>
                <a:r>
                  <a:rPr lang="tr-TR" dirty="0"/>
                  <a:t>L(x, y, λ )=-2x</a:t>
                </a:r>
                <a:r>
                  <a:rPr lang="tr-TR" baseline="30000" dirty="0"/>
                  <a:t>2</a:t>
                </a:r>
                <a:r>
                  <a:rPr lang="tr-TR" dirty="0"/>
                  <a:t>-y</a:t>
                </a:r>
                <a:r>
                  <a:rPr lang="tr-TR" baseline="30000" dirty="0"/>
                  <a:t>2</a:t>
                </a:r>
                <a:r>
                  <a:rPr lang="tr-TR" dirty="0"/>
                  <a:t>+xy+8x+3y-3xλ-yλ+10λ </a:t>
                </a:r>
              </a:p>
              <a:p>
                <a:r>
                  <a:rPr lang="tr-TR" dirty="0"/>
                  <a:t>Bu </a:t>
                </a:r>
                <a:r>
                  <a:rPr lang="tr-TR" dirty="0" err="1"/>
                  <a:t>Lagrange</a:t>
                </a:r>
                <a:r>
                  <a:rPr lang="tr-TR" dirty="0"/>
                  <a:t> denkleminin çözümü için daha önceden bildiğimiz gibi kısmi türevleri alıp sıfıra eşitleyerek kararlı noktayı bulalım.</a:t>
                </a:r>
              </a:p>
              <a:p>
                <a:pPr algn="ct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L</m:t>
                        </m:r>
                      </m:num>
                      <m:den>
                        <m:r>
                          <a:rPr lang="tr-TR">
                            <a:latin typeface="Cambria Math" panose="02040503050406030204" pitchFamily="18" charset="0"/>
                          </a:rPr>
                          <m:t>𝜕</m:t>
                        </m:r>
                        <m:r>
                          <m:rPr>
                            <m:sty m:val="p"/>
                          </m:rPr>
                          <a:rPr lang="tr-TR">
                            <a:latin typeface="Cambria Math" panose="02040503050406030204" pitchFamily="18" charset="0"/>
                          </a:rPr>
                          <m:t>x</m:t>
                        </m:r>
                      </m:den>
                    </m:f>
                    <m:r>
                      <a:rPr lang="tr-TR">
                        <a:latin typeface="Cambria Math" panose="02040503050406030204" pitchFamily="18" charset="0"/>
                      </a:rPr>
                      <m:t>=</m:t>
                    </m:r>
                    <m:r>
                      <a:rPr lang="tr-TR" i="1">
                        <a:latin typeface="Cambria Math" panose="02040503050406030204" pitchFamily="18" charset="0"/>
                      </a:rPr>
                      <m:t>−</m:t>
                    </m:r>
                    <m:r>
                      <a:rPr lang="tr-TR">
                        <a:latin typeface="Cambria Math" panose="02040503050406030204" pitchFamily="18" charset="0"/>
                      </a:rPr>
                      <m:t>4</m:t>
                    </m:r>
                    <m:r>
                      <m:rPr>
                        <m:sty m:val="p"/>
                      </m:rPr>
                      <a:rPr lang="tr-TR">
                        <a:latin typeface="Cambria Math" panose="02040503050406030204" pitchFamily="18" charset="0"/>
                      </a:rPr>
                      <m:t>x</m:t>
                    </m:r>
                    <m:r>
                      <a:rPr lang="tr-TR">
                        <a:latin typeface="Cambria Math" panose="02040503050406030204" pitchFamily="18" charset="0"/>
                      </a:rPr>
                      <m:t>+</m:t>
                    </m:r>
                    <m:r>
                      <m:rPr>
                        <m:sty m:val="p"/>
                      </m:rPr>
                      <a:rPr lang="tr-TR">
                        <a:latin typeface="Cambria Math" panose="02040503050406030204" pitchFamily="18" charset="0"/>
                      </a:rPr>
                      <m:t>y</m:t>
                    </m:r>
                    <m:r>
                      <a:rPr lang="tr-TR">
                        <a:latin typeface="Cambria Math" panose="02040503050406030204" pitchFamily="18" charset="0"/>
                      </a:rPr>
                      <m:t>+8</m:t>
                    </m:r>
                    <m:r>
                      <a:rPr lang="tr-TR" i="1">
                        <a:latin typeface="Cambria Math" panose="02040503050406030204" pitchFamily="18" charset="0"/>
                      </a:rPr>
                      <m:t>−</m:t>
                    </m:r>
                    <m:r>
                      <a:rPr lang="tr-TR">
                        <a:latin typeface="Cambria Math" panose="02040503050406030204" pitchFamily="18" charset="0"/>
                      </a:rPr>
                      <m:t>3</m:t>
                    </m:r>
                    <m:r>
                      <m:rPr>
                        <m:sty m:val="p"/>
                      </m:rPr>
                      <a:rPr lang="tr-TR">
                        <a:latin typeface="Cambria Math" panose="02040503050406030204" pitchFamily="18" charset="0"/>
                      </a:rPr>
                      <m:t>λ</m:t>
                    </m:r>
                    <m:r>
                      <a:rPr lang="tr-TR">
                        <a:latin typeface="Cambria Math" panose="02040503050406030204" pitchFamily="18" charset="0"/>
                      </a:rPr>
                      <m:t>=0</m:t>
                    </m:r>
                  </m:oMath>
                </a14:m>
                <a:r>
                  <a:rPr lang="tr-TR" dirty="0"/>
                  <a:t> </a:t>
                </a:r>
              </a:p>
              <a:p>
                <a:pPr algn="ct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L</m:t>
                        </m:r>
                      </m:num>
                      <m:den>
                        <m:r>
                          <a:rPr lang="tr-TR">
                            <a:latin typeface="Cambria Math" panose="02040503050406030204" pitchFamily="18" charset="0"/>
                          </a:rPr>
                          <m:t>𝜕</m:t>
                        </m:r>
                        <m:r>
                          <m:rPr>
                            <m:sty m:val="p"/>
                          </m:rPr>
                          <a:rPr lang="tr-TR">
                            <a:latin typeface="Cambria Math" panose="02040503050406030204" pitchFamily="18" charset="0"/>
                          </a:rPr>
                          <m:t>y</m:t>
                        </m:r>
                      </m:den>
                    </m:f>
                    <m:r>
                      <a:rPr lang="tr-TR">
                        <a:latin typeface="Cambria Math" panose="02040503050406030204" pitchFamily="18" charset="0"/>
                      </a:rPr>
                      <m:t>=</m:t>
                    </m:r>
                    <m:r>
                      <a:rPr lang="tr-TR" i="1">
                        <a:latin typeface="Cambria Math" panose="02040503050406030204" pitchFamily="18" charset="0"/>
                      </a:rPr>
                      <m:t>−</m:t>
                    </m:r>
                    <m:r>
                      <a:rPr lang="tr-TR">
                        <a:latin typeface="Cambria Math" panose="02040503050406030204" pitchFamily="18" charset="0"/>
                      </a:rPr>
                      <m:t>2</m:t>
                    </m:r>
                    <m:r>
                      <m:rPr>
                        <m:sty m:val="p"/>
                      </m:rPr>
                      <a:rPr lang="tr-TR">
                        <a:latin typeface="Cambria Math" panose="02040503050406030204" pitchFamily="18" charset="0"/>
                      </a:rPr>
                      <m:t>y</m:t>
                    </m:r>
                    <m:r>
                      <a:rPr lang="tr-TR">
                        <a:latin typeface="Cambria Math" panose="02040503050406030204" pitchFamily="18" charset="0"/>
                      </a:rPr>
                      <m:t>+</m:t>
                    </m:r>
                    <m:r>
                      <m:rPr>
                        <m:sty m:val="p"/>
                      </m:rPr>
                      <a:rPr lang="tr-TR">
                        <a:latin typeface="Cambria Math" panose="02040503050406030204" pitchFamily="18" charset="0"/>
                      </a:rPr>
                      <m:t>x</m:t>
                    </m:r>
                    <m:r>
                      <a:rPr lang="tr-TR">
                        <a:latin typeface="Cambria Math" panose="02040503050406030204" pitchFamily="18" charset="0"/>
                      </a:rPr>
                      <m:t>+3</m:t>
                    </m:r>
                    <m:r>
                      <a:rPr lang="tr-TR" i="1">
                        <a:latin typeface="Cambria Math" panose="02040503050406030204" pitchFamily="18" charset="0"/>
                      </a:rPr>
                      <m:t>−</m:t>
                    </m:r>
                    <m:r>
                      <m:rPr>
                        <m:sty m:val="p"/>
                      </m:rPr>
                      <a:rPr lang="tr-TR">
                        <a:latin typeface="Cambria Math" panose="02040503050406030204" pitchFamily="18" charset="0"/>
                      </a:rPr>
                      <m:t>λ</m:t>
                    </m:r>
                    <m:r>
                      <a:rPr lang="tr-TR">
                        <a:latin typeface="Cambria Math" panose="02040503050406030204" pitchFamily="18" charset="0"/>
                      </a:rPr>
                      <m:t>=0</m:t>
                    </m:r>
                  </m:oMath>
                </a14:m>
                <a:r>
                  <a:rPr lang="tr-TR" dirty="0"/>
                  <a:t> </a:t>
                </a:r>
              </a:p>
              <a:p>
                <a:pPr algn="ct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L</m:t>
                        </m:r>
                      </m:num>
                      <m:den>
                        <m:r>
                          <a:rPr lang="tr-TR">
                            <a:latin typeface="Cambria Math" panose="02040503050406030204" pitchFamily="18" charset="0"/>
                          </a:rPr>
                          <m:t>𝜕</m:t>
                        </m:r>
                        <m:r>
                          <m:rPr>
                            <m:sty m:val="p"/>
                          </m:rPr>
                          <a:rPr lang="tr-TR">
                            <a:latin typeface="Cambria Math" panose="02040503050406030204" pitchFamily="18" charset="0"/>
                          </a:rPr>
                          <m:t>λ</m:t>
                        </m:r>
                      </m:den>
                    </m:f>
                    <m:r>
                      <a:rPr lang="tr-TR">
                        <a:latin typeface="Cambria Math" panose="02040503050406030204" pitchFamily="18" charset="0"/>
                      </a:rPr>
                      <m:t>=</m:t>
                    </m:r>
                    <m:r>
                      <a:rPr lang="tr-TR" i="1">
                        <a:latin typeface="Cambria Math" panose="02040503050406030204" pitchFamily="18" charset="0"/>
                      </a:rPr>
                      <m:t>−</m:t>
                    </m:r>
                    <m:r>
                      <a:rPr lang="tr-TR">
                        <a:latin typeface="Cambria Math" panose="02040503050406030204" pitchFamily="18" charset="0"/>
                      </a:rPr>
                      <m:t>3</m:t>
                    </m:r>
                    <m:r>
                      <m:rPr>
                        <m:sty m:val="p"/>
                      </m:rPr>
                      <a:rPr lang="tr-TR">
                        <a:latin typeface="Cambria Math" panose="02040503050406030204" pitchFamily="18" charset="0"/>
                      </a:rPr>
                      <m:t>x</m:t>
                    </m:r>
                    <m:r>
                      <a:rPr lang="tr-TR" i="1">
                        <a:latin typeface="Cambria Math" panose="02040503050406030204" pitchFamily="18" charset="0"/>
                      </a:rPr>
                      <m:t>−</m:t>
                    </m:r>
                    <m:r>
                      <m:rPr>
                        <m:sty m:val="p"/>
                      </m:rPr>
                      <a:rPr lang="tr-TR">
                        <a:latin typeface="Cambria Math" panose="02040503050406030204" pitchFamily="18" charset="0"/>
                      </a:rPr>
                      <m:t>y</m:t>
                    </m:r>
                    <m:r>
                      <a:rPr lang="tr-TR">
                        <a:latin typeface="Cambria Math" panose="02040503050406030204" pitchFamily="18" charset="0"/>
                      </a:rPr>
                      <m:t>+10=0</m:t>
                    </m:r>
                  </m:oMath>
                </a14:m>
                <a:r>
                  <a:rPr lang="tr-TR" dirty="0"/>
                  <a:t> </a:t>
                </a:r>
              </a:p>
              <a:p>
                <a:pPr algn="ctr"/>
                <a:r>
                  <a:rPr lang="tr-TR" dirty="0"/>
                  <a:t>Bu denklem sisteminin ortak çözümünden; x= 69/28, y=73/28 ve λ= 1/4 olarak hesaplanır. </a:t>
                </a:r>
              </a:p>
            </p:txBody>
          </p:sp>
        </mc:Choice>
        <mc:Fallback xmlns="">
          <p:sp>
            <p:nvSpPr>
              <p:cNvPr id="13" name="Metin kutusu 12"/>
              <p:cNvSpPr txBox="1">
                <a:spLocks noRot="1" noChangeAspect="1" noMove="1" noResize="1" noEditPoints="1" noAdjustHandles="1" noChangeArrowheads="1" noChangeShapeType="1" noTextEdit="1"/>
              </p:cNvSpPr>
              <p:nvPr/>
            </p:nvSpPr>
            <p:spPr>
              <a:xfrm>
                <a:off x="2125" y="2708920"/>
                <a:ext cx="9194390" cy="3834127"/>
              </a:xfrm>
              <a:prstGeom prst="rect">
                <a:avLst/>
              </a:prstGeom>
              <a:blipFill>
                <a:blip r:embed="rId5"/>
                <a:stretch>
                  <a:fillRect l="-530" t="-795" r="-265" b="-1749"/>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6AD1D43D-8E01-9DB3-17E7-F6FDFAC9B6F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5024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2" name="Metin kutusu 11"/>
          <p:cNvSpPr txBox="1"/>
          <p:nvPr/>
        </p:nvSpPr>
        <p:spPr>
          <a:xfrm>
            <a:off x="9738" y="692696"/>
            <a:ext cx="9145016" cy="830997"/>
          </a:xfrm>
          <a:prstGeom prst="rect">
            <a:avLst/>
          </a:prstGeom>
          <a:noFill/>
        </p:spPr>
        <p:txBody>
          <a:bodyPr wrap="square" rtlCol="0">
            <a:spAutoFit/>
          </a:bodyPr>
          <a:lstStyle/>
          <a:p>
            <a:pPr algn="ctr"/>
            <a:r>
              <a:rPr lang="tr-TR" sz="4800" b="1" dirty="0"/>
              <a:t>ÖRNEK 1</a:t>
            </a:r>
            <a:endParaRPr lang="tr-TR" sz="4800" dirty="0"/>
          </a:p>
        </p:txBody>
      </p:sp>
      <mc:AlternateContent xmlns:mc="http://schemas.openxmlformats.org/markup-compatibility/2006" xmlns:a14="http://schemas.microsoft.com/office/drawing/2010/main">
        <mc:Choice Requires="a14">
          <p:sp>
            <p:nvSpPr>
              <p:cNvPr id="13" name="Metin kutusu 12"/>
              <p:cNvSpPr txBox="1"/>
              <p:nvPr/>
            </p:nvSpPr>
            <p:spPr>
              <a:xfrm>
                <a:off x="0" y="1628800"/>
                <a:ext cx="9154754" cy="4869859"/>
              </a:xfrm>
              <a:prstGeom prst="rect">
                <a:avLst/>
              </a:prstGeom>
              <a:noFill/>
            </p:spPr>
            <p:txBody>
              <a:bodyPr wrap="square" rtlCol="0">
                <a:spAutoFit/>
              </a:bodyPr>
              <a:lstStyle/>
              <a:p>
                <a:r>
                  <a:rPr lang="tr-TR" dirty="0"/>
                  <a:t>Bulduğumuz bu kararlı noktanın optimal olup olmadığını kontrol edelim ve f(x, y) fonksiyonunun </a:t>
                </a:r>
                <a:r>
                  <a:rPr lang="tr-TR" dirty="0" err="1"/>
                  <a:t>Hessian</a:t>
                </a:r>
                <a:r>
                  <a:rPr lang="tr-TR" dirty="0"/>
                  <a:t> matrisini oluşturalım: </a:t>
                </a:r>
              </a:p>
              <a:p>
                <a:endParaRPr lang="tr-TR" dirty="0"/>
              </a:p>
              <a:p>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r>
                          <m:rPr>
                            <m:sty m:val="p"/>
                          </m:rPr>
                          <a:rPr lang="tr-TR">
                            <a:latin typeface="Cambria Math" panose="02040503050406030204" pitchFamily="18" charset="0"/>
                          </a:rPr>
                          <m:t>x</m:t>
                        </m:r>
                      </m:den>
                    </m:f>
                    <m:r>
                      <a:rPr lang="tr-TR">
                        <a:latin typeface="Cambria Math" panose="02040503050406030204" pitchFamily="18" charset="0"/>
                      </a:rPr>
                      <m:t>=</m:t>
                    </m:r>
                    <m:r>
                      <a:rPr lang="tr-TR" i="1">
                        <a:latin typeface="Cambria Math" panose="02040503050406030204" pitchFamily="18" charset="0"/>
                      </a:rPr>
                      <m:t>−</m:t>
                    </m:r>
                    <m:r>
                      <a:rPr lang="tr-TR">
                        <a:latin typeface="Cambria Math" panose="02040503050406030204" pitchFamily="18" charset="0"/>
                      </a:rPr>
                      <m:t>4</m:t>
                    </m:r>
                    <m:r>
                      <m:rPr>
                        <m:sty m:val="p"/>
                      </m:rPr>
                      <a:rPr lang="tr-TR">
                        <a:latin typeface="Cambria Math" panose="02040503050406030204" pitchFamily="18" charset="0"/>
                      </a:rPr>
                      <m:t>x</m:t>
                    </m:r>
                    <m:r>
                      <a:rPr lang="tr-TR">
                        <a:latin typeface="Cambria Math" panose="02040503050406030204" pitchFamily="18" charset="0"/>
                      </a:rPr>
                      <m:t>+</m:t>
                    </m:r>
                    <m:r>
                      <m:rPr>
                        <m:sty m:val="p"/>
                      </m:rPr>
                      <a:rPr lang="tr-TR">
                        <a:latin typeface="Cambria Math" panose="02040503050406030204" pitchFamily="18" charset="0"/>
                      </a:rPr>
                      <m:t>y</m:t>
                    </m:r>
                    <m:r>
                      <a:rPr lang="tr-TR">
                        <a:latin typeface="Cambria Math" panose="02040503050406030204" pitchFamily="18" charset="0"/>
                      </a:rPr>
                      <m:t>+8</m:t>
                    </m:r>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r>
                          <m:rPr>
                            <m:sty m:val="p"/>
                          </m:rPr>
                          <a:rPr lang="tr-TR">
                            <a:latin typeface="Cambria Math" panose="02040503050406030204" pitchFamily="18" charset="0"/>
                          </a:rPr>
                          <m:t>x</m:t>
                        </m:r>
                        <m:r>
                          <a:rPr lang="tr-TR">
                            <a:latin typeface="Cambria Math" panose="02040503050406030204" pitchFamily="18" charset="0"/>
                          </a:rPr>
                          <m:t>𝜕</m:t>
                        </m:r>
                        <m:r>
                          <m:rPr>
                            <m:sty m:val="p"/>
                          </m:rPr>
                          <a:rPr lang="tr-TR">
                            <a:latin typeface="Cambria Math" panose="02040503050406030204" pitchFamily="18" charset="0"/>
                          </a:rPr>
                          <m:t>x</m:t>
                        </m:r>
                      </m:den>
                    </m:f>
                    <m:r>
                      <a:rPr lang="tr-TR">
                        <a:latin typeface="Cambria Math" panose="02040503050406030204" pitchFamily="18" charset="0"/>
                      </a:rPr>
                      <m:t>=</m:t>
                    </m:r>
                    <m:r>
                      <a:rPr lang="tr-TR" i="1">
                        <a:latin typeface="Cambria Math" panose="02040503050406030204" pitchFamily="18" charset="0"/>
                      </a:rPr>
                      <m:t>−</m:t>
                    </m:r>
                    <m:r>
                      <a:rPr lang="tr-TR">
                        <a:latin typeface="Cambria Math" panose="02040503050406030204" pitchFamily="18" charset="0"/>
                      </a:rPr>
                      <m:t>4</m:t>
                    </m:r>
                  </m:oMath>
                </a14:m>
                <a:r>
                  <a:rPr lang="tr-TR" dirty="0"/>
                  <a:t> ,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r>
                          <m:rPr>
                            <m:sty m:val="p"/>
                          </m:rPr>
                          <a:rPr lang="tr-TR">
                            <a:latin typeface="Cambria Math" panose="02040503050406030204" pitchFamily="18" charset="0"/>
                          </a:rPr>
                          <m:t>x</m:t>
                        </m:r>
                        <m:r>
                          <a:rPr lang="tr-TR">
                            <a:latin typeface="Cambria Math" panose="02040503050406030204" pitchFamily="18" charset="0"/>
                          </a:rPr>
                          <m:t>𝜕</m:t>
                        </m:r>
                        <m:r>
                          <m:rPr>
                            <m:sty m:val="p"/>
                          </m:rPr>
                          <a:rPr lang="tr-TR">
                            <a:latin typeface="Cambria Math" panose="02040503050406030204" pitchFamily="18" charset="0"/>
                          </a:rPr>
                          <m:t>y</m:t>
                        </m:r>
                      </m:den>
                    </m:f>
                    <m:r>
                      <a:rPr lang="tr-TR">
                        <a:latin typeface="Cambria Math" panose="02040503050406030204" pitchFamily="18" charset="0"/>
                      </a:rPr>
                      <m:t>=1</m:t>
                    </m:r>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r>
                          <m:rPr>
                            <m:sty m:val="p"/>
                          </m:rPr>
                          <a:rPr lang="tr-TR">
                            <a:latin typeface="Cambria Math" panose="02040503050406030204" pitchFamily="18" charset="0"/>
                          </a:rPr>
                          <m:t>y</m:t>
                        </m:r>
                      </m:den>
                    </m:f>
                    <m:r>
                      <a:rPr lang="tr-TR">
                        <a:latin typeface="Cambria Math" panose="02040503050406030204" pitchFamily="18" charset="0"/>
                      </a:rPr>
                      <m:t>=</m:t>
                    </m:r>
                    <m:r>
                      <a:rPr lang="tr-TR" i="1">
                        <a:latin typeface="Cambria Math" panose="02040503050406030204" pitchFamily="18" charset="0"/>
                      </a:rPr>
                      <m:t>−</m:t>
                    </m:r>
                    <m:r>
                      <a:rPr lang="tr-TR">
                        <a:latin typeface="Cambria Math" panose="02040503050406030204" pitchFamily="18" charset="0"/>
                      </a:rPr>
                      <m:t>2</m:t>
                    </m:r>
                    <m:r>
                      <m:rPr>
                        <m:sty m:val="p"/>
                      </m:rPr>
                      <a:rPr lang="tr-TR">
                        <a:latin typeface="Cambria Math" panose="02040503050406030204" pitchFamily="18" charset="0"/>
                      </a:rPr>
                      <m:t>y</m:t>
                    </m:r>
                    <m:r>
                      <a:rPr lang="tr-TR">
                        <a:latin typeface="Cambria Math" panose="02040503050406030204" pitchFamily="18" charset="0"/>
                      </a:rPr>
                      <m:t>+</m:t>
                    </m:r>
                    <m:r>
                      <m:rPr>
                        <m:sty m:val="p"/>
                      </m:rPr>
                      <a:rPr lang="tr-TR">
                        <a:latin typeface="Cambria Math" panose="02040503050406030204" pitchFamily="18" charset="0"/>
                      </a:rPr>
                      <m:t>x</m:t>
                    </m:r>
                    <m:r>
                      <a:rPr lang="tr-TR">
                        <a:latin typeface="Cambria Math" panose="02040503050406030204" pitchFamily="18" charset="0"/>
                      </a:rPr>
                      <m:t>+3</m:t>
                    </m:r>
                  </m:oMath>
                </a14:m>
                <a:r>
                  <a:rPr lang="tr-TR" dirty="0"/>
                  <a:t> ,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r>
                          <m:rPr>
                            <m:sty m:val="p"/>
                          </m:rPr>
                          <a:rPr lang="tr-TR">
                            <a:latin typeface="Cambria Math" panose="02040503050406030204" pitchFamily="18" charset="0"/>
                          </a:rPr>
                          <m:t>y</m:t>
                        </m:r>
                        <m:r>
                          <a:rPr lang="tr-TR">
                            <a:latin typeface="Cambria Math" panose="02040503050406030204" pitchFamily="18" charset="0"/>
                          </a:rPr>
                          <m:t>𝜕</m:t>
                        </m:r>
                        <m:r>
                          <m:rPr>
                            <m:sty m:val="p"/>
                          </m:rPr>
                          <a:rPr lang="tr-TR">
                            <a:latin typeface="Cambria Math" panose="02040503050406030204" pitchFamily="18" charset="0"/>
                          </a:rPr>
                          <m:t>x</m:t>
                        </m:r>
                      </m:den>
                    </m:f>
                    <m:r>
                      <a:rPr lang="tr-TR">
                        <a:latin typeface="Cambria Math" panose="02040503050406030204" pitchFamily="18" charset="0"/>
                      </a:rPr>
                      <m:t>=1</m:t>
                    </m:r>
                    <m:r>
                      <a:rPr lang="tr-TR" b="0" i="1" smtClean="0">
                        <a:latin typeface="Cambria Math" panose="02040503050406030204" pitchFamily="18" charset="0"/>
                      </a:rPr>
                      <m:t> ,      </m:t>
                    </m:r>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b="0" i="0" smtClean="0">
                            <a:latin typeface="Cambria Math" panose="02040503050406030204" pitchFamily="18" charset="0"/>
                          </a:rPr>
                          <m:t> </m:t>
                        </m:r>
                        <m:r>
                          <a:rPr lang="tr-TR">
                            <a:latin typeface="Cambria Math" panose="02040503050406030204" pitchFamily="18" charset="0"/>
                          </a:rPr>
                          <m:t>𝜕</m:t>
                        </m:r>
                        <m:r>
                          <m:rPr>
                            <m:sty m:val="p"/>
                          </m:rPr>
                          <a:rPr lang="tr-TR">
                            <a:latin typeface="Cambria Math" panose="02040503050406030204" pitchFamily="18" charset="0"/>
                          </a:rPr>
                          <m:t>y</m:t>
                        </m:r>
                        <m:r>
                          <a:rPr lang="tr-TR">
                            <a:latin typeface="Cambria Math" panose="02040503050406030204" pitchFamily="18" charset="0"/>
                          </a:rPr>
                          <m:t>𝜕</m:t>
                        </m:r>
                        <m:r>
                          <m:rPr>
                            <m:sty m:val="p"/>
                          </m:rPr>
                          <a:rPr lang="tr-TR">
                            <a:latin typeface="Cambria Math" panose="02040503050406030204" pitchFamily="18" charset="0"/>
                          </a:rPr>
                          <m:t>y</m:t>
                        </m:r>
                      </m:den>
                    </m:f>
                    <m:r>
                      <a:rPr lang="tr-TR">
                        <a:latin typeface="Cambria Math" panose="02040503050406030204" pitchFamily="18" charset="0"/>
                      </a:rPr>
                      <m:t>=</m:t>
                    </m:r>
                    <m:r>
                      <a:rPr lang="tr-TR" i="1">
                        <a:latin typeface="Cambria Math" panose="02040503050406030204" pitchFamily="18" charset="0"/>
                      </a:rPr>
                      <m:t>−</m:t>
                    </m:r>
                    <m:r>
                      <a:rPr lang="tr-TR">
                        <a:latin typeface="Cambria Math" panose="02040503050406030204" pitchFamily="18" charset="0"/>
                      </a:rPr>
                      <m:t>2</m:t>
                    </m:r>
                  </m:oMath>
                </a14:m>
                <a:r>
                  <a:rPr lang="tr-TR" dirty="0"/>
                  <a:t> </a:t>
                </a:r>
              </a:p>
              <a:p>
                <a:endParaRPr lang="tr-TR" i="1" dirty="0"/>
              </a:p>
              <a:p>
                <a14:m>
                  <m:oMath xmlns:m="http://schemas.openxmlformats.org/officeDocument/2006/math">
                    <m:r>
                      <a:rPr lang="tr-TR" i="1">
                        <a:latin typeface="Cambria Math" panose="02040503050406030204" pitchFamily="18" charset="0"/>
                      </a:rPr>
                      <m:t>𝐻</m:t>
                    </m:r>
                    <m:r>
                      <a:rPr lang="tr-TR" i="1">
                        <a:latin typeface="Cambria Math" panose="02040503050406030204" pitchFamily="18" charset="0"/>
                      </a:rPr>
                      <m:t>=</m:t>
                    </m:r>
                    <m:d>
                      <m:dPr>
                        <m:begChr m:val="["/>
                        <m:endChr m:val="]"/>
                        <m:ctrlPr>
                          <a:rPr lang="tr-TR" i="1">
                            <a:latin typeface="Cambria Math" panose="02040503050406030204" pitchFamily="18" charset="0"/>
                          </a:rPr>
                        </m:ctrlPr>
                      </m:dPr>
                      <m:e>
                        <m:m>
                          <m:mPr>
                            <m:mcs>
                              <m:mc>
                                <m:mcPr>
                                  <m:count m:val="2"/>
                                  <m:mcJc m:val="center"/>
                                </m:mcPr>
                              </m:mc>
                            </m:mcs>
                            <m:ctrlPr>
                              <a:rPr lang="tr-TR" i="1">
                                <a:latin typeface="Cambria Math" panose="02040503050406030204" pitchFamily="18" charset="0"/>
                              </a:rPr>
                            </m:ctrlPr>
                          </m:mPr>
                          <m:mr>
                            <m:e>
                              <m:r>
                                <a:rPr lang="tr-TR" i="1">
                                  <a:latin typeface="Cambria Math" panose="02040503050406030204" pitchFamily="18" charset="0"/>
                                </a:rPr>
                                <m:t>−4</m:t>
                              </m:r>
                            </m:e>
                            <m:e>
                              <m:r>
                                <a:rPr lang="tr-TR" i="1">
                                  <a:latin typeface="Cambria Math" panose="02040503050406030204" pitchFamily="18" charset="0"/>
                                </a:rPr>
                                <m:t>1</m:t>
                              </m:r>
                            </m:e>
                          </m:mr>
                          <m:mr>
                            <m:e>
                              <m:r>
                                <a:rPr lang="tr-TR" i="1">
                                  <a:latin typeface="Cambria Math" panose="02040503050406030204" pitchFamily="18" charset="0"/>
                                </a:rPr>
                                <m:t>1</m:t>
                              </m:r>
                            </m:e>
                            <m:e>
                              <m:r>
                                <a:rPr lang="tr-TR" i="1">
                                  <a:latin typeface="Cambria Math" panose="02040503050406030204" pitchFamily="18" charset="0"/>
                                </a:rPr>
                                <m:t>−2</m:t>
                              </m:r>
                            </m:e>
                          </m:mr>
                        </m:m>
                      </m:e>
                    </m:d>
                  </m:oMath>
                </a14:m>
                <a:r>
                  <a:rPr lang="tr-TR" dirty="0"/>
                  <a:t> matrisinde birinci esas minörün işareti negatif, ikinci esas minörün işareti de pozitif olduğundan f(x, y) fonksiyonu konkavdır. Konkav bir fonksiyonda yerel optimum nokta maksimum değeri verir ve amaç fonksiyonu </a:t>
                </a:r>
                <a:r>
                  <a:rPr lang="tr-TR" dirty="0" err="1"/>
                  <a:t>enbüyükleme</a:t>
                </a:r>
                <a:r>
                  <a:rPr lang="tr-TR" dirty="0"/>
                  <a:t> olduğundan bulduğumuz nokta optimal çözümü verir.</a:t>
                </a:r>
              </a:p>
              <a:p>
                <a:endParaRPr lang="tr-TR" dirty="0"/>
              </a:p>
              <a:p>
                <a:r>
                  <a:rPr lang="tr-TR" dirty="0"/>
                  <a:t>Yani işletme 69/28 dakika televizyona, 73/28 dakika da radyoya reklam vermelidir. λ= 1/4 değerinin anlamı da, reklam için ayrılacak her bir ekstra ∆ TL kadar harcamanın 0,25∆ TL kadar daha getirisi olacağıdır. Başka bir deyişle firma televizyonda 1 </a:t>
                </a:r>
                <a:r>
                  <a:rPr lang="tr-TR" dirty="0" err="1"/>
                  <a:t>dk</a:t>
                </a:r>
                <a:r>
                  <a:rPr lang="tr-TR" dirty="0"/>
                  <a:t> daha reklam vermek istese bunun getirisi 0.25(3000)=750 TL olacağından, </a:t>
                </a:r>
                <a:r>
                  <a:rPr lang="tr-TR" dirty="0" err="1"/>
                  <a:t>tv</a:t>
                </a:r>
                <a:r>
                  <a:rPr lang="tr-TR" dirty="0"/>
                  <a:t> kanalıyla yapacağı yeni anlaşmada 1 </a:t>
                </a:r>
                <a:r>
                  <a:rPr lang="tr-TR" dirty="0" err="1"/>
                  <a:t>dk’lık</a:t>
                </a:r>
                <a:r>
                  <a:rPr lang="tr-TR" dirty="0"/>
                  <a:t> reklam için en fazla 3000+750=3750 TL kadarlık bir fiyata razı olabilecektir.</a:t>
                </a:r>
              </a:p>
              <a:p>
                <a:endParaRPr lang="tr-TR" dirty="0"/>
              </a:p>
            </p:txBody>
          </p:sp>
        </mc:Choice>
        <mc:Fallback xmlns="">
          <p:sp>
            <p:nvSpPr>
              <p:cNvPr id="13" name="Metin kutusu 12"/>
              <p:cNvSpPr txBox="1">
                <a:spLocks noRot="1" noChangeAspect="1" noMove="1" noResize="1" noEditPoints="1" noAdjustHandles="1" noChangeArrowheads="1" noChangeShapeType="1" noTextEdit="1"/>
              </p:cNvSpPr>
              <p:nvPr/>
            </p:nvSpPr>
            <p:spPr>
              <a:xfrm>
                <a:off x="0" y="1628800"/>
                <a:ext cx="9154754" cy="4869859"/>
              </a:xfrm>
              <a:prstGeom prst="rect">
                <a:avLst/>
              </a:prstGeom>
              <a:blipFill>
                <a:blip r:embed="rId5"/>
                <a:stretch>
                  <a:fillRect l="-533" t="-626" r="-67"/>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75F30AA0-2A6C-7C25-0D50-7D3F1871C31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7978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0" name="Metin kutusu 9"/>
          <p:cNvSpPr txBox="1"/>
          <p:nvPr/>
        </p:nvSpPr>
        <p:spPr>
          <a:xfrm>
            <a:off x="9738" y="692696"/>
            <a:ext cx="9145016" cy="830997"/>
          </a:xfrm>
          <a:prstGeom prst="rect">
            <a:avLst/>
          </a:prstGeom>
          <a:noFill/>
        </p:spPr>
        <p:txBody>
          <a:bodyPr wrap="square" rtlCol="0">
            <a:spAutoFit/>
          </a:bodyPr>
          <a:lstStyle/>
          <a:p>
            <a:pPr algn="ctr"/>
            <a:r>
              <a:rPr lang="tr-TR" sz="4800" b="1" dirty="0"/>
              <a:t>ÖRNEK 2</a:t>
            </a:r>
            <a:endParaRPr lang="tr-TR" sz="4800" dirty="0"/>
          </a:p>
        </p:txBody>
      </p:sp>
      <p:sp>
        <p:nvSpPr>
          <p:cNvPr id="12" name="Metin kutusu 11"/>
          <p:cNvSpPr txBox="1"/>
          <p:nvPr/>
        </p:nvSpPr>
        <p:spPr>
          <a:xfrm>
            <a:off x="0" y="1556792"/>
            <a:ext cx="9145016" cy="1477328"/>
          </a:xfrm>
          <a:prstGeom prst="rect">
            <a:avLst/>
          </a:prstGeom>
          <a:noFill/>
        </p:spPr>
        <p:txBody>
          <a:bodyPr wrap="square" rtlCol="0">
            <a:spAutoFit/>
          </a:bodyPr>
          <a:lstStyle/>
          <a:p>
            <a:r>
              <a:rPr lang="tr-TR" b="1" dirty="0"/>
              <a:t>Örnek: </a:t>
            </a:r>
            <a:r>
              <a:rPr lang="tr-TR" dirty="0"/>
              <a:t>Aşağıdaki doğrusal olmayan modelin optimal çözümünü bulunuz ve bulduğunuz çözümün optimal olduğunu gösteriniz.</a:t>
            </a:r>
          </a:p>
          <a:p>
            <a:pPr algn="ctr"/>
            <a:r>
              <a:rPr lang="tr-TR" dirty="0" err="1"/>
              <a:t>Z</a:t>
            </a:r>
            <a:r>
              <a:rPr lang="tr-TR" baseline="-25000" dirty="0" err="1"/>
              <a:t>enaz</a:t>
            </a:r>
            <a:r>
              <a:rPr lang="tr-TR" dirty="0"/>
              <a:t>=x</a:t>
            </a:r>
            <a:r>
              <a:rPr lang="tr-TR" baseline="-25000" dirty="0"/>
              <a:t>1</a:t>
            </a:r>
            <a:r>
              <a:rPr lang="tr-TR" baseline="30000" dirty="0"/>
              <a:t>2</a:t>
            </a:r>
            <a:r>
              <a:rPr lang="tr-TR" dirty="0"/>
              <a:t>+x</a:t>
            </a:r>
            <a:r>
              <a:rPr lang="tr-TR" baseline="-25000" dirty="0"/>
              <a:t>2</a:t>
            </a:r>
            <a:r>
              <a:rPr lang="tr-TR" baseline="30000" dirty="0"/>
              <a:t>2</a:t>
            </a:r>
            <a:r>
              <a:rPr lang="tr-TR" dirty="0"/>
              <a:t>+x</a:t>
            </a:r>
            <a:r>
              <a:rPr lang="tr-TR" baseline="-25000" dirty="0"/>
              <a:t>3</a:t>
            </a:r>
            <a:r>
              <a:rPr lang="tr-TR" baseline="30000" dirty="0"/>
              <a:t>2</a:t>
            </a:r>
            <a:endParaRPr lang="tr-TR" dirty="0"/>
          </a:p>
          <a:p>
            <a:pPr algn="ctr"/>
            <a:r>
              <a:rPr lang="tr-TR" dirty="0"/>
              <a:t>x</a:t>
            </a:r>
            <a:r>
              <a:rPr lang="tr-TR" baseline="-25000" dirty="0"/>
              <a:t>1</a:t>
            </a:r>
            <a:r>
              <a:rPr lang="tr-TR" dirty="0"/>
              <a:t>+x</a:t>
            </a:r>
            <a:r>
              <a:rPr lang="tr-TR" baseline="-25000" dirty="0"/>
              <a:t>2</a:t>
            </a:r>
            <a:r>
              <a:rPr lang="tr-TR" dirty="0"/>
              <a:t>+3x</a:t>
            </a:r>
            <a:r>
              <a:rPr lang="tr-TR" baseline="-25000" dirty="0"/>
              <a:t>3</a:t>
            </a:r>
            <a:r>
              <a:rPr lang="tr-TR" dirty="0"/>
              <a:t>=2</a:t>
            </a:r>
          </a:p>
          <a:p>
            <a:pPr algn="ctr"/>
            <a:r>
              <a:rPr lang="tr-TR" dirty="0"/>
              <a:t>5x</a:t>
            </a:r>
            <a:r>
              <a:rPr lang="tr-TR" baseline="-25000" dirty="0"/>
              <a:t>1</a:t>
            </a:r>
            <a:r>
              <a:rPr lang="tr-TR" dirty="0"/>
              <a:t>+2x</a:t>
            </a:r>
            <a:r>
              <a:rPr lang="tr-TR" baseline="-25000" dirty="0"/>
              <a:t>2</a:t>
            </a:r>
            <a:r>
              <a:rPr lang="tr-TR" dirty="0"/>
              <a:t>+x</a:t>
            </a:r>
            <a:r>
              <a:rPr lang="tr-TR" baseline="-25000" dirty="0"/>
              <a:t>3</a:t>
            </a:r>
            <a:r>
              <a:rPr lang="tr-TR" dirty="0"/>
              <a:t>=5</a:t>
            </a:r>
          </a:p>
        </p:txBody>
      </p:sp>
      <p:sp>
        <p:nvSpPr>
          <p:cNvPr id="13" name="Metin kutusu 12"/>
          <p:cNvSpPr txBox="1"/>
          <p:nvPr/>
        </p:nvSpPr>
        <p:spPr>
          <a:xfrm>
            <a:off x="9738" y="3031581"/>
            <a:ext cx="6794510" cy="1200329"/>
          </a:xfrm>
          <a:prstGeom prst="rect">
            <a:avLst/>
          </a:prstGeom>
          <a:noFill/>
        </p:spPr>
        <p:txBody>
          <a:bodyPr wrap="square" rtlCol="0">
            <a:spAutoFit/>
          </a:bodyPr>
          <a:lstStyle/>
          <a:p>
            <a:r>
              <a:rPr lang="tr-TR" b="1" dirty="0"/>
              <a:t>Çözüm:</a:t>
            </a:r>
            <a:r>
              <a:rPr lang="tr-TR" dirty="0"/>
              <a:t> </a:t>
            </a:r>
            <a:r>
              <a:rPr lang="tr-TR" dirty="0" err="1"/>
              <a:t>Lagrange</a:t>
            </a:r>
            <a:r>
              <a:rPr lang="tr-TR" dirty="0"/>
              <a:t> denklemini oluşturalım:</a:t>
            </a:r>
          </a:p>
          <a:p>
            <a:pPr algn="ctr"/>
            <a:r>
              <a:rPr lang="tr-TR" dirty="0"/>
              <a:t>L(x</a:t>
            </a:r>
            <a:r>
              <a:rPr lang="tr-TR" baseline="-25000" dirty="0"/>
              <a:t>1</a:t>
            </a:r>
            <a:r>
              <a:rPr lang="tr-TR" dirty="0"/>
              <a:t>, x</a:t>
            </a:r>
            <a:r>
              <a:rPr lang="tr-TR" baseline="-25000" dirty="0"/>
              <a:t>2</a:t>
            </a:r>
            <a:r>
              <a:rPr lang="tr-TR" dirty="0"/>
              <a:t>, x</a:t>
            </a:r>
            <a:r>
              <a:rPr lang="tr-TR" baseline="-25000" dirty="0"/>
              <a:t>3</a:t>
            </a:r>
            <a:r>
              <a:rPr lang="tr-TR" dirty="0"/>
              <a:t>, λ</a:t>
            </a:r>
            <a:r>
              <a:rPr lang="tr-TR" baseline="-25000" dirty="0"/>
              <a:t>1</a:t>
            </a:r>
            <a:r>
              <a:rPr lang="tr-TR" dirty="0"/>
              <a:t>, λ</a:t>
            </a:r>
            <a:r>
              <a:rPr lang="tr-TR" baseline="-25000" dirty="0"/>
              <a:t>2</a:t>
            </a:r>
            <a:r>
              <a:rPr lang="tr-TR" dirty="0"/>
              <a:t>)= x</a:t>
            </a:r>
            <a:r>
              <a:rPr lang="tr-TR" baseline="-25000" dirty="0"/>
              <a:t>1</a:t>
            </a:r>
            <a:r>
              <a:rPr lang="tr-TR" baseline="30000" dirty="0"/>
              <a:t>2</a:t>
            </a:r>
            <a:r>
              <a:rPr lang="tr-TR" dirty="0"/>
              <a:t>+x</a:t>
            </a:r>
            <a:r>
              <a:rPr lang="tr-TR" baseline="-25000" dirty="0"/>
              <a:t>2</a:t>
            </a:r>
            <a:r>
              <a:rPr lang="tr-TR" baseline="30000" dirty="0"/>
              <a:t>2</a:t>
            </a:r>
            <a:r>
              <a:rPr lang="tr-TR" dirty="0"/>
              <a:t>+x</a:t>
            </a:r>
            <a:r>
              <a:rPr lang="tr-TR" baseline="-25000" dirty="0"/>
              <a:t>3</a:t>
            </a:r>
            <a:r>
              <a:rPr lang="tr-TR" baseline="30000" dirty="0"/>
              <a:t>2</a:t>
            </a:r>
            <a:r>
              <a:rPr lang="tr-TR" dirty="0"/>
              <a:t>+2λ</a:t>
            </a:r>
            <a:r>
              <a:rPr lang="tr-TR" baseline="-25000" dirty="0"/>
              <a:t>1</a:t>
            </a:r>
            <a:r>
              <a:rPr lang="tr-TR" dirty="0"/>
              <a:t>- x</a:t>
            </a:r>
            <a:r>
              <a:rPr lang="tr-TR" baseline="-25000" dirty="0"/>
              <a:t>1</a:t>
            </a:r>
            <a:r>
              <a:rPr lang="tr-TR" dirty="0"/>
              <a:t>λ</a:t>
            </a:r>
            <a:r>
              <a:rPr lang="tr-TR" baseline="-25000" dirty="0"/>
              <a:t>1</a:t>
            </a:r>
            <a:r>
              <a:rPr lang="tr-TR" dirty="0"/>
              <a:t>-x</a:t>
            </a:r>
            <a:r>
              <a:rPr lang="tr-TR" baseline="-25000" dirty="0"/>
              <a:t>2</a:t>
            </a:r>
            <a:r>
              <a:rPr lang="tr-TR" dirty="0"/>
              <a:t>λ</a:t>
            </a:r>
            <a:r>
              <a:rPr lang="tr-TR" baseline="-25000" dirty="0"/>
              <a:t>1</a:t>
            </a:r>
            <a:r>
              <a:rPr lang="tr-TR" dirty="0"/>
              <a:t>-3x</a:t>
            </a:r>
            <a:r>
              <a:rPr lang="tr-TR" baseline="-25000" dirty="0"/>
              <a:t>3</a:t>
            </a:r>
            <a:r>
              <a:rPr lang="tr-TR" dirty="0"/>
              <a:t>λ</a:t>
            </a:r>
            <a:r>
              <a:rPr lang="tr-TR" baseline="-25000" dirty="0"/>
              <a:t>1</a:t>
            </a:r>
            <a:r>
              <a:rPr lang="tr-TR" dirty="0"/>
              <a:t>+5λ</a:t>
            </a:r>
            <a:r>
              <a:rPr lang="tr-TR" baseline="-25000" dirty="0"/>
              <a:t>2</a:t>
            </a:r>
            <a:r>
              <a:rPr lang="tr-TR" dirty="0"/>
              <a:t>-5x</a:t>
            </a:r>
            <a:r>
              <a:rPr lang="tr-TR" baseline="-25000" dirty="0"/>
              <a:t>1</a:t>
            </a:r>
            <a:r>
              <a:rPr lang="tr-TR" dirty="0"/>
              <a:t>λ</a:t>
            </a:r>
            <a:r>
              <a:rPr lang="tr-TR" baseline="-25000" dirty="0"/>
              <a:t>2</a:t>
            </a:r>
            <a:r>
              <a:rPr lang="tr-TR" dirty="0"/>
              <a:t>-2x</a:t>
            </a:r>
            <a:r>
              <a:rPr lang="tr-TR" baseline="-25000" dirty="0"/>
              <a:t>2</a:t>
            </a:r>
            <a:r>
              <a:rPr lang="tr-TR" dirty="0"/>
              <a:t>λ</a:t>
            </a:r>
            <a:r>
              <a:rPr lang="tr-TR" baseline="-25000" dirty="0"/>
              <a:t>2</a:t>
            </a:r>
            <a:r>
              <a:rPr lang="tr-TR" dirty="0"/>
              <a:t>-x</a:t>
            </a:r>
            <a:r>
              <a:rPr lang="tr-TR" baseline="-25000" dirty="0"/>
              <a:t>3</a:t>
            </a:r>
            <a:r>
              <a:rPr lang="tr-TR" dirty="0"/>
              <a:t>λ</a:t>
            </a:r>
            <a:r>
              <a:rPr lang="tr-TR" baseline="-25000" dirty="0"/>
              <a:t>2</a:t>
            </a:r>
            <a:endParaRPr lang="tr-TR" dirty="0"/>
          </a:p>
          <a:p>
            <a:r>
              <a:rPr lang="tr-TR" dirty="0"/>
              <a:t>Bu </a:t>
            </a:r>
            <a:r>
              <a:rPr lang="tr-TR" dirty="0" err="1"/>
              <a:t>Lagrange</a:t>
            </a:r>
            <a:r>
              <a:rPr lang="tr-TR" dirty="0"/>
              <a:t> denkleminin çözümü için kısmi türevleri alıp sıfıra eşitleyerek kararlı noktayı bulalım.</a:t>
            </a:r>
          </a:p>
        </p:txBody>
      </p:sp>
      <mc:AlternateContent xmlns:mc="http://schemas.openxmlformats.org/markup-compatibility/2006" xmlns:a14="http://schemas.microsoft.com/office/drawing/2010/main">
        <mc:Choice Requires="a14">
          <p:sp>
            <p:nvSpPr>
              <p:cNvPr id="14" name="Metin kutusu 13"/>
              <p:cNvSpPr txBox="1"/>
              <p:nvPr/>
            </p:nvSpPr>
            <p:spPr>
              <a:xfrm>
                <a:off x="611560" y="4149080"/>
                <a:ext cx="3208718" cy="2425857"/>
              </a:xfrm>
              <a:prstGeom prst="rect">
                <a:avLst/>
              </a:prstGeom>
              <a:noFill/>
            </p:spPr>
            <p:txBody>
              <a:bodyPr wrap="square" rtlCol="0">
                <a:spAutoFit/>
              </a:bodyPr>
              <a:lstStyle/>
              <a:p>
                <a14:m>
                  <m:oMath xmlns:m="http://schemas.openxmlformats.org/officeDocument/2006/math">
                    <m:f>
                      <m:fPr>
                        <m:ctrlPr>
                          <a:rPr lang="tr-TR" i="1">
                            <a:latin typeface="Cambria Math" panose="02040503050406030204" pitchFamily="18" charset="0"/>
                          </a:rPr>
                        </m:ctrlPr>
                      </m:fPr>
                      <m:num>
                        <m:r>
                          <a:rPr lang="tr-TR" i="1">
                            <a:latin typeface="Cambria Math" panose="02040503050406030204" pitchFamily="18" charset="0"/>
                          </a:rPr>
                          <m:t>𝜕</m:t>
                        </m:r>
                        <m:r>
                          <m:rPr>
                            <m:sty m:val="p"/>
                          </m:rPr>
                          <a:rPr lang="tr-TR" i="1">
                            <a:latin typeface="Cambria Math" panose="02040503050406030204" pitchFamily="18" charset="0"/>
                          </a:rPr>
                          <m:t>L</m:t>
                        </m:r>
                      </m:num>
                      <m:den>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i="1">
                                <a:latin typeface="Cambria Math" panose="02040503050406030204" pitchFamily="18" charset="0"/>
                              </a:rPr>
                              <m:t>x</m:t>
                            </m:r>
                          </m:e>
                          <m:sub>
                            <m:r>
                              <a:rPr lang="tr-TR" i="1">
                                <a:latin typeface="Cambria Math" panose="02040503050406030204" pitchFamily="18" charset="0"/>
                              </a:rPr>
                              <m:t>1</m:t>
                            </m:r>
                          </m:sub>
                        </m:sSub>
                      </m:den>
                    </m:f>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2</m:t>
                        </m:r>
                        <m:r>
                          <m:rPr>
                            <m:sty m:val="p"/>
                          </m:rPr>
                          <a:rPr lang="tr-TR" i="1">
                            <a:latin typeface="Cambria Math" panose="02040503050406030204" pitchFamily="18" charset="0"/>
                          </a:rPr>
                          <m:t>x</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i="1">
                            <a:latin typeface="Cambria Math" panose="02040503050406030204" pitchFamily="18" charset="0"/>
                          </a:rPr>
                          <m:t>λ</m:t>
                        </m:r>
                      </m:e>
                      <m:sub>
                        <m:r>
                          <a:rPr lang="tr-TR" i="1">
                            <a:latin typeface="Cambria Math" panose="02040503050406030204" pitchFamily="18" charset="0"/>
                          </a:rPr>
                          <m:t>1</m:t>
                        </m:r>
                      </m:sub>
                    </m:sSub>
                    <m:r>
                      <a:rPr lang="tr-TR" i="1">
                        <a:latin typeface="Cambria Math" panose="02040503050406030204" pitchFamily="18" charset="0"/>
                      </a:rPr>
                      <m:t>−5</m:t>
                    </m:r>
                    <m:sSub>
                      <m:sSubPr>
                        <m:ctrlPr>
                          <a:rPr lang="tr-TR" i="1">
                            <a:latin typeface="Cambria Math" panose="02040503050406030204" pitchFamily="18" charset="0"/>
                          </a:rPr>
                        </m:ctrlPr>
                      </m:sSubPr>
                      <m:e>
                        <m:r>
                          <m:rPr>
                            <m:sty m:val="p"/>
                          </m:rPr>
                          <a:rPr lang="tr-TR" i="1">
                            <a:latin typeface="Cambria Math" panose="02040503050406030204" pitchFamily="18" charset="0"/>
                          </a:rPr>
                          <m:t>λ</m:t>
                        </m:r>
                      </m:e>
                      <m:sub>
                        <m:r>
                          <a:rPr lang="tr-TR" i="1">
                            <a:latin typeface="Cambria Math" panose="02040503050406030204" pitchFamily="18" charset="0"/>
                          </a:rPr>
                          <m:t>2</m:t>
                        </m:r>
                      </m:sub>
                    </m:sSub>
                    <m:r>
                      <a:rPr lang="tr-TR" i="1">
                        <a:latin typeface="Cambria Math" panose="02040503050406030204" pitchFamily="18" charset="0"/>
                      </a:rPr>
                      <m:t>=0</m:t>
                    </m:r>
                  </m:oMath>
                </a14:m>
                <a:r>
                  <a:rPr lang="tr-TR" i="1" dirty="0">
                    <a:latin typeface="Cambria Math" panose="02040503050406030204" pitchFamily="18" charset="0"/>
                  </a:rPr>
                  <a:t> </a:t>
                </a:r>
              </a:p>
              <a:p>
                <a14:m>
                  <m:oMath xmlns:m="http://schemas.openxmlformats.org/officeDocument/2006/math">
                    <m:f>
                      <m:fPr>
                        <m:ctrlPr>
                          <a:rPr lang="tr-TR" i="1">
                            <a:latin typeface="Cambria Math" panose="02040503050406030204" pitchFamily="18" charset="0"/>
                          </a:rPr>
                        </m:ctrlPr>
                      </m:fPr>
                      <m:num>
                        <m:r>
                          <a:rPr lang="tr-TR" i="1">
                            <a:latin typeface="Cambria Math" panose="02040503050406030204" pitchFamily="18" charset="0"/>
                          </a:rPr>
                          <m:t>𝜕</m:t>
                        </m:r>
                        <m:r>
                          <m:rPr>
                            <m:sty m:val="p"/>
                          </m:rPr>
                          <a:rPr lang="tr-TR" i="1">
                            <a:latin typeface="Cambria Math" panose="02040503050406030204" pitchFamily="18" charset="0"/>
                          </a:rPr>
                          <m:t>L</m:t>
                        </m:r>
                      </m:num>
                      <m:den>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i="1">
                                <a:latin typeface="Cambria Math" panose="02040503050406030204" pitchFamily="18" charset="0"/>
                              </a:rPr>
                              <m:t>x</m:t>
                            </m:r>
                          </m:e>
                          <m:sub>
                            <m:r>
                              <a:rPr lang="tr-TR" i="1">
                                <a:latin typeface="Cambria Math" panose="02040503050406030204" pitchFamily="18" charset="0"/>
                              </a:rPr>
                              <m:t>2</m:t>
                            </m:r>
                          </m:sub>
                        </m:sSub>
                      </m:den>
                    </m:f>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2</m:t>
                        </m:r>
                        <m:r>
                          <m:rPr>
                            <m:sty m:val="p"/>
                          </m:rPr>
                          <a:rPr lang="tr-TR" i="1">
                            <a:latin typeface="Cambria Math" panose="02040503050406030204" pitchFamily="18" charset="0"/>
                          </a:rPr>
                          <m:t>x</m:t>
                        </m:r>
                      </m:e>
                      <m:sub>
                        <m:r>
                          <a:rPr lang="tr-TR" i="1">
                            <a:latin typeface="Cambria Math" panose="02040503050406030204" pitchFamily="18" charset="0"/>
                          </a:rPr>
                          <m:t>2</m:t>
                        </m:r>
                      </m:sub>
                    </m:sSub>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i="1">
                            <a:latin typeface="Cambria Math" panose="02040503050406030204" pitchFamily="18" charset="0"/>
                          </a:rPr>
                          <m:t>λ</m:t>
                        </m:r>
                      </m:e>
                      <m:sub>
                        <m:r>
                          <a:rPr lang="tr-TR" i="1">
                            <a:latin typeface="Cambria Math" panose="02040503050406030204" pitchFamily="18" charset="0"/>
                          </a:rPr>
                          <m:t>1</m:t>
                        </m:r>
                      </m:sub>
                    </m:sSub>
                    <m:r>
                      <a:rPr lang="tr-TR" i="1">
                        <a:latin typeface="Cambria Math" panose="02040503050406030204" pitchFamily="18" charset="0"/>
                      </a:rPr>
                      <m:t>−2</m:t>
                    </m:r>
                    <m:sSub>
                      <m:sSubPr>
                        <m:ctrlPr>
                          <a:rPr lang="tr-TR" i="1">
                            <a:latin typeface="Cambria Math" panose="02040503050406030204" pitchFamily="18" charset="0"/>
                          </a:rPr>
                        </m:ctrlPr>
                      </m:sSubPr>
                      <m:e>
                        <m:r>
                          <m:rPr>
                            <m:sty m:val="p"/>
                          </m:rPr>
                          <a:rPr lang="tr-TR" i="1">
                            <a:latin typeface="Cambria Math" panose="02040503050406030204" pitchFamily="18" charset="0"/>
                          </a:rPr>
                          <m:t>λ</m:t>
                        </m:r>
                      </m:e>
                      <m:sub>
                        <m:r>
                          <a:rPr lang="tr-TR" i="1">
                            <a:latin typeface="Cambria Math" panose="02040503050406030204" pitchFamily="18" charset="0"/>
                          </a:rPr>
                          <m:t>2</m:t>
                        </m:r>
                      </m:sub>
                    </m:sSub>
                    <m:r>
                      <a:rPr lang="tr-TR" i="1">
                        <a:latin typeface="Cambria Math" panose="02040503050406030204" pitchFamily="18" charset="0"/>
                      </a:rPr>
                      <m:t>=0</m:t>
                    </m:r>
                  </m:oMath>
                </a14:m>
                <a:r>
                  <a:rPr lang="tr-TR" i="1" dirty="0">
                    <a:latin typeface="Cambria Math" panose="02040503050406030204" pitchFamily="18" charset="0"/>
                  </a:rPr>
                  <a:t> </a:t>
                </a:r>
              </a:p>
              <a:p>
                <a14:m>
                  <m:oMath xmlns:m="http://schemas.openxmlformats.org/officeDocument/2006/math">
                    <m:f>
                      <m:fPr>
                        <m:ctrlPr>
                          <a:rPr lang="tr-TR" i="1">
                            <a:latin typeface="Cambria Math" panose="02040503050406030204" pitchFamily="18" charset="0"/>
                          </a:rPr>
                        </m:ctrlPr>
                      </m:fPr>
                      <m:num>
                        <m:r>
                          <a:rPr lang="tr-TR" i="1">
                            <a:latin typeface="Cambria Math" panose="02040503050406030204" pitchFamily="18" charset="0"/>
                          </a:rPr>
                          <m:t>𝜕</m:t>
                        </m:r>
                        <m:r>
                          <m:rPr>
                            <m:sty m:val="p"/>
                          </m:rPr>
                          <a:rPr lang="tr-TR" i="1">
                            <a:latin typeface="Cambria Math" panose="02040503050406030204" pitchFamily="18" charset="0"/>
                          </a:rPr>
                          <m:t>L</m:t>
                        </m:r>
                      </m:num>
                      <m:den>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i="1">
                                <a:latin typeface="Cambria Math" panose="02040503050406030204" pitchFamily="18" charset="0"/>
                              </a:rPr>
                              <m:t>x</m:t>
                            </m:r>
                          </m:e>
                          <m:sub>
                            <m:r>
                              <a:rPr lang="tr-TR" i="1">
                                <a:latin typeface="Cambria Math" panose="02040503050406030204" pitchFamily="18" charset="0"/>
                              </a:rPr>
                              <m:t>3</m:t>
                            </m:r>
                          </m:sub>
                        </m:sSub>
                      </m:den>
                    </m:f>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2</m:t>
                        </m:r>
                        <m:r>
                          <m:rPr>
                            <m:sty m:val="p"/>
                          </m:rPr>
                          <a:rPr lang="tr-TR" i="1">
                            <a:latin typeface="Cambria Math" panose="02040503050406030204" pitchFamily="18" charset="0"/>
                          </a:rPr>
                          <m:t>x</m:t>
                        </m:r>
                      </m:e>
                      <m:sub>
                        <m:r>
                          <a:rPr lang="tr-TR" i="1">
                            <a:latin typeface="Cambria Math" panose="02040503050406030204" pitchFamily="18" charset="0"/>
                          </a:rPr>
                          <m:t>3</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3</m:t>
                        </m:r>
                        <m:r>
                          <m:rPr>
                            <m:sty m:val="p"/>
                          </m:rPr>
                          <a:rPr lang="tr-TR" i="1">
                            <a:latin typeface="Cambria Math" panose="02040503050406030204" pitchFamily="18" charset="0"/>
                          </a:rPr>
                          <m:t>λ</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i="1">
                            <a:latin typeface="Cambria Math" panose="02040503050406030204" pitchFamily="18" charset="0"/>
                          </a:rPr>
                          <m:t>λ</m:t>
                        </m:r>
                      </m:e>
                      <m:sub>
                        <m:r>
                          <a:rPr lang="tr-TR" i="1">
                            <a:latin typeface="Cambria Math" panose="02040503050406030204" pitchFamily="18" charset="0"/>
                          </a:rPr>
                          <m:t>2</m:t>
                        </m:r>
                      </m:sub>
                    </m:sSub>
                    <m:r>
                      <a:rPr lang="tr-TR" i="1">
                        <a:latin typeface="Cambria Math" panose="02040503050406030204" pitchFamily="18" charset="0"/>
                      </a:rPr>
                      <m:t>=0</m:t>
                    </m:r>
                  </m:oMath>
                </a14:m>
                <a:r>
                  <a:rPr lang="tr-TR" i="1" dirty="0">
                    <a:latin typeface="Cambria Math" panose="02040503050406030204" pitchFamily="18" charset="0"/>
                  </a:rPr>
                  <a:t> </a:t>
                </a:r>
              </a:p>
              <a:p>
                <a14:m>
                  <m:oMath xmlns:m="http://schemas.openxmlformats.org/officeDocument/2006/math">
                    <m:f>
                      <m:fPr>
                        <m:ctrlPr>
                          <a:rPr lang="tr-TR" i="1">
                            <a:latin typeface="Cambria Math" panose="02040503050406030204" pitchFamily="18" charset="0"/>
                          </a:rPr>
                        </m:ctrlPr>
                      </m:fPr>
                      <m:num>
                        <m:r>
                          <a:rPr lang="tr-TR" i="1">
                            <a:latin typeface="Cambria Math" panose="02040503050406030204" pitchFamily="18" charset="0"/>
                          </a:rPr>
                          <m:t>𝜕</m:t>
                        </m:r>
                        <m:r>
                          <m:rPr>
                            <m:sty m:val="p"/>
                          </m:rPr>
                          <a:rPr lang="tr-TR" i="1">
                            <a:latin typeface="Cambria Math" panose="02040503050406030204" pitchFamily="18" charset="0"/>
                          </a:rPr>
                          <m:t>L</m:t>
                        </m:r>
                      </m:num>
                      <m:den>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i="1">
                                <a:latin typeface="Cambria Math" panose="02040503050406030204" pitchFamily="18" charset="0"/>
                              </a:rPr>
                              <m:t>λ</m:t>
                            </m:r>
                          </m:e>
                          <m:sub>
                            <m:r>
                              <a:rPr lang="tr-TR" i="1">
                                <a:latin typeface="Cambria Math" panose="02040503050406030204" pitchFamily="18" charset="0"/>
                              </a:rPr>
                              <m:t>1</m:t>
                            </m:r>
                          </m:sub>
                        </m:sSub>
                      </m:den>
                    </m:f>
                    <m:r>
                      <a:rPr lang="tr-TR" i="1">
                        <a:latin typeface="Cambria Math" panose="02040503050406030204" pitchFamily="18" charset="0"/>
                      </a:rPr>
                      <m:t>=2−</m:t>
                    </m:r>
                    <m:sSub>
                      <m:sSubPr>
                        <m:ctrlPr>
                          <a:rPr lang="tr-TR" i="1">
                            <a:latin typeface="Cambria Math" panose="02040503050406030204" pitchFamily="18" charset="0"/>
                          </a:rPr>
                        </m:ctrlPr>
                      </m:sSubPr>
                      <m:e>
                        <m:r>
                          <m:rPr>
                            <m:sty m:val="p"/>
                          </m:rPr>
                          <a:rPr lang="tr-TR" i="1">
                            <a:latin typeface="Cambria Math" panose="02040503050406030204" pitchFamily="18" charset="0"/>
                          </a:rPr>
                          <m:t>x</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i="1">
                            <a:latin typeface="Cambria Math" panose="02040503050406030204" pitchFamily="18" charset="0"/>
                          </a:rPr>
                          <m:t>x</m:t>
                        </m:r>
                      </m:e>
                      <m:sub>
                        <m:r>
                          <a:rPr lang="tr-TR" i="1">
                            <a:latin typeface="Cambria Math" panose="02040503050406030204" pitchFamily="18" charset="0"/>
                          </a:rPr>
                          <m:t>2</m:t>
                        </m:r>
                      </m:sub>
                    </m:sSub>
                    <m:r>
                      <a:rPr lang="tr-TR" i="1">
                        <a:latin typeface="Cambria Math" panose="02040503050406030204" pitchFamily="18" charset="0"/>
                      </a:rPr>
                      <m:t>−3</m:t>
                    </m:r>
                    <m:sSub>
                      <m:sSubPr>
                        <m:ctrlPr>
                          <a:rPr lang="tr-TR" i="1">
                            <a:latin typeface="Cambria Math" panose="02040503050406030204" pitchFamily="18" charset="0"/>
                          </a:rPr>
                        </m:ctrlPr>
                      </m:sSubPr>
                      <m:e>
                        <m:r>
                          <m:rPr>
                            <m:sty m:val="p"/>
                          </m:rPr>
                          <a:rPr lang="tr-TR" i="1">
                            <a:latin typeface="Cambria Math" panose="02040503050406030204" pitchFamily="18" charset="0"/>
                          </a:rPr>
                          <m:t>x</m:t>
                        </m:r>
                      </m:e>
                      <m:sub>
                        <m:r>
                          <a:rPr lang="tr-TR" i="1">
                            <a:latin typeface="Cambria Math" panose="02040503050406030204" pitchFamily="18" charset="0"/>
                          </a:rPr>
                          <m:t>3</m:t>
                        </m:r>
                      </m:sub>
                    </m:sSub>
                    <m:r>
                      <a:rPr lang="tr-TR" i="1">
                        <a:latin typeface="Cambria Math" panose="02040503050406030204" pitchFamily="18" charset="0"/>
                      </a:rPr>
                      <m:t>=0</m:t>
                    </m:r>
                  </m:oMath>
                </a14:m>
                <a:r>
                  <a:rPr lang="tr-TR" i="1" dirty="0">
                    <a:latin typeface="Cambria Math" panose="02040503050406030204" pitchFamily="18" charset="0"/>
                  </a:rPr>
                  <a:t> </a:t>
                </a:r>
              </a:p>
              <a:p>
                <a:pPr/>
                <a14:m>
                  <m:oMathPara xmlns:m="http://schemas.openxmlformats.org/officeDocument/2006/math">
                    <m:oMathParaPr>
                      <m:jc m:val="left"/>
                    </m:oMathParaPr>
                    <m:oMath xmlns:m="http://schemas.openxmlformats.org/officeDocument/2006/math">
                      <m:f>
                        <m:fPr>
                          <m:ctrlPr>
                            <a:rPr lang="tr-TR" i="1">
                              <a:latin typeface="Cambria Math" panose="02040503050406030204" pitchFamily="18" charset="0"/>
                            </a:rPr>
                          </m:ctrlPr>
                        </m:fPr>
                        <m:num>
                          <m:r>
                            <a:rPr lang="tr-TR" i="1">
                              <a:latin typeface="Cambria Math" panose="02040503050406030204" pitchFamily="18" charset="0"/>
                            </a:rPr>
                            <m:t>𝜕</m:t>
                          </m:r>
                          <m:r>
                            <m:rPr>
                              <m:sty m:val="p"/>
                            </m:rPr>
                            <a:rPr lang="tr-TR" i="1">
                              <a:latin typeface="Cambria Math" panose="02040503050406030204" pitchFamily="18" charset="0"/>
                            </a:rPr>
                            <m:t>L</m:t>
                          </m:r>
                        </m:num>
                        <m:den>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i="1">
                                  <a:latin typeface="Cambria Math" panose="02040503050406030204" pitchFamily="18" charset="0"/>
                                </a:rPr>
                                <m:t>λ</m:t>
                              </m:r>
                            </m:e>
                            <m:sub>
                              <m:r>
                                <a:rPr lang="tr-TR" i="1">
                                  <a:latin typeface="Cambria Math" panose="02040503050406030204" pitchFamily="18" charset="0"/>
                                </a:rPr>
                                <m:t>2</m:t>
                              </m:r>
                            </m:sub>
                          </m:sSub>
                        </m:den>
                      </m:f>
                      <m:r>
                        <a:rPr lang="tr-TR" i="1">
                          <a:latin typeface="Cambria Math" panose="02040503050406030204" pitchFamily="18" charset="0"/>
                        </a:rPr>
                        <m:t>=5−</m:t>
                      </m:r>
                      <m:sSub>
                        <m:sSubPr>
                          <m:ctrlPr>
                            <a:rPr lang="tr-TR" i="1">
                              <a:latin typeface="Cambria Math" panose="02040503050406030204" pitchFamily="18" charset="0"/>
                            </a:rPr>
                          </m:ctrlPr>
                        </m:sSubPr>
                        <m:e>
                          <m:r>
                            <a:rPr lang="tr-TR" i="1">
                              <a:latin typeface="Cambria Math" panose="02040503050406030204" pitchFamily="18" charset="0"/>
                            </a:rPr>
                            <m:t>5</m:t>
                          </m:r>
                          <m:r>
                            <m:rPr>
                              <m:sty m:val="p"/>
                            </m:rPr>
                            <a:rPr lang="tr-TR" i="1">
                              <a:latin typeface="Cambria Math" panose="02040503050406030204" pitchFamily="18" charset="0"/>
                            </a:rPr>
                            <m:t>x</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2</m:t>
                          </m:r>
                          <m:r>
                            <m:rPr>
                              <m:sty m:val="p"/>
                            </m:rPr>
                            <a:rPr lang="tr-TR" i="1">
                              <a:latin typeface="Cambria Math" panose="02040503050406030204" pitchFamily="18" charset="0"/>
                            </a:rPr>
                            <m:t>x</m:t>
                          </m:r>
                        </m:e>
                        <m:sub>
                          <m:r>
                            <a:rPr lang="tr-TR" i="1">
                              <a:latin typeface="Cambria Math" panose="02040503050406030204" pitchFamily="18" charset="0"/>
                            </a:rPr>
                            <m:t>2</m:t>
                          </m:r>
                        </m:sub>
                      </m:sSub>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i="1">
                              <a:latin typeface="Cambria Math" panose="02040503050406030204" pitchFamily="18" charset="0"/>
                            </a:rPr>
                            <m:t>x</m:t>
                          </m:r>
                        </m:e>
                        <m:sub>
                          <m:r>
                            <a:rPr lang="tr-TR" i="1">
                              <a:latin typeface="Cambria Math" panose="02040503050406030204" pitchFamily="18" charset="0"/>
                            </a:rPr>
                            <m:t>3</m:t>
                          </m:r>
                        </m:sub>
                      </m:sSub>
                      <m:r>
                        <a:rPr lang="tr-TR" i="1">
                          <a:latin typeface="Cambria Math" panose="02040503050406030204" pitchFamily="18" charset="0"/>
                        </a:rPr>
                        <m:t>=0</m:t>
                      </m:r>
                    </m:oMath>
                  </m:oMathPara>
                </a14:m>
                <a:endParaRPr lang="tr-TR" dirty="0"/>
              </a:p>
            </p:txBody>
          </p:sp>
        </mc:Choice>
        <mc:Fallback xmlns="">
          <p:sp>
            <p:nvSpPr>
              <p:cNvPr id="14" name="Metin kutusu 13"/>
              <p:cNvSpPr txBox="1">
                <a:spLocks noRot="1" noChangeAspect="1" noMove="1" noResize="1" noEditPoints="1" noAdjustHandles="1" noChangeArrowheads="1" noChangeShapeType="1" noTextEdit="1"/>
              </p:cNvSpPr>
              <p:nvPr/>
            </p:nvSpPr>
            <p:spPr>
              <a:xfrm>
                <a:off x="611560" y="4149080"/>
                <a:ext cx="3208718" cy="2425857"/>
              </a:xfrm>
              <a:prstGeom prst="rect">
                <a:avLst/>
              </a:prstGeom>
              <a:blipFill>
                <a:blip r:embed="rId5"/>
                <a:stretch>
                  <a:fillRect/>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8EA48BE1-E830-6DFE-6707-7F0D56EFF40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8662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0" name="Metin kutusu 9"/>
          <p:cNvSpPr txBox="1"/>
          <p:nvPr/>
        </p:nvSpPr>
        <p:spPr>
          <a:xfrm>
            <a:off x="9738" y="692696"/>
            <a:ext cx="9145016" cy="830997"/>
          </a:xfrm>
          <a:prstGeom prst="rect">
            <a:avLst/>
          </a:prstGeom>
          <a:noFill/>
        </p:spPr>
        <p:txBody>
          <a:bodyPr wrap="square" rtlCol="0">
            <a:spAutoFit/>
          </a:bodyPr>
          <a:lstStyle/>
          <a:p>
            <a:pPr algn="ctr"/>
            <a:r>
              <a:rPr lang="tr-TR" sz="4800" b="1" dirty="0"/>
              <a:t>ÖRNEK 2</a:t>
            </a:r>
            <a:endParaRPr lang="tr-TR" sz="4800" dirty="0"/>
          </a:p>
        </p:txBody>
      </p:sp>
      <mc:AlternateContent xmlns:mc="http://schemas.openxmlformats.org/markup-compatibility/2006" xmlns:a14="http://schemas.microsoft.com/office/drawing/2010/main">
        <mc:Choice Requires="a14">
          <p:sp>
            <p:nvSpPr>
              <p:cNvPr id="12" name="Metin kutusu 11"/>
              <p:cNvSpPr txBox="1"/>
              <p:nvPr/>
            </p:nvSpPr>
            <p:spPr>
              <a:xfrm>
                <a:off x="251520" y="1556792"/>
                <a:ext cx="8640960" cy="4835106"/>
              </a:xfrm>
              <a:prstGeom prst="rect">
                <a:avLst/>
              </a:prstGeom>
              <a:noFill/>
            </p:spPr>
            <p:txBody>
              <a:bodyPr wrap="square" rtlCol="0">
                <a:spAutoFit/>
              </a:bodyPr>
              <a:lstStyle/>
              <a:p>
                <a:r>
                  <a:rPr lang="tr-TR" sz="1600" dirty="0"/>
                  <a:t>Bu denklem sistemini çözmek için </a:t>
                </a:r>
                <a:r>
                  <a:rPr lang="tr-TR" sz="1600" dirty="0" err="1"/>
                  <a:t>matrisel</a:t>
                </a:r>
                <a:r>
                  <a:rPr lang="tr-TR" sz="1600" dirty="0"/>
                  <a:t> formda yazalım:</a:t>
                </a:r>
              </a:p>
              <a:p>
                <a:endParaRPr lang="tr-TR" sz="1600" dirty="0"/>
              </a:p>
              <a:p>
                <a14:m>
                  <m:oMath xmlns:m="http://schemas.openxmlformats.org/officeDocument/2006/math">
                    <m:d>
                      <m:dPr>
                        <m:begChr m:val="["/>
                        <m:endChr m:val="]"/>
                        <m:ctrlPr>
                          <a:rPr lang="tr-TR" sz="1600" i="1">
                            <a:latin typeface="Cambria Math" panose="02040503050406030204" pitchFamily="18" charset="0"/>
                          </a:rPr>
                        </m:ctrlPr>
                      </m:dPr>
                      <m:e>
                        <m:m>
                          <m:mPr>
                            <m:mcs>
                              <m:mc>
                                <m:mcPr>
                                  <m:count m:val="5"/>
                                  <m:mcJc m:val="center"/>
                                </m:mcPr>
                              </m:mc>
                            </m:mcs>
                            <m:ctrlPr>
                              <a:rPr lang="tr-TR" sz="1600" i="1">
                                <a:latin typeface="Cambria Math" panose="02040503050406030204" pitchFamily="18" charset="0"/>
                              </a:rPr>
                            </m:ctrlPr>
                          </m:mPr>
                          <m:mr>
                            <m:e>
                              <m:r>
                                <a:rPr lang="tr-TR" sz="1600" i="1">
                                  <a:latin typeface="Cambria Math" panose="02040503050406030204" pitchFamily="18" charset="0"/>
                                </a:rPr>
                                <m:t>2</m:t>
                              </m:r>
                            </m:e>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−5</m:t>
                              </m:r>
                            </m:e>
                          </m:mr>
                          <m:mr>
                            <m:e>
                              <m:r>
                                <a:rPr lang="tr-TR" sz="1600" i="1">
                                  <a:latin typeface="Cambria Math" panose="02040503050406030204" pitchFamily="18" charset="0"/>
                                </a:rPr>
                                <m:t>0</m:t>
                              </m:r>
                            </m:e>
                            <m:e>
                              <m:r>
                                <a:rPr lang="tr-TR" sz="1600" i="1">
                                  <a:latin typeface="Cambria Math" panose="02040503050406030204" pitchFamily="18" charset="0"/>
                                </a:rPr>
                                <m:t>2</m:t>
                              </m:r>
                            </m:e>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−2</m:t>
                              </m:r>
                            </m:e>
                          </m:mr>
                          <m:mr>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2</m:t>
                              </m:r>
                            </m:e>
                            <m:e>
                              <m:r>
                                <a:rPr lang="tr-TR" sz="1600" i="1">
                                  <a:latin typeface="Cambria Math" panose="02040503050406030204" pitchFamily="18" charset="0"/>
                                </a:rPr>
                                <m:t>−3</m:t>
                              </m:r>
                            </m:e>
                            <m:e>
                              <m:r>
                                <a:rPr lang="tr-TR" sz="1600" i="1">
                                  <a:latin typeface="Cambria Math" panose="02040503050406030204" pitchFamily="18" charset="0"/>
                                </a:rPr>
                                <m:t>−1</m:t>
                              </m:r>
                            </m:e>
                          </m:mr>
                          <m:mr>
                            <m:e>
                              <m:r>
                                <a:rPr lang="tr-TR" sz="1600" i="1">
                                  <a:latin typeface="Cambria Math" panose="02040503050406030204" pitchFamily="18" charset="0"/>
                                </a:rPr>
                                <m:t>−1</m:t>
                              </m:r>
                            </m:e>
                            <m:e>
                              <m:r>
                                <a:rPr lang="tr-TR" sz="1600" i="1">
                                  <a:latin typeface="Cambria Math" panose="02040503050406030204" pitchFamily="18" charset="0"/>
                                </a:rPr>
                                <m:t>−1</m:t>
                              </m:r>
                            </m:e>
                            <m:e>
                              <m:r>
                                <a:rPr lang="tr-TR" sz="1600" i="1">
                                  <a:latin typeface="Cambria Math" panose="02040503050406030204" pitchFamily="18" charset="0"/>
                                </a:rPr>
                                <m:t>−3</m:t>
                              </m:r>
                            </m:e>
                            <m:e>
                              <m:r>
                                <a:rPr lang="tr-TR" sz="1600" i="1">
                                  <a:latin typeface="Cambria Math" panose="02040503050406030204" pitchFamily="18" charset="0"/>
                                </a:rPr>
                                <m:t>0</m:t>
                              </m:r>
                            </m:e>
                            <m:e>
                              <m:r>
                                <a:rPr lang="tr-TR" sz="1600" i="1">
                                  <a:latin typeface="Cambria Math" panose="02040503050406030204" pitchFamily="18" charset="0"/>
                                </a:rPr>
                                <m:t>0</m:t>
                              </m:r>
                            </m:e>
                          </m:mr>
                          <m:mr>
                            <m:e>
                              <m:r>
                                <a:rPr lang="tr-TR" sz="1600" i="1">
                                  <a:latin typeface="Cambria Math" panose="02040503050406030204" pitchFamily="18" charset="0"/>
                                </a:rPr>
                                <m:t>−5</m:t>
                              </m:r>
                            </m:e>
                            <m:e>
                              <m:r>
                                <a:rPr lang="tr-TR" sz="1600" i="1">
                                  <a:latin typeface="Cambria Math" panose="02040503050406030204" pitchFamily="18" charset="0"/>
                                </a:rPr>
                                <m:t>−2</m:t>
                              </m:r>
                            </m:e>
                            <m:e>
                              <m:r>
                                <a:rPr lang="tr-TR" sz="1600" i="1">
                                  <a:latin typeface="Cambria Math" panose="02040503050406030204" pitchFamily="18" charset="0"/>
                                </a:rPr>
                                <m:t>−1</m:t>
                              </m:r>
                            </m:e>
                            <m:e>
                              <m:r>
                                <a:rPr lang="tr-TR" sz="1600" i="1">
                                  <a:latin typeface="Cambria Math" panose="02040503050406030204" pitchFamily="18" charset="0"/>
                                </a:rPr>
                                <m:t>0</m:t>
                              </m:r>
                            </m:e>
                            <m:e>
                              <m:r>
                                <a:rPr lang="tr-TR" sz="1600" i="1">
                                  <a:latin typeface="Cambria Math" panose="02040503050406030204" pitchFamily="18" charset="0"/>
                                </a:rPr>
                                <m:t>0</m:t>
                              </m:r>
                            </m:e>
                          </m:mr>
                        </m:m>
                      </m:e>
                    </m:d>
                    <m:d>
                      <m:dPr>
                        <m:begChr m:val="["/>
                        <m:endChr m:val="]"/>
                        <m:ctrlPr>
                          <a:rPr lang="tr-TR" sz="1600" i="1">
                            <a:latin typeface="Cambria Math" panose="02040503050406030204" pitchFamily="18" charset="0"/>
                          </a:rPr>
                        </m:ctrlPr>
                      </m:dPr>
                      <m:e>
                        <m:m>
                          <m:mPr>
                            <m:mcs>
                              <m:mc>
                                <m:mcPr>
                                  <m:count m:val="1"/>
                                  <m:mcJc m:val="center"/>
                                </m:mcPr>
                              </m:mc>
                            </m:mcs>
                            <m:ctrlPr>
                              <a:rPr lang="tr-TR" sz="1600" i="1">
                                <a:latin typeface="Cambria Math" panose="02040503050406030204" pitchFamily="18" charset="0"/>
                              </a:rPr>
                            </m:ctrlPr>
                          </m:mPr>
                          <m:mr>
                            <m:e>
                              <m:sSub>
                                <m:sSubPr>
                                  <m:ctrlPr>
                                    <a:rPr lang="tr-TR" sz="1600" i="1">
                                      <a:latin typeface="Cambria Math" panose="02040503050406030204" pitchFamily="18" charset="0"/>
                                    </a:rPr>
                                  </m:ctrlPr>
                                </m:sSubPr>
                                <m:e>
                                  <m:r>
                                    <a:rPr lang="tr-TR" sz="1600" i="1">
                                      <a:latin typeface="Cambria Math" panose="02040503050406030204" pitchFamily="18" charset="0"/>
                                    </a:rPr>
                                    <m:t>𝑥</m:t>
                                  </m:r>
                                </m:e>
                                <m:sub>
                                  <m:r>
                                    <a:rPr lang="tr-TR" sz="1600" i="1">
                                      <a:latin typeface="Cambria Math" panose="02040503050406030204" pitchFamily="18" charset="0"/>
                                    </a:rPr>
                                    <m:t>1</m:t>
                                  </m:r>
                                </m:sub>
                              </m:sSub>
                            </m:e>
                          </m:mr>
                          <m:mr>
                            <m:e>
                              <m:sSub>
                                <m:sSubPr>
                                  <m:ctrlPr>
                                    <a:rPr lang="tr-TR" sz="1600" i="1">
                                      <a:latin typeface="Cambria Math" panose="02040503050406030204" pitchFamily="18" charset="0"/>
                                    </a:rPr>
                                  </m:ctrlPr>
                                </m:sSubPr>
                                <m:e>
                                  <m:r>
                                    <a:rPr lang="tr-TR" sz="1600" i="1">
                                      <a:latin typeface="Cambria Math" panose="02040503050406030204" pitchFamily="18" charset="0"/>
                                    </a:rPr>
                                    <m:t>𝑥</m:t>
                                  </m:r>
                                </m:e>
                                <m:sub>
                                  <m:r>
                                    <a:rPr lang="tr-TR" sz="1600" i="1">
                                      <a:latin typeface="Cambria Math" panose="02040503050406030204" pitchFamily="18" charset="0"/>
                                    </a:rPr>
                                    <m:t>2</m:t>
                                  </m:r>
                                </m:sub>
                              </m:sSub>
                            </m:e>
                          </m:mr>
                          <m:mr>
                            <m:e>
                              <m:sSub>
                                <m:sSubPr>
                                  <m:ctrlPr>
                                    <a:rPr lang="tr-TR" sz="1600" i="1">
                                      <a:latin typeface="Cambria Math" panose="02040503050406030204" pitchFamily="18" charset="0"/>
                                    </a:rPr>
                                  </m:ctrlPr>
                                </m:sSubPr>
                                <m:e>
                                  <m:r>
                                    <a:rPr lang="tr-TR" sz="1600" i="1">
                                      <a:latin typeface="Cambria Math" panose="02040503050406030204" pitchFamily="18" charset="0"/>
                                    </a:rPr>
                                    <m:t>𝑥</m:t>
                                  </m:r>
                                </m:e>
                                <m:sub>
                                  <m:r>
                                    <a:rPr lang="tr-TR" sz="1600" i="1">
                                      <a:latin typeface="Cambria Math" panose="02040503050406030204" pitchFamily="18" charset="0"/>
                                    </a:rPr>
                                    <m:t>3</m:t>
                                  </m:r>
                                </m:sub>
                              </m:sSub>
                            </m:e>
                          </m:mr>
                          <m:mr>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λ</m:t>
                                  </m:r>
                                </m:e>
                                <m:sub>
                                  <m:r>
                                    <a:rPr lang="tr-TR" sz="1600">
                                      <a:latin typeface="Cambria Math" panose="02040503050406030204" pitchFamily="18" charset="0"/>
                                    </a:rPr>
                                    <m:t>1</m:t>
                                  </m:r>
                                </m:sub>
                              </m:sSub>
                            </m:e>
                          </m:mr>
                          <m:mr>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λ</m:t>
                                  </m:r>
                                </m:e>
                                <m:sub>
                                  <m:r>
                                    <a:rPr lang="tr-TR" sz="1600">
                                      <a:latin typeface="Cambria Math" panose="02040503050406030204" pitchFamily="18" charset="0"/>
                                    </a:rPr>
                                    <m:t>2</m:t>
                                  </m:r>
                                </m:sub>
                              </m:sSub>
                            </m:e>
                          </m:mr>
                        </m:m>
                      </m:e>
                    </m:d>
                    <m:r>
                      <a:rPr lang="tr-TR" sz="1600" i="1">
                        <a:latin typeface="Cambria Math" panose="02040503050406030204" pitchFamily="18" charset="0"/>
                      </a:rPr>
                      <m:t>=</m:t>
                    </m:r>
                    <m:d>
                      <m:dPr>
                        <m:begChr m:val="["/>
                        <m:endChr m:val="]"/>
                        <m:ctrlPr>
                          <a:rPr lang="tr-TR" sz="1600" i="1">
                            <a:latin typeface="Cambria Math" panose="02040503050406030204" pitchFamily="18" charset="0"/>
                          </a:rPr>
                        </m:ctrlPr>
                      </m:dPr>
                      <m:e>
                        <m:m>
                          <m:mPr>
                            <m:mcs>
                              <m:mc>
                                <m:mcPr>
                                  <m:count m:val="1"/>
                                  <m:mcJc m:val="center"/>
                                </m:mcPr>
                              </m:mc>
                            </m:mcs>
                            <m:ctrlPr>
                              <a:rPr lang="tr-TR" sz="1600" i="1">
                                <a:latin typeface="Cambria Math" panose="02040503050406030204" pitchFamily="18" charset="0"/>
                              </a:rPr>
                            </m:ctrlPr>
                          </m:mPr>
                          <m:mr>
                            <m:e>
                              <m:r>
                                <a:rPr lang="tr-TR" sz="1600" i="1">
                                  <a:latin typeface="Cambria Math" panose="02040503050406030204" pitchFamily="18" charset="0"/>
                                </a:rPr>
                                <m:t>0</m:t>
                              </m:r>
                            </m:e>
                          </m:mr>
                          <m:mr>
                            <m:e>
                              <m:r>
                                <a:rPr lang="tr-TR" sz="1600" i="1">
                                  <a:latin typeface="Cambria Math" panose="02040503050406030204" pitchFamily="18" charset="0"/>
                                </a:rPr>
                                <m:t>0</m:t>
                              </m:r>
                            </m:e>
                          </m:mr>
                          <m:mr>
                            <m:e>
                              <m:r>
                                <a:rPr lang="tr-TR" sz="1600" i="1">
                                  <a:latin typeface="Cambria Math" panose="02040503050406030204" pitchFamily="18" charset="0"/>
                                </a:rPr>
                                <m:t>0</m:t>
                              </m:r>
                            </m:e>
                          </m:mr>
                          <m:mr>
                            <m:e>
                              <m:r>
                                <a:rPr lang="tr-TR" sz="1600" i="1">
                                  <a:latin typeface="Cambria Math" panose="02040503050406030204" pitchFamily="18" charset="0"/>
                                </a:rPr>
                                <m:t>−</m:t>
                              </m:r>
                              <m:r>
                                <a:rPr lang="tr-TR" sz="1600">
                                  <a:latin typeface="Cambria Math" panose="02040503050406030204" pitchFamily="18" charset="0"/>
                                </a:rPr>
                                <m:t>2</m:t>
                              </m:r>
                            </m:e>
                          </m:mr>
                          <m:mr>
                            <m:e>
                              <m:r>
                                <a:rPr lang="tr-TR" sz="1600" i="1">
                                  <a:latin typeface="Cambria Math" panose="02040503050406030204" pitchFamily="18" charset="0"/>
                                </a:rPr>
                                <m:t>−</m:t>
                              </m:r>
                              <m:r>
                                <a:rPr lang="tr-TR" sz="1600">
                                  <a:latin typeface="Cambria Math" panose="02040503050406030204" pitchFamily="18" charset="0"/>
                                </a:rPr>
                                <m:t>5</m:t>
                              </m:r>
                            </m:e>
                          </m:mr>
                        </m:m>
                      </m:e>
                    </m:d>
                  </m:oMath>
                </a14:m>
                <a:r>
                  <a:rPr lang="tr-TR" sz="1600" dirty="0"/>
                  <a:t>  çözüm için;</a:t>
                </a:r>
              </a:p>
              <a:p>
                <a:endParaRPr lang="tr-TR" sz="1600" dirty="0"/>
              </a:p>
              <a:p>
                <a14:m>
                  <m:oMath xmlns:m="http://schemas.openxmlformats.org/officeDocument/2006/math">
                    <m:sSup>
                      <m:sSupPr>
                        <m:ctrlPr>
                          <a:rPr lang="tr-TR" sz="1600" i="1">
                            <a:latin typeface="Cambria Math" panose="02040503050406030204" pitchFamily="18" charset="0"/>
                          </a:rPr>
                        </m:ctrlPr>
                      </m:sSupPr>
                      <m:e>
                        <m:d>
                          <m:dPr>
                            <m:begChr m:val="["/>
                            <m:endChr m:val="]"/>
                            <m:ctrlPr>
                              <a:rPr lang="tr-TR" sz="1600" i="1">
                                <a:latin typeface="Cambria Math" panose="02040503050406030204" pitchFamily="18" charset="0"/>
                              </a:rPr>
                            </m:ctrlPr>
                          </m:dPr>
                          <m:e>
                            <m:m>
                              <m:mPr>
                                <m:mcs>
                                  <m:mc>
                                    <m:mcPr>
                                      <m:count m:val="5"/>
                                      <m:mcJc m:val="center"/>
                                    </m:mcPr>
                                  </m:mc>
                                </m:mcs>
                                <m:ctrlPr>
                                  <a:rPr lang="tr-TR" sz="1600" i="1">
                                    <a:latin typeface="Cambria Math" panose="02040503050406030204" pitchFamily="18" charset="0"/>
                                  </a:rPr>
                                </m:ctrlPr>
                              </m:mPr>
                              <m:mr>
                                <m:e>
                                  <m:r>
                                    <a:rPr lang="tr-TR" sz="1600" i="1">
                                      <a:latin typeface="Cambria Math" panose="02040503050406030204" pitchFamily="18" charset="0"/>
                                    </a:rPr>
                                    <m:t>2</m:t>
                                  </m:r>
                                </m:e>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−5</m:t>
                                  </m:r>
                                </m:e>
                              </m:mr>
                              <m:mr>
                                <m:e>
                                  <m:r>
                                    <a:rPr lang="tr-TR" sz="1600" i="1">
                                      <a:latin typeface="Cambria Math" panose="02040503050406030204" pitchFamily="18" charset="0"/>
                                    </a:rPr>
                                    <m:t>0</m:t>
                                  </m:r>
                                </m:e>
                                <m:e>
                                  <m:r>
                                    <a:rPr lang="tr-TR" sz="1600" i="1">
                                      <a:latin typeface="Cambria Math" panose="02040503050406030204" pitchFamily="18" charset="0"/>
                                    </a:rPr>
                                    <m:t>2</m:t>
                                  </m:r>
                                </m:e>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−2</m:t>
                                  </m:r>
                                </m:e>
                              </m:mr>
                              <m:mr>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2</m:t>
                                  </m:r>
                                </m:e>
                                <m:e>
                                  <m:r>
                                    <a:rPr lang="tr-TR" sz="1600" i="1">
                                      <a:latin typeface="Cambria Math" panose="02040503050406030204" pitchFamily="18" charset="0"/>
                                    </a:rPr>
                                    <m:t>−3</m:t>
                                  </m:r>
                                </m:e>
                                <m:e>
                                  <m:r>
                                    <a:rPr lang="tr-TR" sz="1600" i="1">
                                      <a:latin typeface="Cambria Math" panose="02040503050406030204" pitchFamily="18" charset="0"/>
                                    </a:rPr>
                                    <m:t>−1</m:t>
                                  </m:r>
                                </m:e>
                              </m:mr>
                              <m:mr>
                                <m:e>
                                  <m:r>
                                    <a:rPr lang="tr-TR" sz="1600" i="1">
                                      <a:latin typeface="Cambria Math" panose="02040503050406030204" pitchFamily="18" charset="0"/>
                                    </a:rPr>
                                    <m:t>−1</m:t>
                                  </m:r>
                                </m:e>
                                <m:e>
                                  <m:r>
                                    <a:rPr lang="tr-TR" sz="1600" i="1">
                                      <a:latin typeface="Cambria Math" panose="02040503050406030204" pitchFamily="18" charset="0"/>
                                    </a:rPr>
                                    <m:t>−1</m:t>
                                  </m:r>
                                </m:e>
                                <m:e>
                                  <m:r>
                                    <a:rPr lang="tr-TR" sz="1600" i="1">
                                      <a:latin typeface="Cambria Math" panose="02040503050406030204" pitchFamily="18" charset="0"/>
                                    </a:rPr>
                                    <m:t>−3</m:t>
                                  </m:r>
                                </m:e>
                                <m:e>
                                  <m:r>
                                    <a:rPr lang="tr-TR" sz="1600" i="1">
                                      <a:latin typeface="Cambria Math" panose="02040503050406030204" pitchFamily="18" charset="0"/>
                                    </a:rPr>
                                    <m:t>0</m:t>
                                  </m:r>
                                </m:e>
                                <m:e>
                                  <m:r>
                                    <a:rPr lang="tr-TR" sz="1600" i="1">
                                      <a:latin typeface="Cambria Math" panose="02040503050406030204" pitchFamily="18" charset="0"/>
                                    </a:rPr>
                                    <m:t>0</m:t>
                                  </m:r>
                                </m:e>
                              </m:mr>
                              <m:mr>
                                <m:e>
                                  <m:r>
                                    <a:rPr lang="tr-TR" sz="1600" i="1">
                                      <a:latin typeface="Cambria Math" panose="02040503050406030204" pitchFamily="18" charset="0"/>
                                    </a:rPr>
                                    <m:t>−5</m:t>
                                  </m:r>
                                </m:e>
                                <m:e>
                                  <m:r>
                                    <a:rPr lang="tr-TR" sz="1600" i="1">
                                      <a:latin typeface="Cambria Math" panose="02040503050406030204" pitchFamily="18" charset="0"/>
                                    </a:rPr>
                                    <m:t>−2</m:t>
                                  </m:r>
                                </m:e>
                                <m:e>
                                  <m:r>
                                    <a:rPr lang="tr-TR" sz="1600" i="1">
                                      <a:latin typeface="Cambria Math" panose="02040503050406030204" pitchFamily="18" charset="0"/>
                                    </a:rPr>
                                    <m:t>−1</m:t>
                                  </m:r>
                                </m:e>
                                <m:e>
                                  <m:r>
                                    <a:rPr lang="tr-TR" sz="1600" i="1">
                                      <a:latin typeface="Cambria Math" panose="02040503050406030204" pitchFamily="18" charset="0"/>
                                    </a:rPr>
                                    <m:t>0</m:t>
                                  </m:r>
                                </m:e>
                                <m:e>
                                  <m:r>
                                    <a:rPr lang="tr-TR" sz="1600" i="1">
                                      <a:latin typeface="Cambria Math" panose="02040503050406030204" pitchFamily="18" charset="0"/>
                                    </a:rPr>
                                    <m:t>0</m:t>
                                  </m:r>
                                </m:e>
                              </m:mr>
                            </m:m>
                          </m:e>
                        </m:d>
                      </m:e>
                      <m:sup>
                        <m:r>
                          <a:rPr lang="tr-TR" sz="1600" i="1">
                            <a:latin typeface="Cambria Math" panose="02040503050406030204" pitchFamily="18" charset="0"/>
                          </a:rPr>
                          <m:t>−1</m:t>
                        </m:r>
                      </m:sup>
                    </m:sSup>
                    <m:d>
                      <m:dPr>
                        <m:begChr m:val="["/>
                        <m:endChr m:val="]"/>
                        <m:ctrlPr>
                          <a:rPr lang="tr-TR" sz="1600" i="1">
                            <a:latin typeface="Cambria Math" panose="02040503050406030204" pitchFamily="18" charset="0"/>
                          </a:rPr>
                        </m:ctrlPr>
                      </m:dPr>
                      <m:e>
                        <m:m>
                          <m:mPr>
                            <m:mcs>
                              <m:mc>
                                <m:mcPr>
                                  <m:count m:val="5"/>
                                  <m:mcJc m:val="center"/>
                                </m:mcPr>
                              </m:mc>
                            </m:mcs>
                            <m:ctrlPr>
                              <a:rPr lang="tr-TR" sz="1600" i="1">
                                <a:latin typeface="Cambria Math" panose="02040503050406030204" pitchFamily="18" charset="0"/>
                              </a:rPr>
                            </m:ctrlPr>
                          </m:mPr>
                          <m:mr>
                            <m:e>
                              <m:r>
                                <a:rPr lang="tr-TR" sz="1600" i="1">
                                  <a:latin typeface="Cambria Math" panose="02040503050406030204" pitchFamily="18" charset="0"/>
                                </a:rPr>
                                <m:t>2</m:t>
                              </m:r>
                            </m:e>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−5</m:t>
                              </m:r>
                            </m:e>
                          </m:mr>
                          <m:mr>
                            <m:e>
                              <m:r>
                                <a:rPr lang="tr-TR" sz="1600" i="1">
                                  <a:latin typeface="Cambria Math" panose="02040503050406030204" pitchFamily="18" charset="0"/>
                                </a:rPr>
                                <m:t>0</m:t>
                              </m:r>
                            </m:e>
                            <m:e>
                              <m:r>
                                <a:rPr lang="tr-TR" sz="1600" i="1">
                                  <a:latin typeface="Cambria Math" panose="02040503050406030204" pitchFamily="18" charset="0"/>
                                </a:rPr>
                                <m:t>2</m:t>
                              </m:r>
                            </m:e>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−2</m:t>
                              </m:r>
                            </m:e>
                          </m:mr>
                          <m:mr>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2</m:t>
                              </m:r>
                            </m:e>
                            <m:e>
                              <m:r>
                                <a:rPr lang="tr-TR" sz="1600" i="1">
                                  <a:latin typeface="Cambria Math" panose="02040503050406030204" pitchFamily="18" charset="0"/>
                                </a:rPr>
                                <m:t>−3</m:t>
                              </m:r>
                            </m:e>
                            <m:e>
                              <m:r>
                                <a:rPr lang="tr-TR" sz="1600" i="1">
                                  <a:latin typeface="Cambria Math" panose="02040503050406030204" pitchFamily="18" charset="0"/>
                                </a:rPr>
                                <m:t>−1</m:t>
                              </m:r>
                            </m:e>
                          </m:mr>
                          <m:mr>
                            <m:e>
                              <m:r>
                                <a:rPr lang="tr-TR" sz="1600" i="1">
                                  <a:latin typeface="Cambria Math" panose="02040503050406030204" pitchFamily="18" charset="0"/>
                                </a:rPr>
                                <m:t>−1</m:t>
                              </m:r>
                            </m:e>
                            <m:e>
                              <m:r>
                                <a:rPr lang="tr-TR" sz="1600" i="1">
                                  <a:latin typeface="Cambria Math" panose="02040503050406030204" pitchFamily="18" charset="0"/>
                                </a:rPr>
                                <m:t>−1</m:t>
                              </m:r>
                            </m:e>
                            <m:e>
                              <m:r>
                                <a:rPr lang="tr-TR" sz="1600" i="1">
                                  <a:latin typeface="Cambria Math" panose="02040503050406030204" pitchFamily="18" charset="0"/>
                                </a:rPr>
                                <m:t>−3</m:t>
                              </m:r>
                            </m:e>
                            <m:e>
                              <m:r>
                                <a:rPr lang="tr-TR" sz="1600" i="1">
                                  <a:latin typeface="Cambria Math" panose="02040503050406030204" pitchFamily="18" charset="0"/>
                                </a:rPr>
                                <m:t>0</m:t>
                              </m:r>
                            </m:e>
                            <m:e>
                              <m:r>
                                <a:rPr lang="tr-TR" sz="1600" i="1">
                                  <a:latin typeface="Cambria Math" panose="02040503050406030204" pitchFamily="18" charset="0"/>
                                </a:rPr>
                                <m:t>0</m:t>
                              </m:r>
                            </m:e>
                          </m:mr>
                          <m:mr>
                            <m:e>
                              <m:r>
                                <a:rPr lang="tr-TR" sz="1600" i="1">
                                  <a:latin typeface="Cambria Math" panose="02040503050406030204" pitchFamily="18" charset="0"/>
                                </a:rPr>
                                <m:t>−5</m:t>
                              </m:r>
                            </m:e>
                            <m:e>
                              <m:r>
                                <a:rPr lang="tr-TR" sz="1600" i="1">
                                  <a:latin typeface="Cambria Math" panose="02040503050406030204" pitchFamily="18" charset="0"/>
                                </a:rPr>
                                <m:t>−2</m:t>
                              </m:r>
                            </m:e>
                            <m:e>
                              <m:r>
                                <a:rPr lang="tr-TR" sz="1600" i="1">
                                  <a:latin typeface="Cambria Math" panose="02040503050406030204" pitchFamily="18" charset="0"/>
                                </a:rPr>
                                <m:t>−1</m:t>
                              </m:r>
                            </m:e>
                            <m:e>
                              <m:r>
                                <a:rPr lang="tr-TR" sz="1600" i="1">
                                  <a:latin typeface="Cambria Math" panose="02040503050406030204" pitchFamily="18" charset="0"/>
                                </a:rPr>
                                <m:t>0</m:t>
                              </m:r>
                            </m:e>
                            <m:e>
                              <m:r>
                                <a:rPr lang="tr-TR" sz="1600" i="1">
                                  <a:latin typeface="Cambria Math" panose="02040503050406030204" pitchFamily="18" charset="0"/>
                                </a:rPr>
                                <m:t>0</m:t>
                              </m:r>
                            </m:e>
                          </m:mr>
                        </m:m>
                      </m:e>
                    </m:d>
                    <m:d>
                      <m:dPr>
                        <m:begChr m:val="["/>
                        <m:endChr m:val="]"/>
                        <m:ctrlPr>
                          <a:rPr lang="tr-TR" sz="1600" i="1">
                            <a:latin typeface="Cambria Math" panose="02040503050406030204" pitchFamily="18" charset="0"/>
                          </a:rPr>
                        </m:ctrlPr>
                      </m:dPr>
                      <m:e>
                        <m:m>
                          <m:mPr>
                            <m:mcs>
                              <m:mc>
                                <m:mcPr>
                                  <m:count m:val="1"/>
                                  <m:mcJc m:val="center"/>
                                </m:mcPr>
                              </m:mc>
                            </m:mcs>
                            <m:ctrlPr>
                              <a:rPr lang="tr-TR" sz="1600" i="1">
                                <a:latin typeface="Cambria Math" panose="02040503050406030204" pitchFamily="18" charset="0"/>
                              </a:rPr>
                            </m:ctrlPr>
                          </m:mPr>
                          <m:mr>
                            <m:e>
                              <m:sSub>
                                <m:sSubPr>
                                  <m:ctrlPr>
                                    <a:rPr lang="tr-TR" sz="1600" i="1">
                                      <a:latin typeface="Cambria Math" panose="02040503050406030204" pitchFamily="18" charset="0"/>
                                    </a:rPr>
                                  </m:ctrlPr>
                                </m:sSubPr>
                                <m:e>
                                  <m:r>
                                    <a:rPr lang="tr-TR" sz="1600" i="1">
                                      <a:latin typeface="Cambria Math" panose="02040503050406030204" pitchFamily="18" charset="0"/>
                                    </a:rPr>
                                    <m:t>𝑥</m:t>
                                  </m:r>
                                </m:e>
                                <m:sub>
                                  <m:r>
                                    <a:rPr lang="tr-TR" sz="1600" i="1">
                                      <a:latin typeface="Cambria Math" panose="02040503050406030204" pitchFamily="18" charset="0"/>
                                    </a:rPr>
                                    <m:t>1</m:t>
                                  </m:r>
                                </m:sub>
                              </m:sSub>
                            </m:e>
                          </m:mr>
                          <m:mr>
                            <m:e>
                              <m:sSub>
                                <m:sSubPr>
                                  <m:ctrlPr>
                                    <a:rPr lang="tr-TR" sz="1600" i="1">
                                      <a:latin typeface="Cambria Math" panose="02040503050406030204" pitchFamily="18" charset="0"/>
                                    </a:rPr>
                                  </m:ctrlPr>
                                </m:sSubPr>
                                <m:e>
                                  <m:r>
                                    <a:rPr lang="tr-TR" sz="1600" i="1">
                                      <a:latin typeface="Cambria Math" panose="02040503050406030204" pitchFamily="18" charset="0"/>
                                    </a:rPr>
                                    <m:t>𝑥</m:t>
                                  </m:r>
                                </m:e>
                                <m:sub>
                                  <m:r>
                                    <a:rPr lang="tr-TR" sz="1600" i="1">
                                      <a:latin typeface="Cambria Math" panose="02040503050406030204" pitchFamily="18" charset="0"/>
                                    </a:rPr>
                                    <m:t>2</m:t>
                                  </m:r>
                                </m:sub>
                              </m:sSub>
                            </m:e>
                          </m:mr>
                          <m:mr>
                            <m:e>
                              <m:sSub>
                                <m:sSubPr>
                                  <m:ctrlPr>
                                    <a:rPr lang="tr-TR" sz="1600" i="1">
                                      <a:latin typeface="Cambria Math" panose="02040503050406030204" pitchFamily="18" charset="0"/>
                                    </a:rPr>
                                  </m:ctrlPr>
                                </m:sSubPr>
                                <m:e>
                                  <m:r>
                                    <a:rPr lang="tr-TR" sz="1600" i="1">
                                      <a:latin typeface="Cambria Math" panose="02040503050406030204" pitchFamily="18" charset="0"/>
                                    </a:rPr>
                                    <m:t>𝑥</m:t>
                                  </m:r>
                                </m:e>
                                <m:sub>
                                  <m:r>
                                    <a:rPr lang="tr-TR" sz="1600" i="1">
                                      <a:latin typeface="Cambria Math" panose="02040503050406030204" pitchFamily="18" charset="0"/>
                                    </a:rPr>
                                    <m:t>3</m:t>
                                  </m:r>
                                </m:sub>
                              </m:sSub>
                            </m:e>
                          </m:mr>
                          <m:mr>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λ</m:t>
                                  </m:r>
                                </m:e>
                                <m:sub>
                                  <m:r>
                                    <a:rPr lang="tr-TR" sz="1600">
                                      <a:latin typeface="Cambria Math" panose="02040503050406030204" pitchFamily="18" charset="0"/>
                                    </a:rPr>
                                    <m:t>1</m:t>
                                  </m:r>
                                </m:sub>
                              </m:sSub>
                            </m:e>
                          </m:mr>
                          <m:mr>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λ</m:t>
                                  </m:r>
                                </m:e>
                                <m:sub>
                                  <m:r>
                                    <a:rPr lang="tr-TR" sz="1600">
                                      <a:latin typeface="Cambria Math" panose="02040503050406030204" pitchFamily="18" charset="0"/>
                                    </a:rPr>
                                    <m:t>2</m:t>
                                  </m:r>
                                </m:sub>
                              </m:sSub>
                            </m:e>
                          </m:mr>
                        </m:m>
                      </m:e>
                    </m:d>
                    <m:r>
                      <a:rPr lang="tr-TR" sz="1600" i="1">
                        <a:latin typeface="Cambria Math" panose="02040503050406030204" pitchFamily="18" charset="0"/>
                      </a:rPr>
                      <m:t>=</m:t>
                    </m:r>
                    <m:sSup>
                      <m:sSupPr>
                        <m:ctrlPr>
                          <a:rPr lang="tr-TR" sz="1600" i="1">
                            <a:latin typeface="Cambria Math" panose="02040503050406030204" pitchFamily="18" charset="0"/>
                          </a:rPr>
                        </m:ctrlPr>
                      </m:sSupPr>
                      <m:e>
                        <m:d>
                          <m:dPr>
                            <m:begChr m:val="["/>
                            <m:endChr m:val="]"/>
                            <m:ctrlPr>
                              <a:rPr lang="tr-TR" sz="1600" i="1">
                                <a:latin typeface="Cambria Math" panose="02040503050406030204" pitchFamily="18" charset="0"/>
                              </a:rPr>
                            </m:ctrlPr>
                          </m:dPr>
                          <m:e>
                            <m:m>
                              <m:mPr>
                                <m:mcs>
                                  <m:mc>
                                    <m:mcPr>
                                      <m:count m:val="5"/>
                                      <m:mcJc m:val="center"/>
                                    </m:mcPr>
                                  </m:mc>
                                </m:mcs>
                                <m:ctrlPr>
                                  <a:rPr lang="tr-TR" sz="1600" i="1">
                                    <a:latin typeface="Cambria Math" panose="02040503050406030204" pitchFamily="18" charset="0"/>
                                  </a:rPr>
                                </m:ctrlPr>
                              </m:mPr>
                              <m:mr>
                                <m:e>
                                  <m:r>
                                    <a:rPr lang="tr-TR" sz="1600" i="1">
                                      <a:latin typeface="Cambria Math" panose="02040503050406030204" pitchFamily="18" charset="0"/>
                                    </a:rPr>
                                    <m:t>2</m:t>
                                  </m:r>
                                </m:e>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−5</m:t>
                                  </m:r>
                                </m:e>
                              </m:mr>
                              <m:mr>
                                <m:e>
                                  <m:r>
                                    <a:rPr lang="tr-TR" sz="1600" i="1">
                                      <a:latin typeface="Cambria Math" panose="02040503050406030204" pitchFamily="18" charset="0"/>
                                    </a:rPr>
                                    <m:t>0</m:t>
                                  </m:r>
                                </m:e>
                                <m:e>
                                  <m:r>
                                    <a:rPr lang="tr-TR" sz="1600" i="1">
                                      <a:latin typeface="Cambria Math" panose="02040503050406030204" pitchFamily="18" charset="0"/>
                                    </a:rPr>
                                    <m:t>2</m:t>
                                  </m:r>
                                </m:e>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−2</m:t>
                                  </m:r>
                                </m:e>
                              </m:mr>
                              <m:mr>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2</m:t>
                                  </m:r>
                                </m:e>
                                <m:e>
                                  <m:r>
                                    <a:rPr lang="tr-TR" sz="1600" i="1">
                                      <a:latin typeface="Cambria Math" panose="02040503050406030204" pitchFamily="18" charset="0"/>
                                    </a:rPr>
                                    <m:t>−3</m:t>
                                  </m:r>
                                </m:e>
                                <m:e>
                                  <m:r>
                                    <a:rPr lang="tr-TR" sz="1600" i="1">
                                      <a:latin typeface="Cambria Math" panose="02040503050406030204" pitchFamily="18" charset="0"/>
                                    </a:rPr>
                                    <m:t>−1</m:t>
                                  </m:r>
                                </m:e>
                              </m:mr>
                              <m:mr>
                                <m:e>
                                  <m:r>
                                    <a:rPr lang="tr-TR" sz="1600" i="1">
                                      <a:latin typeface="Cambria Math" panose="02040503050406030204" pitchFamily="18" charset="0"/>
                                    </a:rPr>
                                    <m:t>−1</m:t>
                                  </m:r>
                                </m:e>
                                <m:e>
                                  <m:r>
                                    <a:rPr lang="tr-TR" sz="1600" i="1">
                                      <a:latin typeface="Cambria Math" panose="02040503050406030204" pitchFamily="18" charset="0"/>
                                    </a:rPr>
                                    <m:t>−1</m:t>
                                  </m:r>
                                </m:e>
                                <m:e>
                                  <m:r>
                                    <a:rPr lang="tr-TR" sz="1600" i="1">
                                      <a:latin typeface="Cambria Math" panose="02040503050406030204" pitchFamily="18" charset="0"/>
                                    </a:rPr>
                                    <m:t>−3</m:t>
                                  </m:r>
                                </m:e>
                                <m:e>
                                  <m:r>
                                    <a:rPr lang="tr-TR" sz="1600" i="1">
                                      <a:latin typeface="Cambria Math" panose="02040503050406030204" pitchFamily="18" charset="0"/>
                                    </a:rPr>
                                    <m:t>0</m:t>
                                  </m:r>
                                </m:e>
                                <m:e>
                                  <m:r>
                                    <a:rPr lang="tr-TR" sz="1600" i="1">
                                      <a:latin typeface="Cambria Math" panose="02040503050406030204" pitchFamily="18" charset="0"/>
                                    </a:rPr>
                                    <m:t>0</m:t>
                                  </m:r>
                                </m:e>
                              </m:mr>
                              <m:mr>
                                <m:e>
                                  <m:r>
                                    <a:rPr lang="tr-TR" sz="1600" i="1">
                                      <a:latin typeface="Cambria Math" panose="02040503050406030204" pitchFamily="18" charset="0"/>
                                    </a:rPr>
                                    <m:t>−5</m:t>
                                  </m:r>
                                </m:e>
                                <m:e>
                                  <m:r>
                                    <a:rPr lang="tr-TR" sz="1600" i="1">
                                      <a:latin typeface="Cambria Math" panose="02040503050406030204" pitchFamily="18" charset="0"/>
                                    </a:rPr>
                                    <m:t>−2</m:t>
                                  </m:r>
                                </m:e>
                                <m:e>
                                  <m:r>
                                    <a:rPr lang="tr-TR" sz="1600" i="1">
                                      <a:latin typeface="Cambria Math" panose="02040503050406030204" pitchFamily="18" charset="0"/>
                                    </a:rPr>
                                    <m:t>−1</m:t>
                                  </m:r>
                                </m:e>
                                <m:e>
                                  <m:r>
                                    <a:rPr lang="tr-TR" sz="1600" i="1">
                                      <a:latin typeface="Cambria Math" panose="02040503050406030204" pitchFamily="18" charset="0"/>
                                    </a:rPr>
                                    <m:t>0</m:t>
                                  </m:r>
                                </m:e>
                                <m:e>
                                  <m:r>
                                    <a:rPr lang="tr-TR" sz="1600" i="1">
                                      <a:latin typeface="Cambria Math" panose="02040503050406030204" pitchFamily="18" charset="0"/>
                                    </a:rPr>
                                    <m:t>0</m:t>
                                  </m:r>
                                </m:e>
                              </m:mr>
                            </m:m>
                          </m:e>
                        </m:d>
                      </m:e>
                      <m:sup>
                        <m:r>
                          <a:rPr lang="tr-TR" sz="1600" i="1">
                            <a:latin typeface="Cambria Math" panose="02040503050406030204" pitchFamily="18" charset="0"/>
                          </a:rPr>
                          <m:t>−1</m:t>
                        </m:r>
                      </m:sup>
                    </m:sSup>
                    <m:d>
                      <m:dPr>
                        <m:begChr m:val="["/>
                        <m:endChr m:val="]"/>
                        <m:ctrlPr>
                          <a:rPr lang="tr-TR" sz="1600" i="1">
                            <a:latin typeface="Cambria Math" panose="02040503050406030204" pitchFamily="18" charset="0"/>
                          </a:rPr>
                        </m:ctrlPr>
                      </m:dPr>
                      <m:e>
                        <m:m>
                          <m:mPr>
                            <m:mcs>
                              <m:mc>
                                <m:mcPr>
                                  <m:count m:val="1"/>
                                  <m:mcJc m:val="center"/>
                                </m:mcPr>
                              </m:mc>
                            </m:mcs>
                            <m:ctrlPr>
                              <a:rPr lang="tr-TR" sz="1600" i="1">
                                <a:latin typeface="Cambria Math" panose="02040503050406030204" pitchFamily="18" charset="0"/>
                              </a:rPr>
                            </m:ctrlPr>
                          </m:mPr>
                          <m:mr>
                            <m:e>
                              <m:r>
                                <a:rPr lang="tr-TR" sz="1600" i="1">
                                  <a:latin typeface="Cambria Math" panose="02040503050406030204" pitchFamily="18" charset="0"/>
                                </a:rPr>
                                <m:t>0</m:t>
                              </m:r>
                            </m:e>
                          </m:mr>
                          <m:mr>
                            <m:e>
                              <m:r>
                                <a:rPr lang="tr-TR" sz="1600" i="1">
                                  <a:latin typeface="Cambria Math" panose="02040503050406030204" pitchFamily="18" charset="0"/>
                                </a:rPr>
                                <m:t>0</m:t>
                              </m:r>
                            </m:e>
                          </m:mr>
                          <m:mr>
                            <m:e>
                              <m:r>
                                <a:rPr lang="tr-TR" sz="1600" i="1">
                                  <a:latin typeface="Cambria Math" panose="02040503050406030204" pitchFamily="18" charset="0"/>
                                </a:rPr>
                                <m:t>0</m:t>
                              </m:r>
                            </m:e>
                          </m:mr>
                          <m:mr>
                            <m:e>
                              <m:r>
                                <a:rPr lang="tr-TR" sz="1600" i="1">
                                  <a:latin typeface="Cambria Math" panose="02040503050406030204" pitchFamily="18" charset="0"/>
                                </a:rPr>
                                <m:t>−</m:t>
                              </m:r>
                              <m:r>
                                <a:rPr lang="tr-TR" sz="1600">
                                  <a:latin typeface="Cambria Math" panose="02040503050406030204" pitchFamily="18" charset="0"/>
                                </a:rPr>
                                <m:t>2</m:t>
                              </m:r>
                            </m:e>
                          </m:mr>
                          <m:mr>
                            <m:e>
                              <m:r>
                                <a:rPr lang="tr-TR" sz="1600" i="1">
                                  <a:latin typeface="Cambria Math" panose="02040503050406030204" pitchFamily="18" charset="0"/>
                                </a:rPr>
                                <m:t>−</m:t>
                              </m:r>
                              <m:r>
                                <a:rPr lang="tr-TR" sz="1600">
                                  <a:latin typeface="Cambria Math" panose="02040503050406030204" pitchFamily="18" charset="0"/>
                                </a:rPr>
                                <m:t>5</m:t>
                              </m:r>
                            </m:e>
                          </m:mr>
                        </m:m>
                      </m:e>
                    </m:d>
                  </m:oMath>
                </a14:m>
                <a:r>
                  <a:rPr lang="tr-TR" sz="1600" dirty="0"/>
                  <a:t> işlemini yaparız. </a:t>
                </a:r>
              </a:p>
              <a:p>
                <a:endParaRPr lang="tr-TR" sz="1600" dirty="0"/>
              </a:p>
              <a:p>
                <a:r>
                  <a:rPr lang="tr-TR" sz="1600" dirty="0"/>
                  <a:t>Buradan;</a:t>
                </a:r>
                <a14:m>
                  <m:oMath xmlns:m="http://schemas.openxmlformats.org/officeDocument/2006/math">
                    <m:r>
                      <a:rPr lang="tr-TR" sz="1600" b="0" i="0" smtClean="0">
                        <a:latin typeface="Cambria Math" panose="02040503050406030204" pitchFamily="18" charset="0"/>
                      </a:rPr>
                      <m:t> </m:t>
                    </m:r>
                    <m:d>
                      <m:dPr>
                        <m:begChr m:val="["/>
                        <m:endChr m:val="]"/>
                        <m:ctrlPr>
                          <a:rPr lang="tr-TR" sz="1600" i="1">
                            <a:latin typeface="Cambria Math" panose="02040503050406030204" pitchFamily="18" charset="0"/>
                          </a:rPr>
                        </m:ctrlPr>
                      </m:dPr>
                      <m:e>
                        <m:m>
                          <m:mPr>
                            <m:mcs>
                              <m:mc>
                                <m:mcPr>
                                  <m:count m:val="5"/>
                                  <m:mcJc m:val="center"/>
                                </m:mcPr>
                              </m:mc>
                            </m:mcs>
                            <m:ctrlPr>
                              <a:rPr lang="tr-TR" sz="1600" i="1">
                                <a:latin typeface="Cambria Math" panose="02040503050406030204" pitchFamily="18" charset="0"/>
                              </a:rPr>
                            </m:ctrlPr>
                          </m:mPr>
                          <m:mr>
                            <m:e>
                              <m:r>
                                <a:rPr lang="tr-TR" sz="1600" i="1">
                                  <a:latin typeface="Cambria Math" panose="02040503050406030204" pitchFamily="18" charset="0"/>
                                </a:rPr>
                                <m:t>1</m:t>
                              </m:r>
                            </m:e>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0</m:t>
                              </m:r>
                            </m:e>
                          </m:mr>
                          <m:mr>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0</m:t>
                              </m:r>
                            </m:e>
                          </m:mr>
                          <m:mr>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0</m:t>
                              </m:r>
                            </m:e>
                            <m:e>
                              <m:r>
                                <a:rPr lang="tr-TR" sz="1600" i="1">
                                  <a:latin typeface="Cambria Math" panose="02040503050406030204" pitchFamily="18" charset="0"/>
                                </a:rPr>
                                <m:t>0</m:t>
                              </m:r>
                            </m:e>
                          </m:mr>
                          <m:mr>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1</m:t>
                              </m:r>
                            </m:e>
                            <m:e>
                              <m:r>
                                <a:rPr lang="tr-TR" sz="1600" i="1">
                                  <a:latin typeface="Cambria Math" panose="02040503050406030204" pitchFamily="18" charset="0"/>
                                </a:rPr>
                                <m:t>0</m:t>
                              </m:r>
                            </m:e>
                          </m:mr>
                          <m:mr>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0</m:t>
                              </m:r>
                            </m:e>
                            <m:e>
                              <m:r>
                                <a:rPr lang="tr-TR" sz="1600" i="1">
                                  <a:latin typeface="Cambria Math" panose="02040503050406030204" pitchFamily="18" charset="0"/>
                                </a:rPr>
                                <m:t>1</m:t>
                              </m:r>
                            </m:e>
                          </m:mr>
                        </m:m>
                      </m:e>
                    </m:d>
                    <m:d>
                      <m:dPr>
                        <m:begChr m:val="["/>
                        <m:endChr m:val="]"/>
                        <m:ctrlPr>
                          <a:rPr lang="tr-TR" sz="1600" i="1">
                            <a:latin typeface="Cambria Math" panose="02040503050406030204" pitchFamily="18" charset="0"/>
                          </a:rPr>
                        </m:ctrlPr>
                      </m:dPr>
                      <m:e>
                        <m:m>
                          <m:mPr>
                            <m:mcs>
                              <m:mc>
                                <m:mcPr>
                                  <m:count m:val="1"/>
                                  <m:mcJc m:val="center"/>
                                </m:mcPr>
                              </m:mc>
                            </m:mcs>
                            <m:ctrlPr>
                              <a:rPr lang="tr-TR" sz="1600" i="1">
                                <a:latin typeface="Cambria Math" panose="02040503050406030204" pitchFamily="18" charset="0"/>
                              </a:rPr>
                            </m:ctrlPr>
                          </m:mPr>
                          <m:mr>
                            <m:e>
                              <m:sSub>
                                <m:sSubPr>
                                  <m:ctrlPr>
                                    <a:rPr lang="tr-TR" sz="1600" i="1">
                                      <a:latin typeface="Cambria Math" panose="02040503050406030204" pitchFamily="18" charset="0"/>
                                    </a:rPr>
                                  </m:ctrlPr>
                                </m:sSubPr>
                                <m:e>
                                  <m:r>
                                    <a:rPr lang="tr-TR" sz="1600" i="1">
                                      <a:latin typeface="Cambria Math" panose="02040503050406030204" pitchFamily="18" charset="0"/>
                                    </a:rPr>
                                    <m:t>𝑥</m:t>
                                  </m:r>
                                </m:e>
                                <m:sub>
                                  <m:r>
                                    <a:rPr lang="tr-TR" sz="1600" i="1">
                                      <a:latin typeface="Cambria Math" panose="02040503050406030204" pitchFamily="18" charset="0"/>
                                    </a:rPr>
                                    <m:t>1</m:t>
                                  </m:r>
                                </m:sub>
                              </m:sSub>
                            </m:e>
                          </m:mr>
                          <m:mr>
                            <m:e>
                              <m:sSub>
                                <m:sSubPr>
                                  <m:ctrlPr>
                                    <a:rPr lang="tr-TR" sz="1600" i="1">
                                      <a:latin typeface="Cambria Math" panose="02040503050406030204" pitchFamily="18" charset="0"/>
                                    </a:rPr>
                                  </m:ctrlPr>
                                </m:sSubPr>
                                <m:e>
                                  <m:r>
                                    <a:rPr lang="tr-TR" sz="1600" i="1">
                                      <a:latin typeface="Cambria Math" panose="02040503050406030204" pitchFamily="18" charset="0"/>
                                    </a:rPr>
                                    <m:t>𝑥</m:t>
                                  </m:r>
                                </m:e>
                                <m:sub>
                                  <m:r>
                                    <a:rPr lang="tr-TR" sz="1600" i="1">
                                      <a:latin typeface="Cambria Math" panose="02040503050406030204" pitchFamily="18" charset="0"/>
                                    </a:rPr>
                                    <m:t>2</m:t>
                                  </m:r>
                                </m:sub>
                              </m:sSub>
                            </m:e>
                          </m:mr>
                          <m:mr>
                            <m:e>
                              <m:sSub>
                                <m:sSubPr>
                                  <m:ctrlPr>
                                    <a:rPr lang="tr-TR" sz="1600" i="1">
                                      <a:latin typeface="Cambria Math" panose="02040503050406030204" pitchFamily="18" charset="0"/>
                                    </a:rPr>
                                  </m:ctrlPr>
                                </m:sSubPr>
                                <m:e>
                                  <m:r>
                                    <a:rPr lang="tr-TR" sz="1600" i="1">
                                      <a:latin typeface="Cambria Math" panose="02040503050406030204" pitchFamily="18" charset="0"/>
                                    </a:rPr>
                                    <m:t>𝑥</m:t>
                                  </m:r>
                                </m:e>
                                <m:sub>
                                  <m:r>
                                    <a:rPr lang="tr-TR" sz="1600" i="1">
                                      <a:latin typeface="Cambria Math" panose="02040503050406030204" pitchFamily="18" charset="0"/>
                                    </a:rPr>
                                    <m:t>3</m:t>
                                  </m:r>
                                </m:sub>
                              </m:sSub>
                            </m:e>
                          </m:mr>
                          <m:mr>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λ</m:t>
                                  </m:r>
                                </m:e>
                                <m:sub>
                                  <m:r>
                                    <a:rPr lang="tr-TR" sz="1600">
                                      <a:latin typeface="Cambria Math" panose="02040503050406030204" pitchFamily="18" charset="0"/>
                                    </a:rPr>
                                    <m:t>1</m:t>
                                  </m:r>
                                </m:sub>
                              </m:sSub>
                            </m:e>
                          </m:mr>
                          <m:mr>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λ</m:t>
                                  </m:r>
                                </m:e>
                                <m:sub>
                                  <m:r>
                                    <a:rPr lang="tr-TR" sz="1600">
                                      <a:latin typeface="Cambria Math" panose="02040503050406030204" pitchFamily="18" charset="0"/>
                                    </a:rPr>
                                    <m:t>2</m:t>
                                  </m:r>
                                </m:sub>
                              </m:sSub>
                            </m:e>
                          </m:mr>
                        </m:m>
                      </m:e>
                    </m:d>
                    <m:r>
                      <a:rPr lang="tr-TR" sz="1600" i="1">
                        <a:latin typeface="Cambria Math" panose="02040503050406030204" pitchFamily="18" charset="0"/>
                      </a:rPr>
                      <m:t>=</m:t>
                    </m:r>
                    <m:d>
                      <m:dPr>
                        <m:begChr m:val="["/>
                        <m:endChr m:val="]"/>
                        <m:ctrlPr>
                          <a:rPr lang="tr-TR" sz="1600" i="1">
                            <a:latin typeface="Cambria Math" panose="02040503050406030204" pitchFamily="18" charset="0"/>
                          </a:rPr>
                        </m:ctrlPr>
                      </m:dPr>
                      <m:e>
                        <m:m>
                          <m:mPr>
                            <m:mcs>
                              <m:mc>
                                <m:mcPr>
                                  <m:count m:val="1"/>
                                  <m:mcJc m:val="center"/>
                                </m:mcPr>
                              </m:mc>
                            </m:mcs>
                            <m:ctrlPr>
                              <a:rPr lang="tr-TR" sz="1600" i="1">
                                <a:latin typeface="Cambria Math" panose="02040503050406030204" pitchFamily="18" charset="0"/>
                              </a:rPr>
                            </m:ctrlPr>
                          </m:mPr>
                          <m:mr>
                            <m:e>
                              <m:r>
                                <a:rPr lang="tr-TR" sz="1600" i="1">
                                  <a:latin typeface="Cambria Math" panose="02040503050406030204" pitchFamily="18" charset="0"/>
                                </a:rPr>
                                <m:t>0,8</m:t>
                              </m:r>
                            </m:e>
                          </m:mr>
                          <m:mr>
                            <m:e>
                              <m:r>
                                <a:rPr lang="tr-TR" sz="1600" i="1">
                                  <a:latin typeface="Cambria Math" panose="02040503050406030204" pitchFamily="18" charset="0"/>
                                </a:rPr>
                                <m:t>0,35</m:t>
                              </m:r>
                            </m:e>
                          </m:mr>
                          <m:mr>
                            <m:e>
                              <m:r>
                                <a:rPr lang="tr-TR" sz="1600" i="1">
                                  <a:latin typeface="Cambria Math" panose="02040503050406030204" pitchFamily="18" charset="0"/>
                                </a:rPr>
                                <m:t>0,28</m:t>
                              </m:r>
                            </m:e>
                          </m:mr>
                          <m:mr>
                            <m:e>
                              <m:r>
                                <a:rPr lang="tr-TR" sz="1600">
                                  <a:latin typeface="Cambria Math" panose="02040503050406030204" pitchFamily="18" charset="0"/>
                                </a:rPr>
                                <m:t>0,09</m:t>
                              </m:r>
                            </m:e>
                          </m:mr>
                          <m:mr>
                            <m:e>
                              <m:r>
                                <a:rPr lang="tr-TR" sz="1600">
                                  <a:latin typeface="Cambria Math" panose="02040503050406030204" pitchFamily="18" charset="0"/>
                                </a:rPr>
                                <m:t>0,3</m:t>
                              </m:r>
                            </m:e>
                          </m:mr>
                        </m:m>
                      </m:e>
                    </m:d>
                  </m:oMath>
                </a14:m>
                <a:r>
                  <a:rPr lang="tr-TR" dirty="0"/>
                  <a:t> olarak hesaplanır.</a:t>
                </a:r>
              </a:p>
            </p:txBody>
          </p:sp>
        </mc:Choice>
        <mc:Fallback xmlns="">
          <p:sp>
            <p:nvSpPr>
              <p:cNvPr id="12" name="Metin kutusu 11"/>
              <p:cNvSpPr txBox="1">
                <a:spLocks noRot="1" noChangeAspect="1" noMove="1" noResize="1" noEditPoints="1" noAdjustHandles="1" noChangeArrowheads="1" noChangeShapeType="1" noTextEdit="1"/>
              </p:cNvSpPr>
              <p:nvPr/>
            </p:nvSpPr>
            <p:spPr>
              <a:xfrm>
                <a:off x="251520" y="1556792"/>
                <a:ext cx="8640960" cy="4835106"/>
              </a:xfrm>
              <a:prstGeom prst="rect">
                <a:avLst/>
              </a:prstGeom>
              <a:blipFill>
                <a:blip r:embed="rId5"/>
                <a:stretch>
                  <a:fillRect l="-353" t="-378"/>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350DC2B4-96AC-840E-A26C-C7E4469A1BD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0765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3" name="Metin kutusu 12"/>
          <p:cNvSpPr txBox="1"/>
          <p:nvPr/>
        </p:nvSpPr>
        <p:spPr>
          <a:xfrm>
            <a:off x="9738" y="692696"/>
            <a:ext cx="9145016" cy="830997"/>
          </a:xfrm>
          <a:prstGeom prst="rect">
            <a:avLst/>
          </a:prstGeom>
          <a:noFill/>
        </p:spPr>
        <p:txBody>
          <a:bodyPr wrap="square" rtlCol="0">
            <a:spAutoFit/>
          </a:bodyPr>
          <a:lstStyle/>
          <a:p>
            <a:pPr algn="ctr"/>
            <a:r>
              <a:rPr lang="tr-TR" sz="4800" b="1" dirty="0"/>
              <a:t>ÖRNEK 2</a:t>
            </a:r>
            <a:endParaRPr lang="tr-TR" sz="4800" dirty="0"/>
          </a:p>
        </p:txBody>
      </p:sp>
      <mc:AlternateContent xmlns:mc="http://schemas.openxmlformats.org/markup-compatibility/2006" xmlns:a14="http://schemas.microsoft.com/office/drawing/2010/main">
        <mc:Choice Requires="a14">
          <p:sp>
            <p:nvSpPr>
              <p:cNvPr id="14" name="Metin kutusu 13"/>
              <p:cNvSpPr txBox="1"/>
              <p:nvPr/>
            </p:nvSpPr>
            <p:spPr>
              <a:xfrm>
                <a:off x="-8930" y="1628800"/>
                <a:ext cx="9144000" cy="3918317"/>
              </a:xfrm>
              <a:prstGeom prst="rect">
                <a:avLst/>
              </a:prstGeom>
              <a:noFill/>
            </p:spPr>
            <p:txBody>
              <a:bodyPr wrap="square" rtlCol="0">
                <a:spAutoFit/>
              </a:bodyPr>
              <a:lstStyle/>
              <a:p>
                <a:r>
                  <a:rPr lang="tr-TR" dirty="0"/>
                  <a:t>Bulduğumuz değerlerin optimal olup olmadığını göstermek için f (x</a:t>
                </a:r>
                <a:r>
                  <a:rPr lang="tr-TR" baseline="-25000" dirty="0"/>
                  <a:t>1</a:t>
                </a:r>
                <a:r>
                  <a:rPr lang="tr-TR" dirty="0"/>
                  <a:t>, x</a:t>
                </a:r>
                <a:r>
                  <a:rPr lang="tr-TR" baseline="-25000" dirty="0"/>
                  <a:t>2</a:t>
                </a:r>
                <a:r>
                  <a:rPr lang="tr-TR" dirty="0"/>
                  <a:t>, x</a:t>
                </a:r>
                <a:r>
                  <a:rPr lang="tr-TR" baseline="-25000" dirty="0"/>
                  <a:t>3</a:t>
                </a:r>
                <a:r>
                  <a:rPr lang="tr-TR" dirty="0"/>
                  <a:t>) </a:t>
                </a:r>
                <a:r>
                  <a:rPr lang="tr-TR" dirty="0" err="1"/>
                  <a:t>Hessian</a:t>
                </a:r>
                <a:r>
                  <a:rPr lang="tr-TR" dirty="0"/>
                  <a:t> matrisini yazalım.</a:t>
                </a:r>
              </a:p>
              <a:p>
                <a:endParaRPr lang="tr-TR" dirty="0"/>
              </a:p>
              <a:p>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1</m:t>
                            </m:r>
                          </m:sub>
                        </m:sSub>
                      </m:den>
                    </m:f>
                    <m:r>
                      <a:rPr lang="tr-TR">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2</m:t>
                        </m:r>
                        <m:r>
                          <m:rPr>
                            <m:sty m:val="p"/>
                          </m:rPr>
                          <a:rPr lang="tr-TR">
                            <a:latin typeface="Cambria Math" panose="02040503050406030204" pitchFamily="18" charset="0"/>
                          </a:rPr>
                          <m:t>x</m:t>
                        </m:r>
                      </m:e>
                      <m:sub>
                        <m:r>
                          <a:rPr lang="tr-TR">
                            <a:latin typeface="Cambria Math" panose="02040503050406030204" pitchFamily="18" charset="0"/>
                          </a:rPr>
                          <m:t>1</m:t>
                        </m:r>
                      </m:sub>
                    </m:sSub>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1</m:t>
                            </m:r>
                          </m:sub>
                        </m:sSub>
                      </m:den>
                    </m:f>
                    <m:r>
                      <a:rPr lang="tr-TR">
                        <a:latin typeface="Cambria Math" panose="02040503050406030204" pitchFamily="18" charset="0"/>
                      </a:rPr>
                      <m:t>=2</m:t>
                    </m:r>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2</m:t>
                            </m:r>
                          </m:sub>
                        </m:sSub>
                      </m:den>
                    </m:f>
                    <m:r>
                      <a:rPr lang="tr-TR">
                        <a:latin typeface="Cambria Math" panose="02040503050406030204" pitchFamily="18" charset="0"/>
                      </a:rPr>
                      <m:t>=0</m:t>
                    </m:r>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3</m:t>
                            </m:r>
                          </m:sub>
                        </m:sSub>
                      </m:den>
                    </m:f>
                    <m:r>
                      <a:rPr lang="tr-TR">
                        <a:latin typeface="Cambria Math" panose="02040503050406030204" pitchFamily="18" charset="0"/>
                      </a:rPr>
                      <m:t>=0</m:t>
                    </m:r>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2</m:t>
                            </m:r>
                          </m:sub>
                        </m:sSub>
                      </m:den>
                    </m:f>
                    <m:r>
                      <a:rPr lang="tr-TR">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2</m:t>
                        </m:r>
                        <m:r>
                          <m:rPr>
                            <m:sty m:val="p"/>
                          </m:rPr>
                          <a:rPr lang="tr-TR">
                            <a:latin typeface="Cambria Math" panose="02040503050406030204" pitchFamily="18" charset="0"/>
                          </a:rPr>
                          <m:t>x</m:t>
                        </m:r>
                      </m:e>
                      <m:sub>
                        <m:r>
                          <a:rPr lang="tr-TR">
                            <a:latin typeface="Cambria Math" panose="02040503050406030204" pitchFamily="18" charset="0"/>
                          </a:rPr>
                          <m:t>2</m:t>
                        </m:r>
                      </m:sub>
                    </m:sSub>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1</m:t>
                            </m:r>
                          </m:sub>
                        </m:sSub>
                      </m:den>
                    </m:f>
                    <m:r>
                      <a:rPr lang="tr-TR">
                        <a:latin typeface="Cambria Math" panose="02040503050406030204" pitchFamily="18" charset="0"/>
                      </a:rPr>
                      <m:t>=0</m:t>
                    </m:r>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2</m:t>
                            </m:r>
                          </m:sub>
                        </m:sSub>
                      </m:den>
                    </m:f>
                    <m:r>
                      <a:rPr lang="tr-TR">
                        <a:latin typeface="Cambria Math" panose="02040503050406030204" pitchFamily="18" charset="0"/>
                      </a:rPr>
                      <m:t>=2</m:t>
                    </m:r>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3</m:t>
                            </m:r>
                          </m:sub>
                        </m:sSub>
                      </m:den>
                    </m:f>
                    <m:r>
                      <a:rPr lang="tr-TR">
                        <a:latin typeface="Cambria Math" panose="02040503050406030204" pitchFamily="18" charset="0"/>
                      </a:rPr>
                      <m:t>=0</m:t>
                    </m:r>
                  </m:oMath>
                </a14:m>
                <a:r>
                  <a:rPr lang="tr-TR" dirty="0"/>
                  <a:t> </a:t>
                </a:r>
              </a:p>
              <a:p>
                <a:endParaRPr lang="tr-TR" dirty="0"/>
              </a:p>
              <a:p>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3</m:t>
                            </m:r>
                          </m:sub>
                        </m:sSub>
                      </m:den>
                    </m:f>
                    <m:r>
                      <a:rPr lang="tr-TR">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2</m:t>
                        </m:r>
                        <m:r>
                          <m:rPr>
                            <m:sty m:val="p"/>
                          </m:rPr>
                          <a:rPr lang="tr-TR">
                            <a:latin typeface="Cambria Math" panose="02040503050406030204" pitchFamily="18" charset="0"/>
                          </a:rPr>
                          <m:t>x</m:t>
                        </m:r>
                      </m:e>
                      <m:sub>
                        <m:r>
                          <a:rPr lang="tr-TR">
                            <a:latin typeface="Cambria Math" panose="02040503050406030204" pitchFamily="18" charset="0"/>
                          </a:rPr>
                          <m:t>3</m:t>
                        </m:r>
                      </m:sub>
                    </m:sSub>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3</m:t>
                            </m:r>
                          </m:sub>
                        </m:sSub>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1</m:t>
                            </m:r>
                          </m:sub>
                        </m:sSub>
                      </m:den>
                    </m:f>
                    <m:r>
                      <a:rPr lang="tr-TR">
                        <a:latin typeface="Cambria Math" panose="02040503050406030204" pitchFamily="18" charset="0"/>
                      </a:rPr>
                      <m:t>=0</m:t>
                    </m:r>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3</m:t>
                            </m:r>
                          </m:sub>
                        </m:sSub>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2</m:t>
                            </m:r>
                          </m:sub>
                        </m:sSub>
                      </m:den>
                    </m:f>
                    <m:r>
                      <a:rPr lang="tr-TR">
                        <a:latin typeface="Cambria Math" panose="02040503050406030204" pitchFamily="18" charset="0"/>
                      </a:rPr>
                      <m:t>=0</m:t>
                    </m:r>
                  </m:oMath>
                </a14:m>
                <a:r>
                  <a:rPr lang="tr-TR" dirty="0"/>
                  <a:t> ,</a:t>
                </a: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3</m:t>
                            </m:r>
                          </m:sub>
                        </m:sSub>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a:rPr lang="tr-TR">
                                <a:latin typeface="Cambria Math" panose="02040503050406030204" pitchFamily="18" charset="0"/>
                              </a:rPr>
                              <m:t>3</m:t>
                            </m:r>
                          </m:sub>
                        </m:sSub>
                      </m:den>
                    </m:f>
                    <m:r>
                      <a:rPr lang="tr-TR">
                        <a:latin typeface="Cambria Math" panose="02040503050406030204" pitchFamily="18" charset="0"/>
                      </a:rPr>
                      <m:t>=2</m:t>
                    </m:r>
                  </m:oMath>
                </a14:m>
                <a:r>
                  <a:rPr lang="tr-TR" dirty="0"/>
                  <a:t> </a:t>
                </a:r>
              </a:p>
              <a:p>
                <a:endParaRPr lang="tr-TR" dirty="0"/>
              </a:p>
              <a:p>
                <a14:m>
                  <m:oMath xmlns:m="http://schemas.openxmlformats.org/officeDocument/2006/math">
                    <m:r>
                      <m:rPr>
                        <m:sty m:val="p"/>
                      </m:rPr>
                      <a:rPr lang="tr-TR">
                        <a:latin typeface="Cambria Math" panose="02040503050406030204" pitchFamily="18" charset="0"/>
                      </a:rPr>
                      <m:t>H</m:t>
                    </m:r>
                    <m:r>
                      <a:rPr lang="tr-TR">
                        <a:latin typeface="Cambria Math" panose="02040503050406030204" pitchFamily="18" charset="0"/>
                      </a:rPr>
                      <m:t>=</m:t>
                    </m:r>
                    <m:d>
                      <m:dPr>
                        <m:begChr m:val="["/>
                        <m:endChr m:val="]"/>
                        <m:ctrlPr>
                          <a:rPr lang="tr-TR" i="1">
                            <a:latin typeface="Cambria Math" panose="02040503050406030204" pitchFamily="18" charset="0"/>
                          </a:rPr>
                        </m:ctrlPr>
                      </m:dPr>
                      <m:e>
                        <m:m>
                          <m:mPr>
                            <m:mcs>
                              <m:mc>
                                <m:mcPr>
                                  <m:count m:val="3"/>
                                  <m:mcJc m:val="center"/>
                                </m:mcPr>
                              </m:mc>
                            </m:mcs>
                            <m:ctrlPr>
                              <a:rPr lang="tr-TR" i="1">
                                <a:latin typeface="Cambria Math" panose="02040503050406030204" pitchFamily="18" charset="0"/>
                              </a:rPr>
                            </m:ctrlPr>
                          </m:mPr>
                          <m:mr>
                            <m:e>
                              <m:r>
                                <a:rPr lang="tr-TR">
                                  <a:latin typeface="Cambria Math" panose="02040503050406030204" pitchFamily="18" charset="0"/>
                                </a:rPr>
                                <m:t>2</m:t>
                              </m:r>
                            </m:e>
                            <m:e>
                              <m:r>
                                <a:rPr lang="tr-TR">
                                  <a:latin typeface="Cambria Math" panose="02040503050406030204" pitchFamily="18" charset="0"/>
                                </a:rPr>
                                <m:t>0</m:t>
                              </m:r>
                            </m:e>
                            <m:e>
                              <m:r>
                                <a:rPr lang="tr-TR">
                                  <a:latin typeface="Cambria Math" panose="02040503050406030204" pitchFamily="18" charset="0"/>
                                </a:rPr>
                                <m:t>0</m:t>
                              </m:r>
                            </m:e>
                          </m:mr>
                          <m:mr>
                            <m:e>
                              <m:r>
                                <a:rPr lang="tr-TR">
                                  <a:latin typeface="Cambria Math" panose="02040503050406030204" pitchFamily="18" charset="0"/>
                                </a:rPr>
                                <m:t>0</m:t>
                              </m:r>
                            </m:e>
                            <m:e>
                              <m:r>
                                <a:rPr lang="tr-TR">
                                  <a:latin typeface="Cambria Math" panose="02040503050406030204" pitchFamily="18" charset="0"/>
                                </a:rPr>
                                <m:t>2</m:t>
                              </m:r>
                            </m:e>
                            <m:e>
                              <m:r>
                                <a:rPr lang="tr-TR">
                                  <a:latin typeface="Cambria Math" panose="02040503050406030204" pitchFamily="18" charset="0"/>
                                </a:rPr>
                                <m:t>0</m:t>
                              </m:r>
                            </m:e>
                          </m:mr>
                          <m:mr>
                            <m:e>
                              <m:r>
                                <a:rPr lang="tr-TR">
                                  <a:latin typeface="Cambria Math" panose="02040503050406030204" pitchFamily="18" charset="0"/>
                                </a:rPr>
                                <m:t>0</m:t>
                              </m:r>
                            </m:e>
                            <m:e>
                              <m:r>
                                <a:rPr lang="tr-TR">
                                  <a:latin typeface="Cambria Math" panose="02040503050406030204" pitchFamily="18" charset="0"/>
                                </a:rPr>
                                <m:t>0</m:t>
                              </m:r>
                            </m:e>
                            <m:e>
                              <m:r>
                                <a:rPr lang="tr-TR">
                                  <a:latin typeface="Cambria Math" panose="02040503050406030204" pitchFamily="18" charset="0"/>
                                </a:rPr>
                                <m:t>2</m:t>
                              </m:r>
                            </m:e>
                          </m:mr>
                        </m:m>
                      </m:e>
                    </m:d>
                  </m:oMath>
                </a14:m>
                <a:r>
                  <a:rPr lang="tr-TR" dirty="0"/>
                  <a:t> Bütün esas minörlerin işaretleri pozitif olduğundan f (x</a:t>
                </a:r>
                <a:r>
                  <a:rPr lang="tr-TR" baseline="-25000" dirty="0"/>
                  <a:t>1</a:t>
                </a:r>
                <a:r>
                  <a:rPr lang="tr-TR" dirty="0"/>
                  <a:t>, x</a:t>
                </a:r>
                <a:r>
                  <a:rPr lang="tr-TR" baseline="-25000" dirty="0"/>
                  <a:t>2</a:t>
                </a:r>
                <a:r>
                  <a:rPr lang="tr-TR" dirty="0"/>
                  <a:t>, x</a:t>
                </a:r>
                <a:r>
                  <a:rPr lang="tr-TR" baseline="-25000" dirty="0"/>
                  <a:t>3</a:t>
                </a:r>
                <a:r>
                  <a:rPr lang="tr-TR" dirty="0"/>
                  <a:t>) fonksiyonu konvekstir ve bulunan yerel </a:t>
                </a:r>
                <a:r>
                  <a:rPr lang="tr-TR" dirty="0" err="1"/>
                  <a:t>ekstremum</a:t>
                </a:r>
                <a:r>
                  <a:rPr lang="tr-TR" dirty="0"/>
                  <a:t> nokta minimum değerini verdiği için x</a:t>
                </a:r>
                <a:r>
                  <a:rPr lang="tr-TR" baseline="-25000" dirty="0"/>
                  <a:t>1</a:t>
                </a:r>
                <a:r>
                  <a:rPr lang="tr-TR" dirty="0"/>
                  <a:t>=0,8, x</a:t>
                </a:r>
                <a:r>
                  <a:rPr lang="tr-TR" baseline="-25000" dirty="0"/>
                  <a:t>2</a:t>
                </a:r>
                <a:r>
                  <a:rPr lang="tr-TR" dirty="0"/>
                  <a:t>=0,35, x</a:t>
                </a:r>
                <a:r>
                  <a:rPr lang="tr-TR" baseline="-25000" dirty="0"/>
                  <a:t>3</a:t>
                </a:r>
                <a:r>
                  <a:rPr lang="tr-TR" dirty="0"/>
                  <a:t>=0,28, λ</a:t>
                </a:r>
                <a:r>
                  <a:rPr lang="tr-TR" baseline="-25000" dirty="0"/>
                  <a:t>1</a:t>
                </a:r>
                <a:r>
                  <a:rPr lang="tr-TR" dirty="0"/>
                  <a:t>=0,09 ve λ</a:t>
                </a:r>
                <a:r>
                  <a:rPr lang="tr-TR" baseline="-25000" dirty="0"/>
                  <a:t>2</a:t>
                </a:r>
                <a:r>
                  <a:rPr lang="tr-TR" dirty="0"/>
                  <a:t>=0,3 çözümü optimaldir.</a:t>
                </a:r>
              </a:p>
              <a:p>
                <a:endParaRPr lang="tr-TR" dirty="0"/>
              </a:p>
            </p:txBody>
          </p:sp>
        </mc:Choice>
        <mc:Fallback xmlns="">
          <p:sp>
            <p:nvSpPr>
              <p:cNvPr id="14" name="Metin kutusu 13"/>
              <p:cNvSpPr txBox="1">
                <a:spLocks noRot="1" noChangeAspect="1" noMove="1" noResize="1" noEditPoints="1" noAdjustHandles="1" noChangeArrowheads="1" noChangeShapeType="1" noTextEdit="1"/>
              </p:cNvSpPr>
              <p:nvPr/>
            </p:nvSpPr>
            <p:spPr>
              <a:xfrm>
                <a:off x="-8930" y="1628800"/>
                <a:ext cx="9144000" cy="3918317"/>
              </a:xfrm>
              <a:prstGeom prst="rect">
                <a:avLst/>
              </a:prstGeom>
              <a:blipFill>
                <a:blip r:embed="rId5"/>
                <a:stretch>
                  <a:fillRect l="-600" t="-778"/>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AF4D078F-6C42-48F4-68EB-129A73CC8F8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51543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2" name="Metin kutusu 11"/>
          <p:cNvSpPr txBox="1"/>
          <p:nvPr/>
        </p:nvSpPr>
        <p:spPr>
          <a:xfrm>
            <a:off x="9738" y="692696"/>
            <a:ext cx="9145016" cy="830997"/>
          </a:xfrm>
          <a:prstGeom prst="rect">
            <a:avLst/>
          </a:prstGeom>
          <a:noFill/>
        </p:spPr>
        <p:txBody>
          <a:bodyPr wrap="square" rtlCol="0">
            <a:spAutoFit/>
          </a:bodyPr>
          <a:lstStyle/>
          <a:p>
            <a:pPr algn="ctr"/>
            <a:r>
              <a:rPr lang="tr-TR" sz="4800" b="1" dirty="0"/>
              <a:t>ÖRNEK 3</a:t>
            </a:r>
            <a:endParaRPr lang="tr-TR" sz="4800" dirty="0"/>
          </a:p>
        </p:txBody>
      </p:sp>
      <mc:AlternateContent xmlns:mc="http://schemas.openxmlformats.org/markup-compatibility/2006" xmlns:a14="http://schemas.microsoft.com/office/drawing/2010/main">
        <mc:Choice Requires="a14">
          <p:sp>
            <p:nvSpPr>
              <p:cNvPr id="13" name="Dikdörtgen 12"/>
              <p:cNvSpPr/>
              <p:nvPr/>
            </p:nvSpPr>
            <p:spPr>
              <a:xfrm>
                <a:off x="-31642" y="1413064"/>
                <a:ext cx="9186396" cy="2554545"/>
              </a:xfrm>
              <a:prstGeom prst="rect">
                <a:avLst/>
              </a:prstGeom>
            </p:spPr>
            <p:txBody>
              <a:bodyPr wrap="square">
                <a:spAutoFit/>
              </a:bodyPr>
              <a:lstStyle/>
              <a:p>
                <a:r>
                  <a:rPr lang="tr-TR" sz="2000" b="1" dirty="0">
                    <a:solidFill>
                      <a:srgbClr val="000000"/>
                    </a:solidFill>
                    <a:latin typeface="Times New Roman" panose="02020603050405020304" pitchFamily="18" charset="0"/>
                  </a:rPr>
                  <a:t>Örnek: </a:t>
                </a:r>
                <a:r>
                  <a:rPr lang="tr-TR" sz="2000" dirty="0">
                    <a:solidFill>
                      <a:srgbClr val="000000"/>
                    </a:solidFill>
                    <a:latin typeface="Times New Roman" panose="02020603050405020304" pitchFamily="18" charset="0"/>
                  </a:rPr>
                  <a:t>Aşağıdaki p(</a:t>
                </a:r>
                <a:r>
                  <a:rPr lang="tr-TR" sz="2000" dirty="0" err="1">
                    <a:solidFill>
                      <a:srgbClr val="000000"/>
                    </a:solidFill>
                    <a:latin typeface="Times New Roman" panose="02020603050405020304" pitchFamily="18" charset="0"/>
                  </a:rPr>
                  <a:t>x,y</a:t>
                </a:r>
                <a:r>
                  <a:rPr lang="tr-TR" sz="2000" dirty="0">
                    <a:solidFill>
                      <a:srgbClr val="000000"/>
                    </a:solidFill>
                    <a:latin typeface="Times New Roman" panose="02020603050405020304" pitchFamily="18" charset="0"/>
                  </a:rPr>
                  <a:t>) bağıntısının ABC şirketinin karını veren bir model olduğunu farz edelim. Bağıntıdaki x değişkeni normal sandalye ve y değişkeni ise sallanan sandalyeyi ifade etmektedir.</a:t>
                </a:r>
              </a:p>
              <a:p>
                <a:endParaRPr lang="tr-TR" sz="2000" dirty="0">
                  <a:solidFill>
                    <a:srgbClr val="000000"/>
                  </a:solidFill>
                  <a:latin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tr-TR" sz="2000" b="0" i="1" smtClean="0">
                          <a:solidFill>
                            <a:srgbClr val="000000"/>
                          </a:solidFill>
                          <a:latin typeface="Cambria Math" panose="02040503050406030204" pitchFamily="18" charset="0"/>
                        </a:rPr>
                        <m:t>𝑝</m:t>
                      </m:r>
                      <m:d>
                        <m:dPr>
                          <m:ctrlPr>
                            <a:rPr lang="tr-TR" sz="2000" b="0" i="1" smtClean="0">
                              <a:solidFill>
                                <a:srgbClr val="000000"/>
                              </a:solidFill>
                              <a:latin typeface="Cambria Math" panose="02040503050406030204" pitchFamily="18" charset="0"/>
                            </a:rPr>
                          </m:ctrlPr>
                        </m:dPr>
                        <m:e>
                          <m:r>
                            <a:rPr lang="tr-TR" sz="2000" b="0" i="1" smtClean="0">
                              <a:solidFill>
                                <a:srgbClr val="000000"/>
                              </a:solidFill>
                              <a:latin typeface="Cambria Math" panose="02040503050406030204" pitchFamily="18" charset="0"/>
                            </a:rPr>
                            <m:t>𝑥</m:t>
                          </m:r>
                          <m:r>
                            <a:rPr lang="tr-TR" sz="2000" b="0" i="1" smtClean="0">
                              <a:solidFill>
                                <a:srgbClr val="000000"/>
                              </a:solidFill>
                              <a:latin typeface="Cambria Math" panose="02040503050406030204" pitchFamily="18" charset="0"/>
                            </a:rPr>
                            <m:t>,</m:t>
                          </m:r>
                          <m:r>
                            <a:rPr lang="tr-TR" sz="2000" b="0" i="1" smtClean="0">
                              <a:solidFill>
                                <a:srgbClr val="000000"/>
                              </a:solidFill>
                              <a:latin typeface="Cambria Math" panose="02040503050406030204" pitchFamily="18" charset="0"/>
                            </a:rPr>
                            <m:t>𝑦</m:t>
                          </m:r>
                        </m:e>
                      </m:d>
                      <m:r>
                        <a:rPr lang="tr-TR" sz="2000" b="0" i="1" smtClean="0">
                          <a:solidFill>
                            <a:srgbClr val="000000"/>
                          </a:solidFill>
                          <a:latin typeface="Cambria Math" panose="02040503050406030204" pitchFamily="18" charset="0"/>
                        </a:rPr>
                        <m:t>=−2</m:t>
                      </m:r>
                      <m:sSup>
                        <m:sSupPr>
                          <m:ctrlPr>
                            <a:rPr lang="tr-TR" sz="2000" b="0" i="1" smtClean="0">
                              <a:solidFill>
                                <a:srgbClr val="000000"/>
                              </a:solidFill>
                              <a:latin typeface="Cambria Math" panose="02040503050406030204" pitchFamily="18" charset="0"/>
                            </a:rPr>
                          </m:ctrlPr>
                        </m:sSupPr>
                        <m:e>
                          <m:r>
                            <a:rPr lang="tr-TR" sz="2000" b="0" i="1" smtClean="0">
                              <a:solidFill>
                                <a:srgbClr val="000000"/>
                              </a:solidFill>
                              <a:latin typeface="Cambria Math" panose="02040503050406030204" pitchFamily="18" charset="0"/>
                            </a:rPr>
                            <m:t>𝑥</m:t>
                          </m:r>
                        </m:e>
                        <m:sup>
                          <m:r>
                            <a:rPr lang="tr-TR" sz="2000" b="0" i="1" smtClean="0">
                              <a:solidFill>
                                <a:srgbClr val="000000"/>
                              </a:solidFill>
                              <a:latin typeface="Cambria Math" panose="02040503050406030204" pitchFamily="18" charset="0"/>
                            </a:rPr>
                            <m:t>2</m:t>
                          </m:r>
                        </m:sup>
                      </m:sSup>
                      <m:r>
                        <a:rPr lang="tr-TR" sz="2000" b="0" i="1" smtClean="0">
                          <a:solidFill>
                            <a:srgbClr val="000000"/>
                          </a:solidFill>
                          <a:latin typeface="Cambria Math" panose="02040503050406030204" pitchFamily="18" charset="0"/>
                        </a:rPr>
                        <m:t>+60</m:t>
                      </m:r>
                      <m:r>
                        <a:rPr lang="tr-TR" sz="2000" b="0" i="1" smtClean="0">
                          <a:solidFill>
                            <a:srgbClr val="000000"/>
                          </a:solidFill>
                          <a:latin typeface="Cambria Math" panose="02040503050406030204" pitchFamily="18" charset="0"/>
                        </a:rPr>
                        <m:t>𝑥</m:t>
                      </m:r>
                      <m:r>
                        <a:rPr lang="tr-TR" sz="2000" b="0" i="1" smtClean="0">
                          <a:solidFill>
                            <a:srgbClr val="000000"/>
                          </a:solidFill>
                          <a:latin typeface="Cambria Math" panose="02040503050406030204" pitchFamily="18" charset="0"/>
                        </a:rPr>
                        <m:t>−3</m:t>
                      </m:r>
                      <m:sSup>
                        <m:sSupPr>
                          <m:ctrlPr>
                            <a:rPr lang="tr-TR" sz="2000" b="0" i="1" smtClean="0">
                              <a:solidFill>
                                <a:srgbClr val="000000"/>
                              </a:solidFill>
                              <a:latin typeface="Cambria Math" panose="02040503050406030204" pitchFamily="18" charset="0"/>
                            </a:rPr>
                          </m:ctrlPr>
                        </m:sSupPr>
                        <m:e>
                          <m:r>
                            <a:rPr lang="tr-TR" sz="2000" b="0" i="1" smtClean="0">
                              <a:solidFill>
                                <a:srgbClr val="000000"/>
                              </a:solidFill>
                              <a:latin typeface="Cambria Math" panose="02040503050406030204" pitchFamily="18" charset="0"/>
                            </a:rPr>
                            <m:t>𝑦</m:t>
                          </m:r>
                        </m:e>
                        <m:sup>
                          <m:r>
                            <a:rPr lang="tr-TR" sz="2000" b="0" i="1" smtClean="0">
                              <a:solidFill>
                                <a:srgbClr val="000000"/>
                              </a:solidFill>
                              <a:latin typeface="Cambria Math" panose="02040503050406030204" pitchFamily="18" charset="0"/>
                            </a:rPr>
                            <m:t>2</m:t>
                          </m:r>
                        </m:sup>
                      </m:sSup>
                      <m:r>
                        <a:rPr lang="tr-TR" sz="2000" b="0" i="1" smtClean="0">
                          <a:solidFill>
                            <a:srgbClr val="000000"/>
                          </a:solidFill>
                          <a:latin typeface="Cambria Math" panose="02040503050406030204" pitchFamily="18" charset="0"/>
                        </a:rPr>
                        <m:t>+72</m:t>
                      </m:r>
                      <m:r>
                        <a:rPr lang="tr-TR" sz="2000" b="0" i="1" smtClean="0">
                          <a:solidFill>
                            <a:srgbClr val="000000"/>
                          </a:solidFill>
                          <a:latin typeface="Cambria Math" panose="02040503050406030204" pitchFamily="18" charset="0"/>
                        </a:rPr>
                        <m:t>𝑦</m:t>
                      </m:r>
                      <m:r>
                        <a:rPr lang="tr-TR" sz="2000" b="0" i="1" smtClean="0">
                          <a:solidFill>
                            <a:srgbClr val="000000"/>
                          </a:solidFill>
                          <a:latin typeface="Cambria Math" panose="02040503050406030204" pitchFamily="18" charset="0"/>
                        </a:rPr>
                        <m:t>+100</m:t>
                      </m:r>
                    </m:oMath>
                  </m:oMathPara>
                </a14:m>
                <a:endParaRPr lang="tr-TR" sz="2000" dirty="0">
                  <a:solidFill>
                    <a:srgbClr val="000000"/>
                  </a:solidFill>
                  <a:latin typeface="Times New Roman" panose="02020603050405020304" pitchFamily="18" charset="0"/>
                </a:endParaRPr>
              </a:p>
              <a:p>
                <a:endParaRPr lang="tr-TR" sz="2000" dirty="0">
                  <a:solidFill>
                    <a:srgbClr val="000000"/>
                  </a:solidFill>
                  <a:latin typeface="Times New Roman" panose="02020603050405020304" pitchFamily="18" charset="0"/>
                </a:endParaRPr>
              </a:p>
              <a:p>
                <a:pPr marL="342900" indent="-342900">
                  <a:buAutoNum type="alphaLcParenR"/>
                </a:pPr>
                <a:r>
                  <a:rPr lang="tr-TR" sz="2000" dirty="0">
                    <a:solidFill>
                      <a:srgbClr val="000000"/>
                    </a:solidFill>
                    <a:latin typeface="Times New Roman" panose="02020603050405020304" pitchFamily="18" charset="0"/>
                  </a:rPr>
                  <a:t>Karın maksimum olduğu noktada x ve y değerini bulunuz. </a:t>
                </a:r>
              </a:p>
              <a:p>
                <a:pPr marL="342900" indent="-342900">
                  <a:buAutoNum type="alphaLcParenR"/>
                </a:pPr>
                <a:r>
                  <a:rPr lang="tr-TR" sz="2000" dirty="0">
                    <a:solidFill>
                      <a:srgbClr val="000000"/>
                    </a:solidFill>
                    <a:latin typeface="Times New Roman" panose="02020603050405020304" pitchFamily="18" charset="0"/>
                  </a:rPr>
                  <a:t>İşgücü </a:t>
                </a:r>
                <a:r>
                  <a:rPr lang="tr-TR" sz="2000" dirty="0" err="1">
                    <a:solidFill>
                      <a:srgbClr val="000000"/>
                    </a:solidFill>
                    <a:latin typeface="Times New Roman" panose="02020603050405020304" pitchFamily="18" charset="0"/>
                  </a:rPr>
                  <a:t>kısıtından</a:t>
                </a:r>
                <a:r>
                  <a:rPr lang="tr-TR" sz="2000" dirty="0">
                    <a:solidFill>
                      <a:srgbClr val="000000"/>
                    </a:solidFill>
                    <a:latin typeface="Times New Roman" panose="02020603050405020304" pitchFamily="18" charset="0"/>
                  </a:rPr>
                  <a:t> dolayı x + y = 20 olduğu durumda maksimum karı hesaplayınız.</a:t>
                </a:r>
              </a:p>
            </p:txBody>
          </p:sp>
        </mc:Choice>
        <mc:Fallback xmlns="">
          <p:sp>
            <p:nvSpPr>
              <p:cNvPr id="13" name="Dikdörtgen 12"/>
              <p:cNvSpPr>
                <a:spLocks noRot="1" noChangeAspect="1" noMove="1" noResize="1" noEditPoints="1" noAdjustHandles="1" noChangeArrowheads="1" noChangeShapeType="1" noTextEdit="1"/>
              </p:cNvSpPr>
              <p:nvPr/>
            </p:nvSpPr>
            <p:spPr>
              <a:xfrm>
                <a:off x="-31642" y="1413064"/>
                <a:ext cx="9186396" cy="2554545"/>
              </a:xfrm>
              <a:prstGeom prst="rect">
                <a:avLst/>
              </a:prstGeom>
              <a:blipFill>
                <a:blip r:embed="rId5"/>
                <a:stretch>
                  <a:fillRect l="-730" t="-1432" b="-334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4" name="Dikdörtgen 13"/>
              <p:cNvSpPr/>
              <p:nvPr/>
            </p:nvSpPr>
            <p:spPr>
              <a:xfrm>
                <a:off x="20268" y="4133697"/>
                <a:ext cx="9134486" cy="2051331"/>
              </a:xfrm>
              <a:prstGeom prst="rect">
                <a:avLst/>
              </a:prstGeom>
            </p:spPr>
            <p:txBody>
              <a:bodyPr wrap="square">
                <a:spAutoFit/>
              </a:bodyPr>
              <a:lstStyle/>
              <a:p>
                <a:r>
                  <a:rPr lang="tr-TR" i="1" dirty="0">
                    <a:latin typeface="Cambria Math" panose="02040503050406030204" pitchFamily="18" charset="0"/>
                  </a:rPr>
                  <a:t>a)</a:t>
                </a:r>
              </a:p>
              <a:p>
                <a:pPr/>
                <a14:m>
                  <m:oMathPara xmlns:m="http://schemas.openxmlformats.org/officeDocument/2006/math">
                    <m:oMathParaPr>
                      <m:jc m:val="centerGroup"/>
                    </m:oMathParaPr>
                    <m:oMath xmlns:m="http://schemas.openxmlformats.org/officeDocument/2006/math">
                      <m:f>
                        <m:fPr>
                          <m:ctrlPr>
                            <a:rPr lang="tr-TR" i="1" smtClean="0">
                              <a:latin typeface="Cambria Math" panose="02040503050406030204" pitchFamily="18" charset="0"/>
                            </a:rPr>
                          </m:ctrlPr>
                        </m:fPr>
                        <m:num>
                          <m:r>
                            <a:rPr lang="tr-TR">
                              <a:latin typeface="Cambria Math" panose="02040503050406030204" pitchFamily="18" charset="0"/>
                            </a:rPr>
                            <m:t>𝜕</m:t>
                          </m:r>
                          <m:r>
                            <m:rPr>
                              <m:sty m:val="p"/>
                            </m:rPr>
                            <a:rPr lang="tr-TR" b="0" i="0" smtClean="0">
                              <a:latin typeface="Cambria Math" panose="02040503050406030204" pitchFamily="18" charset="0"/>
                            </a:rPr>
                            <m:t>g</m:t>
                          </m:r>
                        </m:num>
                        <m:den>
                          <m:r>
                            <a:rPr lang="tr-TR">
                              <a:latin typeface="Cambria Math" panose="02040503050406030204" pitchFamily="18" charset="0"/>
                            </a:rPr>
                            <m:t>𝜕</m:t>
                          </m:r>
                          <m:r>
                            <a:rPr lang="tr-TR" b="0" i="1" smtClean="0">
                              <a:latin typeface="Cambria Math" panose="02040503050406030204" pitchFamily="18" charset="0"/>
                            </a:rPr>
                            <m:t>𝑥</m:t>
                          </m:r>
                        </m:den>
                      </m:f>
                      <m:r>
                        <a:rPr lang="tr-TR" b="0" i="1" smtClean="0">
                          <a:latin typeface="Cambria Math" panose="02040503050406030204" pitchFamily="18" charset="0"/>
                        </a:rPr>
                        <m:t>=−4</m:t>
                      </m:r>
                      <m:r>
                        <a:rPr lang="tr-TR" b="0" i="1" smtClean="0">
                          <a:latin typeface="Cambria Math" panose="02040503050406030204" pitchFamily="18" charset="0"/>
                        </a:rPr>
                        <m:t>𝑥</m:t>
                      </m:r>
                      <m:r>
                        <a:rPr lang="tr-TR" b="0" i="1" smtClean="0">
                          <a:latin typeface="Cambria Math" panose="02040503050406030204" pitchFamily="18" charset="0"/>
                        </a:rPr>
                        <m:t>+60           </m:t>
                      </m:r>
                      <m:r>
                        <a:rPr lang="tr-TR" b="0" i="1" smtClean="0">
                          <a:latin typeface="Cambria Math" panose="02040503050406030204" pitchFamily="18" charset="0"/>
                        </a:rPr>
                        <m:t>𝑣𝑒</m:t>
                      </m:r>
                      <m:r>
                        <a:rPr lang="tr-TR" b="0" i="1" smtClean="0">
                          <a:latin typeface="Cambria Math" panose="02040503050406030204" pitchFamily="18" charset="0"/>
                        </a:rPr>
                        <m:t>            </m:t>
                      </m:r>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g</m:t>
                          </m:r>
                        </m:num>
                        <m:den>
                          <m:r>
                            <a:rPr lang="tr-TR">
                              <a:latin typeface="Cambria Math" panose="02040503050406030204" pitchFamily="18" charset="0"/>
                            </a:rPr>
                            <m:t>𝜕</m:t>
                          </m:r>
                          <m:r>
                            <a:rPr lang="tr-TR" b="0" i="1" smtClean="0">
                              <a:latin typeface="Cambria Math" panose="02040503050406030204" pitchFamily="18" charset="0"/>
                            </a:rPr>
                            <m:t>𝑦</m:t>
                          </m:r>
                        </m:den>
                      </m:f>
                      <m:r>
                        <a:rPr lang="tr-TR" b="0" i="1" smtClean="0">
                          <a:latin typeface="Cambria Math" panose="02040503050406030204" pitchFamily="18" charset="0"/>
                        </a:rPr>
                        <m:t>=−6</m:t>
                      </m:r>
                      <m:r>
                        <a:rPr lang="tr-TR" b="0" i="1" smtClean="0">
                          <a:latin typeface="Cambria Math" panose="02040503050406030204" pitchFamily="18" charset="0"/>
                        </a:rPr>
                        <m:t>𝑦</m:t>
                      </m:r>
                      <m:r>
                        <a:rPr lang="tr-TR" b="0" i="1" smtClean="0">
                          <a:latin typeface="Cambria Math" panose="02040503050406030204" pitchFamily="18" charset="0"/>
                        </a:rPr>
                        <m:t>+72</m:t>
                      </m:r>
                    </m:oMath>
                  </m:oMathPara>
                </a14:m>
                <a:endParaRPr lang="tr-TR" dirty="0"/>
              </a:p>
              <a:p>
                <a:r>
                  <a:rPr lang="tr-TR" i="1" dirty="0">
                    <a:latin typeface="Cambria Math" panose="02040503050406030204" pitchFamily="18" charset="0"/>
                  </a:rPr>
                  <a:t>Fonksiyonun birinci türevlerinden, kökler x = 15 ve y = 12 olarak hesaplanır.</a:t>
                </a:r>
              </a:p>
              <a:p>
                <a:endParaRPr lang="tr-TR" dirty="0"/>
              </a:p>
              <a:p>
                <a:r>
                  <a:rPr lang="tr-TR" i="1" dirty="0">
                    <a:latin typeface="Cambria Math" panose="02040503050406030204" pitchFamily="18" charset="0"/>
                  </a:rPr>
                  <a:t>b) </a:t>
                </a:r>
                <a:r>
                  <a:rPr lang="tr-TR" i="1" dirty="0" err="1">
                    <a:latin typeface="Cambria Math" panose="02040503050406030204" pitchFamily="18" charset="0"/>
                  </a:rPr>
                  <a:t>x+y</a:t>
                </a:r>
                <a:r>
                  <a:rPr lang="tr-TR" i="1" dirty="0">
                    <a:latin typeface="Cambria Math" panose="02040503050406030204" pitchFamily="18" charset="0"/>
                  </a:rPr>
                  <a:t>=15+12=27 olduğu için </a:t>
                </a:r>
                <a:r>
                  <a:rPr lang="tr-TR" i="1" dirty="0" err="1">
                    <a:latin typeface="Cambria Math" panose="02040503050406030204" pitchFamily="18" charset="0"/>
                  </a:rPr>
                  <a:t>x+y</a:t>
                </a:r>
                <a:r>
                  <a:rPr lang="tr-TR" i="1" dirty="0">
                    <a:latin typeface="Cambria Math" panose="02040503050406030204" pitchFamily="18" charset="0"/>
                  </a:rPr>
                  <a:t>=20 </a:t>
                </a:r>
                <a:r>
                  <a:rPr lang="tr-TR" i="1" dirty="0" err="1">
                    <a:latin typeface="Cambria Math" panose="02040503050406030204" pitchFamily="18" charset="0"/>
                  </a:rPr>
                  <a:t>kısıtı</a:t>
                </a:r>
                <a:r>
                  <a:rPr lang="tr-TR" i="1" dirty="0">
                    <a:latin typeface="Cambria Math" panose="02040503050406030204" pitchFamily="18" charset="0"/>
                  </a:rPr>
                  <a:t> ile birlikte tekrar Lagrange metodu ile çözelim.</a:t>
                </a:r>
              </a:p>
            </p:txBody>
          </p:sp>
        </mc:Choice>
        <mc:Fallback xmlns="">
          <p:sp>
            <p:nvSpPr>
              <p:cNvPr id="14" name="Dikdörtgen 13"/>
              <p:cNvSpPr>
                <a:spLocks noRot="1" noChangeAspect="1" noMove="1" noResize="1" noEditPoints="1" noAdjustHandles="1" noChangeArrowheads="1" noChangeShapeType="1" noTextEdit="1"/>
              </p:cNvSpPr>
              <p:nvPr/>
            </p:nvSpPr>
            <p:spPr>
              <a:xfrm>
                <a:off x="20268" y="4133697"/>
                <a:ext cx="9134486" cy="2051331"/>
              </a:xfrm>
              <a:prstGeom prst="rect">
                <a:avLst/>
              </a:prstGeom>
              <a:blipFill>
                <a:blip r:embed="rId6"/>
                <a:stretch>
                  <a:fillRect l="-534" t="-1780" b="-3561"/>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8F6F8028-7996-09BE-22B4-6D99390D422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83267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2" name="Metin kutusu 11"/>
          <p:cNvSpPr txBox="1"/>
          <p:nvPr/>
        </p:nvSpPr>
        <p:spPr>
          <a:xfrm>
            <a:off x="9738" y="692696"/>
            <a:ext cx="9145016" cy="830997"/>
          </a:xfrm>
          <a:prstGeom prst="rect">
            <a:avLst/>
          </a:prstGeom>
          <a:noFill/>
        </p:spPr>
        <p:txBody>
          <a:bodyPr wrap="square" rtlCol="0">
            <a:spAutoFit/>
          </a:bodyPr>
          <a:lstStyle/>
          <a:p>
            <a:pPr algn="ctr"/>
            <a:r>
              <a:rPr lang="tr-TR" sz="4800" b="1" dirty="0"/>
              <a:t>ÖRNEK 3</a:t>
            </a:r>
            <a:endParaRPr lang="tr-TR" sz="4800" dirty="0"/>
          </a:p>
        </p:txBody>
      </p:sp>
      <mc:AlternateContent xmlns:mc="http://schemas.openxmlformats.org/markup-compatibility/2006" xmlns:a14="http://schemas.microsoft.com/office/drawing/2010/main">
        <mc:Choice Requires="a14">
          <p:sp>
            <p:nvSpPr>
              <p:cNvPr id="13" name="Dikdörtgen 12"/>
              <p:cNvSpPr/>
              <p:nvPr/>
            </p:nvSpPr>
            <p:spPr>
              <a:xfrm>
                <a:off x="9514" y="1523693"/>
                <a:ext cx="9134486" cy="4756046"/>
              </a:xfrm>
              <a:prstGeom prst="rect">
                <a:avLst/>
              </a:prstGeom>
            </p:spPr>
            <p:txBody>
              <a:bodyPr wrap="square">
                <a:spAutoFit/>
              </a:bodyPr>
              <a:lstStyle/>
              <a:p>
                <a:r>
                  <a:rPr lang="tr-TR" i="1" dirty="0">
                    <a:latin typeface="Cambria Math" panose="02040503050406030204" pitchFamily="18" charset="0"/>
                  </a:rPr>
                  <a:t>Adım 1-</a:t>
                </a:r>
              </a:p>
              <a:p>
                <a:r>
                  <a:rPr lang="tr-TR" i="1" dirty="0">
                    <a:latin typeface="Cambria Math" panose="02040503050406030204" pitchFamily="18" charset="0"/>
                  </a:rPr>
                  <a:t>	Lagrange Fonksiyonunu oluşturalım;</a:t>
                </a:r>
              </a:p>
              <a:p>
                <a:r>
                  <a:rPr lang="tr-TR" dirty="0"/>
                  <a:t>			</a:t>
                </a:r>
                <a:r>
                  <a:rPr lang="es-ES" i="1" dirty="0">
                    <a:latin typeface="Cambria Math" panose="02040503050406030204" pitchFamily="18" charset="0"/>
                  </a:rPr>
                  <a:t>L(x, y) = f(x, y)- ʎ</a:t>
                </a:r>
                <a:r>
                  <a:rPr lang="tr-TR" i="1" dirty="0">
                    <a:latin typeface="Cambria Math" panose="02040503050406030204" pitchFamily="18" charset="0"/>
                  </a:rPr>
                  <a:t> </a:t>
                </a:r>
                <a:r>
                  <a:rPr lang="es-ES" i="1" dirty="0">
                    <a:latin typeface="Cambria Math" panose="02040503050406030204" pitchFamily="18" charset="0"/>
                  </a:rPr>
                  <a:t>[g(x, y) - k] </a:t>
                </a:r>
                <a:endParaRPr lang="tr-TR" i="1" dirty="0">
                  <a:latin typeface="Cambria Math" panose="02040503050406030204" pitchFamily="18" charset="0"/>
                </a:endParaRPr>
              </a:p>
              <a:p>
                <a:r>
                  <a:rPr lang="tr-TR" i="1" dirty="0">
                    <a:latin typeface="Cambria Math" panose="02040503050406030204" pitchFamily="18" charset="0"/>
                  </a:rPr>
                  <a:t>		</a:t>
                </a:r>
                <a:r>
                  <a:rPr lang="es-ES" i="1" dirty="0">
                    <a:latin typeface="Cambria Math" panose="02040503050406030204" pitchFamily="18" charset="0"/>
                  </a:rPr>
                  <a:t>(</a:t>
                </a:r>
                <a:r>
                  <a:rPr lang="tr-TR" i="1" dirty="0">
                    <a:latin typeface="Cambria Math" panose="02040503050406030204" pitchFamily="18" charset="0"/>
                  </a:rPr>
                  <a:t>-</a:t>
                </a:r>
                <a:r>
                  <a:rPr lang="es-ES" i="1" dirty="0">
                    <a:latin typeface="Cambria Math" panose="02040503050406030204" pitchFamily="18" charset="0"/>
                  </a:rPr>
                  <a:t>2x</a:t>
                </a:r>
                <a:r>
                  <a:rPr lang="es-ES" i="1" baseline="30000" dirty="0">
                    <a:latin typeface="Cambria Math" panose="02040503050406030204" pitchFamily="18" charset="0"/>
                  </a:rPr>
                  <a:t>2</a:t>
                </a:r>
                <a:r>
                  <a:rPr lang="es-ES" i="1" dirty="0">
                    <a:latin typeface="Cambria Math" panose="02040503050406030204" pitchFamily="18" charset="0"/>
                  </a:rPr>
                  <a:t> </a:t>
                </a:r>
                <a:r>
                  <a:rPr lang="tr-TR" i="1" dirty="0">
                    <a:latin typeface="Cambria Math" panose="02040503050406030204" pitchFamily="18" charset="0"/>
                  </a:rPr>
                  <a:t>+ </a:t>
                </a:r>
                <a:r>
                  <a:rPr lang="es-ES" i="1" dirty="0">
                    <a:latin typeface="Cambria Math" panose="02040503050406030204" pitchFamily="18" charset="0"/>
                  </a:rPr>
                  <a:t>60x</a:t>
                </a:r>
                <a:r>
                  <a:rPr lang="tr-TR" i="1" dirty="0">
                    <a:latin typeface="Cambria Math" panose="02040503050406030204" pitchFamily="18" charset="0"/>
                  </a:rPr>
                  <a:t> - 3</a:t>
                </a:r>
                <a:r>
                  <a:rPr lang="es-ES" i="1" dirty="0">
                    <a:latin typeface="Cambria Math" panose="02040503050406030204" pitchFamily="18" charset="0"/>
                  </a:rPr>
                  <a:t>y</a:t>
                </a:r>
                <a:r>
                  <a:rPr lang="tr-TR" i="1" baseline="30000" dirty="0">
                    <a:latin typeface="Cambria Math" panose="02040503050406030204" pitchFamily="18" charset="0"/>
                  </a:rPr>
                  <a:t>2</a:t>
                </a:r>
                <a:r>
                  <a:rPr lang="es-ES" i="1" dirty="0">
                    <a:latin typeface="Cambria Math" panose="02040503050406030204" pitchFamily="18" charset="0"/>
                  </a:rPr>
                  <a:t> </a:t>
                </a:r>
                <a:r>
                  <a:rPr lang="tr-TR" i="1" dirty="0">
                    <a:latin typeface="Cambria Math" panose="02040503050406030204" pitchFamily="18" charset="0"/>
                  </a:rPr>
                  <a:t>+</a:t>
                </a:r>
                <a:r>
                  <a:rPr lang="es-ES" i="1" dirty="0">
                    <a:latin typeface="Cambria Math" panose="02040503050406030204" pitchFamily="18" charset="0"/>
                  </a:rPr>
                  <a:t> 72y </a:t>
                </a:r>
                <a:r>
                  <a:rPr lang="tr-TR" i="1" dirty="0">
                    <a:latin typeface="Cambria Math" panose="02040503050406030204" pitchFamily="18" charset="0"/>
                  </a:rPr>
                  <a:t>+</a:t>
                </a:r>
                <a:r>
                  <a:rPr lang="es-ES" i="1" dirty="0">
                    <a:latin typeface="Cambria Math" panose="02040503050406030204" pitchFamily="18" charset="0"/>
                  </a:rPr>
                  <a:t>100) </a:t>
                </a:r>
                <a:r>
                  <a:rPr lang="tr-TR" i="1" dirty="0">
                    <a:latin typeface="Cambria Math" panose="02040503050406030204" pitchFamily="18" charset="0"/>
                  </a:rPr>
                  <a:t>-</a:t>
                </a:r>
                <a:r>
                  <a:rPr lang="es-ES" i="1" dirty="0">
                    <a:latin typeface="Cambria Math" panose="02040503050406030204" pitchFamily="18" charset="0"/>
                  </a:rPr>
                  <a:t> ʎ (x </a:t>
                </a:r>
                <a:r>
                  <a:rPr lang="tr-TR" i="1" dirty="0">
                    <a:latin typeface="Cambria Math" panose="02040503050406030204" pitchFamily="18" charset="0"/>
                  </a:rPr>
                  <a:t>+</a:t>
                </a:r>
                <a:r>
                  <a:rPr lang="es-ES" i="1" dirty="0">
                    <a:latin typeface="Cambria Math" panose="02040503050406030204" pitchFamily="18" charset="0"/>
                  </a:rPr>
                  <a:t> y </a:t>
                </a:r>
                <a:r>
                  <a:rPr lang="tr-TR" i="1" dirty="0">
                    <a:latin typeface="Cambria Math" panose="02040503050406030204" pitchFamily="18" charset="0"/>
                  </a:rPr>
                  <a:t>-</a:t>
                </a:r>
                <a:r>
                  <a:rPr lang="es-ES" i="1" dirty="0">
                    <a:latin typeface="Cambria Math" panose="02040503050406030204" pitchFamily="18" charset="0"/>
                  </a:rPr>
                  <a:t> 20)</a:t>
                </a:r>
                <a:endParaRPr lang="tr-TR" i="1" dirty="0">
                  <a:latin typeface="Cambria Math" panose="02040503050406030204" pitchFamily="18" charset="0"/>
                </a:endParaRPr>
              </a:p>
              <a:p>
                <a:r>
                  <a:rPr lang="tr-TR" i="1" dirty="0">
                    <a:latin typeface="Cambria Math" panose="02040503050406030204" pitchFamily="18" charset="0"/>
                  </a:rPr>
                  <a:t>Adım 2-</a:t>
                </a:r>
              </a:p>
              <a:p>
                <a:r>
                  <a:rPr lang="tr-TR" i="1" dirty="0">
                    <a:latin typeface="Cambria Math" panose="02040503050406030204" pitchFamily="18" charset="0"/>
                  </a:rPr>
                  <a:t>	Kısmı türevlere göre </a:t>
                </a:r>
                <a:r>
                  <a:rPr lang="en-US" i="1" dirty="0">
                    <a:latin typeface="Cambria Math" panose="02040503050406030204" pitchFamily="18" charset="0"/>
                  </a:rPr>
                  <a:t> L</a:t>
                </a:r>
                <a:r>
                  <a:rPr lang="en-US" i="1" baseline="-25000" dirty="0">
                    <a:latin typeface="Cambria Math" panose="02040503050406030204" pitchFamily="18" charset="0"/>
                  </a:rPr>
                  <a:t>x</a:t>
                </a:r>
                <a:r>
                  <a:rPr lang="en-US" i="1" dirty="0">
                    <a:latin typeface="Cambria Math" panose="02040503050406030204" pitchFamily="18" charset="0"/>
                  </a:rPr>
                  <a:t> = 0, L</a:t>
                </a:r>
                <a:r>
                  <a:rPr lang="en-US" i="1" baseline="-25000" dirty="0">
                    <a:latin typeface="Cambria Math" panose="02040503050406030204" pitchFamily="18" charset="0"/>
                  </a:rPr>
                  <a:t>y</a:t>
                </a:r>
                <a:r>
                  <a:rPr lang="en-US" i="1" dirty="0">
                    <a:latin typeface="Cambria Math" panose="02040503050406030204" pitchFamily="18" charset="0"/>
                  </a:rPr>
                  <a:t> = 0 and L</a:t>
                </a:r>
                <a:r>
                  <a:rPr lang="es-ES" i="1" baseline="-25000" dirty="0">
                    <a:latin typeface="Cambria Math" panose="02040503050406030204" pitchFamily="18" charset="0"/>
                  </a:rPr>
                  <a:t>ʎ</a:t>
                </a:r>
                <a:r>
                  <a:rPr lang="en-US" i="1" dirty="0">
                    <a:latin typeface="Cambria Math" panose="02040503050406030204" pitchFamily="18" charset="0"/>
                  </a:rPr>
                  <a:t> = 0</a:t>
                </a:r>
                <a:r>
                  <a:rPr lang="tr-TR" i="1" dirty="0">
                    <a:latin typeface="Cambria Math" panose="02040503050406030204" pitchFamily="18" charset="0"/>
                  </a:rPr>
                  <a:t>;</a:t>
                </a:r>
              </a:p>
              <a:p>
                <a:r>
                  <a:rPr lang="tr-TR" i="1" dirty="0">
                    <a:latin typeface="Cambria Math" panose="02040503050406030204" pitchFamily="18" charset="0"/>
                  </a:rPr>
                  <a:t>	</a:t>
                </a:r>
              </a:p>
              <a:p>
                <a:r>
                  <a:rPr lang="tr-TR" i="1" dirty="0">
                    <a:latin typeface="Cambria Math" panose="02040503050406030204" pitchFamily="18" charset="0"/>
                  </a:rPr>
                  <a:t>	</a:t>
                </a:r>
                <a:r>
                  <a:rPr lang="en-US" i="1" dirty="0">
                    <a:latin typeface="Cambria Math" panose="02040503050406030204" pitchFamily="18" charset="0"/>
                  </a:rPr>
                  <a:t>L</a:t>
                </a:r>
                <a:r>
                  <a:rPr lang="en-US" i="1" baseline="-25000" dirty="0">
                    <a:latin typeface="Cambria Math" panose="02040503050406030204" pitchFamily="18" charset="0"/>
                  </a:rPr>
                  <a:t>x</a:t>
                </a:r>
                <a:r>
                  <a:rPr lang="en-US" i="1" dirty="0">
                    <a:latin typeface="Cambria Math" panose="02040503050406030204" pitchFamily="18" charset="0"/>
                  </a:rPr>
                  <a:t> = </a:t>
                </a:r>
                <a:r>
                  <a:rPr lang="tr-TR" i="1" dirty="0">
                    <a:latin typeface="Cambria Math" panose="02040503050406030204" pitchFamily="18" charset="0"/>
                  </a:rPr>
                  <a:t>- 4</a:t>
                </a:r>
                <a:r>
                  <a:rPr lang="es-ES" i="1" dirty="0">
                    <a:latin typeface="Cambria Math" panose="02040503050406030204" pitchFamily="18" charset="0"/>
                  </a:rPr>
                  <a:t>x</a:t>
                </a:r>
                <a:r>
                  <a:rPr lang="tr-TR" i="1" dirty="0">
                    <a:latin typeface="Cambria Math" panose="02040503050406030204" pitchFamily="18" charset="0"/>
                  </a:rPr>
                  <a:t> + 60 - </a:t>
                </a:r>
                <a:r>
                  <a:rPr lang="es-ES" i="1" dirty="0">
                    <a:latin typeface="Cambria Math" panose="02040503050406030204" pitchFamily="18" charset="0"/>
                  </a:rPr>
                  <a:t>ʎ</a:t>
                </a:r>
                <a:r>
                  <a:rPr lang="tr-TR" i="1" dirty="0">
                    <a:latin typeface="Cambria Math" panose="02040503050406030204" pitchFamily="18" charset="0"/>
                  </a:rPr>
                  <a:t> =  0</a:t>
                </a:r>
                <a:r>
                  <a:rPr lang="en-US" i="1" dirty="0">
                    <a:latin typeface="Cambria Math" panose="02040503050406030204" pitchFamily="18" charset="0"/>
                  </a:rPr>
                  <a:t>, </a:t>
                </a:r>
                <a:endParaRPr lang="tr-TR" i="1" dirty="0">
                  <a:latin typeface="Cambria Math" panose="02040503050406030204" pitchFamily="18" charset="0"/>
                </a:endParaRPr>
              </a:p>
              <a:p>
                <a:r>
                  <a:rPr lang="tr-TR" i="1" dirty="0">
                    <a:latin typeface="Cambria Math" panose="02040503050406030204" pitchFamily="18" charset="0"/>
                  </a:rPr>
                  <a:t>	</a:t>
                </a:r>
                <a:r>
                  <a:rPr lang="en-US" i="1" dirty="0">
                    <a:latin typeface="Cambria Math" panose="02040503050406030204" pitchFamily="18" charset="0"/>
                  </a:rPr>
                  <a:t>L</a:t>
                </a:r>
                <a:r>
                  <a:rPr lang="en-US" i="1" baseline="-25000" dirty="0">
                    <a:latin typeface="Cambria Math" panose="02040503050406030204" pitchFamily="18" charset="0"/>
                  </a:rPr>
                  <a:t>y </a:t>
                </a:r>
                <a:r>
                  <a:rPr lang="en-US" i="1" dirty="0">
                    <a:latin typeface="Cambria Math" panose="02040503050406030204" pitchFamily="18" charset="0"/>
                  </a:rPr>
                  <a:t>= </a:t>
                </a:r>
                <a:r>
                  <a:rPr lang="tr-TR" i="1" dirty="0">
                    <a:latin typeface="Cambria Math" panose="02040503050406030204" pitchFamily="18" charset="0"/>
                  </a:rPr>
                  <a:t>- 6y + 72 - </a:t>
                </a:r>
                <a:r>
                  <a:rPr lang="es-ES" i="1" dirty="0">
                    <a:latin typeface="Cambria Math" panose="02040503050406030204" pitchFamily="18" charset="0"/>
                  </a:rPr>
                  <a:t>ʎ</a:t>
                </a:r>
                <a:r>
                  <a:rPr lang="tr-TR" i="1" dirty="0">
                    <a:latin typeface="Cambria Math" panose="02040503050406030204" pitchFamily="18" charset="0"/>
                  </a:rPr>
                  <a:t>  = </a:t>
                </a:r>
                <a:r>
                  <a:rPr lang="en-US" i="1" dirty="0">
                    <a:latin typeface="Cambria Math" panose="02040503050406030204" pitchFamily="18" charset="0"/>
                  </a:rPr>
                  <a:t>0</a:t>
                </a:r>
                <a:r>
                  <a:rPr lang="tr-TR" i="1" dirty="0">
                    <a:latin typeface="Cambria Math" panose="02040503050406030204" pitchFamily="18" charset="0"/>
                  </a:rPr>
                  <a:t>,</a:t>
                </a:r>
                <a:r>
                  <a:rPr lang="en-US" i="1" dirty="0">
                    <a:latin typeface="Cambria Math" panose="02040503050406030204" pitchFamily="18" charset="0"/>
                  </a:rPr>
                  <a:t> </a:t>
                </a:r>
                <a:endParaRPr lang="tr-TR" i="1" dirty="0">
                  <a:latin typeface="Cambria Math" panose="02040503050406030204" pitchFamily="18" charset="0"/>
                </a:endParaRPr>
              </a:p>
              <a:p>
                <a:r>
                  <a:rPr lang="tr-TR" i="1" dirty="0">
                    <a:latin typeface="Cambria Math" panose="02040503050406030204" pitchFamily="18" charset="0"/>
                  </a:rPr>
                  <a:t>	</a:t>
                </a:r>
                <a:r>
                  <a:rPr lang="en-US" i="1" dirty="0">
                    <a:latin typeface="Cambria Math" panose="02040503050406030204" pitchFamily="18" charset="0"/>
                  </a:rPr>
                  <a:t>L</a:t>
                </a:r>
                <a:r>
                  <a:rPr lang="es-ES" i="1" baseline="-25000" dirty="0">
                    <a:latin typeface="Cambria Math" panose="02040503050406030204" pitchFamily="18" charset="0"/>
                  </a:rPr>
                  <a:t>ʎ</a:t>
                </a:r>
                <a:r>
                  <a:rPr lang="en-US" i="1" baseline="-25000" dirty="0">
                    <a:latin typeface="Cambria Math" panose="02040503050406030204" pitchFamily="18" charset="0"/>
                  </a:rPr>
                  <a:t> </a:t>
                </a:r>
                <a:r>
                  <a:rPr lang="en-US" i="1" dirty="0">
                    <a:latin typeface="Cambria Math" panose="02040503050406030204" pitchFamily="18" charset="0"/>
                  </a:rPr>
                  <a:t>= </a:t>
                </a:r>
                <a:r>
                  <a:rPr lang="tr-TR" i="1" dirty="0">
                    <a:latin typeface="Cambria Math" panose="02040503050406030204" pitchFamily="18" charset="0"/>
                  </a:rPr>
                  <a:t>- </a:t>
                </a:r>
                <a:r>
                  <a:rPr lang="es-ES" i="1" dirty="0">
                    <a:latin typeface="Cambria Math" panose="02040503050406030204" pitchFamily="18" charset="0"/>
                  </a:rPr>
                  <a:t>x</a:t>
                </a:r>
                <a:r>
                  <a:rPr lang="tr-TR" i="1" dirty="0">
                    <a:latin typeface="Cambria Math" panose="02040503050406030204" pitchFamily="18" charset="0"/>
                  </a:rPr>
                  <a:t> - y + 20  = </a:t>
                </a:r>
                <a:r>
                  <a:rPr lang="en-US" i="1" dirty="0">
                    <a:latin typeface="Cambria Math" panose="02040503050406030204" pitchFamily="18" charset="0"/>
                  </a:rPr>
                  <a:t>0</a:t>
                </a:r>
                <a:r>
                  <a:rPr lang="tr-TR" i="1" dirty="0">
                    <a:latin typeface="Cambria Math" panose="02040503050406030204" pitchFamily="18" charset="0"/>
                  </a:rPr>
                  <a:t>,</a:t>
                </a:r>
              </a:p>
              <a:p>
                <a:r>
                  <a:rPr lang="tr-TR" i="1" dirty="0">
                    <a:latin typeface="Cambria Math" panose="02040503050406030204" pitchFamily="18" charset="0"/>
                  </a:rPr>
                  <a:t>Adım 3- </a:t>
                </a:r>
              </a:p>
              <a:p>
                <a:r>
                  <a:rPr lang="tr-TR" i="1" dirty="0">
                    <a:latin typeface="Cambria Math" panose="02040503050406030204" pitchFamily="18" charset="0"/>
                  </a:rPr>
                  <a:t>	</a:t>
                </a:r>
                <a:r>
                  <a:rPr lang="en-US" i="1" dirty="0">
                    <a:latin typeface="Cambria Math" panose="02040503050406030204" pitchFamily="18" charset="0"/>
                  </a:rPr>
                  <a:t> L</a:t>
                </a:r>
                <a:r>
                  <a:rPr lang="en-US" i="1" baseline="-25000" dirty="0">
                    <a:latin typeface="Cambria Math" panose="02040503050406030204" pitchFamily="18" charset="0"/>
                  </a:rPr>
                  <a:t>x</a:t>
                </a:r>
                <a:r>
                  <a:rPr lang="en-US" i="1" dirty="0">
                    <a:latin typeface="Cambria Math" panose="02040503050406030204" pitchFamily="18" charset="0"/>
                  </a:rPr>
                  <a:t> = 0</a:t>
                </a:r>
                <a:r>
                  <a:rPr lang="tr-TR" i="1" dirty="0">
                    <a:latin typeface="Cambria Math" panose="02040503050406030204" pitchFamily="18" charset="0"/>
                  </a:rPr>
                  <a:t> ve</a:t>
                </a:r>
                <a:r>
                  <a:rPr lang="en-US" i="1" dirty="0">
                    <a:latin typeface="Cambria Math" panose="02040503050406030204" pitchFamily="18" charset="0"/>
                  </a:rPr>
                  <a:t> L</a:t>
                </a:r>
                <a:r>
                  <a:rPr lang="en-US" i="1" baseline="-25000" dirty="0">
                    <a:latin typeface="Cambria Math" panose="02040503050406030204" pitchFamily="18" charset="0"/>
                  </a:rPr>
                  <a:t>y</a:t>
                </a:r>
                <a:r>
                  <a:rPr lang="en-US" i="1" dirty="0">
                    <a:latin typeface="Cambria Math" panose="02040503050406030204" pitchFamily="18" charset="0"/>
                  </a:rPr>
                  <a:t> = 0 </a:t>
                </a:r>
                <a:r>
                  <a:rPr lang="tr-TR" i="1" dirty="0">
                    <a:latin typeface="Cambria Math" panose="02040503050406030204" pitchFamily="18" charset="0"/>
                  </a:rPr>
                  <a:t> kullanılarak, x=15 -</a:t>
                </a:r>
                <a14:m>
                  <m:oMath xmlns:m="http://schemas.openxmlformats.org/officeDocument/2006/math">
                    <m:r>
                      <a:rPr lang="tr-TR" b="0" i="1" smtClean="0">
                        <a:latin typeface="Cambria Math" panose="02040503050406030204" pitchFamily="18" charset="0"/>
                      </a:rPr>
                      <m:t> </m:t>
                    </m:r>
                    <m:f>
                      <m:fPr>
                        <m:ctrlPr>
                          <a:rPr lang="tr-TR"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4</m:t>
                        </m:r>
                      </m:den>
                    </m:f>
                  </m:oMath>
                </a14:m>
                <a:r>
                  <a:rPr lang="tr-TR" i="1" dirty="0">
                    <a:latin typeface="Cambria Math" panose="02040503050406030204" pitchFamily="18" charset="0"/>
                  </a:rPr>
                  <a:t> </a:t>
                </a:r>
                <a:r>
                  <a:rPr lang="es-ES" i="1" dirty="0">
                    <a:latin typeface="Cambria Math" panose="02040503050406030204" pitchFamily="18" charset="0"/>
                  </a:rPr>
                  <a:t>ʎ</a:t>
                </a:r>
                <a:r>
                  <a:rPr lang="tr-TR" i="1" dirty="0">
                    <a:latin typeface="Cambria Math" panose="02040503050406030204" pitchFamily="18" charset="0"/>
                  </a:rPr>
                  <a:t>  ve y=12 -</a:t>
                </a:r>
                <a14:m>
                  <m:oMath xmlns:m="http://schemas.openxmlformats.org/officeDocument/2006/math">
                    <m:r>
                      <a:rPr lang="tr-TR" i="1">
                        <a:latin typeface="Cambria Math" panose="02040503050406030204" pitchFamily="18" charset="0"/>
                      </a:rPr>
                      <m:t> </m:t>
                    </m:r>
                    <m:f>
                      <m:fPr>
                        <m:ctrlPr>
                          <a:rPr lang="tr-TR" i="1">
                            <a:latin typeface="Cambria Math" panose="02040503050406030204" pitchFamily="18" charset="0"/>
                          </a:rPr>
                        </m:ctrlPr>
                      </m:fPr>
                      <m:num>
                        <m:r>
                          <a:rPr lang="tr-TR" i="1">
                            <a:latin typeface="Cambria Math" panose="02040503050406030204" pitchFamily="18" charset="0"/>
                          </a:rPr>
                          <m:t>1</m:t>
                        </m:r>
                      </m:num>
                      <m:den>
                        <m:r>
                          <a:rPr lang="tr-TR" b="0" i="1" smtClean="0">
                            <a:latin typeface="Cambria Math" panose="02040503050406030204" pitchFamily="18" charset="0"/>
                          </a:rPr>
                          <m:t>6</m:t>
                        </m:r>
                      </m:den>
                    </m:f>
                  </m:oMath>
                </a14:m>
                <a:r>
                  <a:rPr lang="es-ES" i="1" dirty="0">
                    <a:latin typeface="Cambria Math" panose="02040503050406030204" pitchFamily="18" charset="0"/>
                  </a:rPr>
                  <a:t>ʎ</a:t>
                </a:r>
                <a:r>
                  <a:rPr lang="tr-TR" i="1" dirty="0">
                    <a:latin typeface="Cambria Math" panose="02040503050406030204" pitchFamily="18" charset="0"/>
                  </a:rPr>
                  <a:t>  olarak bulunur. </a:t>
                </a:r>
                <a:r>
                  <a:rPr lang="en-US" i="1" dirty="0">
                    <a:latin typeface="Cambria Math" panose="02040503050406030204" pitchFamily="18" charset="0"/>
                  </a:rPr>
                  <a:t>L</a:t>
                </a:r>
                <a:r>
                  <a:rPr lang="es-ES" i="1" baseline="-25000" dirty="0">
                    <a:latin typeface="Cambria Math" panose="02040503050406030204" pitchFamily="18" charset="0"/>
                  </a:rPr>
                  <a:t>ʎ</a:t>
                </a:r>
                <a:r>
                  <a:rPr lang="en-US" i="1" dirty="0">
                    <a:latin typeface="Cambria Math" panose="02040503050406030204" pitchFamily="18" charset="0"/>
                  </a:rPr>
                  <a:t> = 0</a:t>
                </a:r>
                <a:r>
                  <a:rPr lang="tr-TR" i="1" dirty="0">
                    <a:latin typeface="Cambria Math" panose="02040503050406030204" pitchFamily="18" charset="0"/>
                  </a:rPr>
                  <a:t> denkleminde yerine yazarak bilinmeyenler hesaplanabilir.</a:t>
                </a:r>
              </a:p>
              <a:p>
                <a:r>
                  <a:rPr lang="tr-TR" i="1" dirty="0">
                    <a:latin typeface="Cambria Math" panose="02040503050406030204" pitchFamily="18" charset="0"/>
                  </a:rPr>
                  <a:t> </a:t>
                </a:r>
                <a:r>
                  <a:rPr lang="en-US" i="1" dirty="0">
                    <a:latin typeface="Cambria Math" panose="02040503050406030204" pitchFamily="18" charset="0"/>
                  </a:rPr>
                  <a:t>L</a:t>
                </a:r>
                <a:r>
                  <a:rPr lang="es-ES" i="1" baseline="-25000" dirty="0">
                    <a:latin typeface="Cambria Math" panose="02040503050406030204" pitchFamily="18" charset="0"/>
                  </a:rPr>
                  <a:t>ʎ</a:t>
                </a:r>
                <a:r>
                  <a:rPr lang="en-US" i="1" baseline="-25000" dirty="0">
                    <a:latin typeface="Cambria Math" panose="02040503050406030204" pitchFamily="18" charset="0"/>
                  </a:rPr>
                  <a:t> </a:t>
                </a:r>
                <a:r>
                  <a:rPr lang="en-US" i="1" dirty="0">
                    <a:latin typeface="Cambria Math" panose="02040503050406030204" pitchFamily="18" charset="0"/>
                  </a:rPr>
                  <a:t>= </a:t>
                </a:r>
                <a:r>
                  <a:rPr lang="tr-TR" i="1" dirty="0">
                    <a:latin typeface="Cambria Math" panose="02040503050406030204" pitchFamily="18" charset="0"/>
                  </a:rPr>
                  <a:t>- (15 -</a:t>
                </a:r>
                <a14:m>
                  <m:oMath xmlns:m="http://schemas.openxmlformats.org/officeDocument/2006/math">
                    <m:r>
                      <a:rPr lang="tr-TR" i="1">
                        <a:latin typeface="Cambria Math" panose="02040503050406030204" pitchFamily="18" charset="0"/>
                      </a:rPr>
                      <m:t> </m:t>
                    </m:r>
                    <m:f>
                      <m:fPr>
                        <m:ctrlPr>
                          <a:rPr lang="tr-TR" i="1">
                            <a:latin typeface="Cambria Math" panose="02040503050406030204" pitchFamily="18" charset="0"/>
                          </a:rPr>
                        </m:ctrlPr>
                      </m:fPr>
                      <m:num>
                        <m:r>
                          <a:rPr lang="tr-TR" i="1">
                            <a:latin typeface="Cambria Math" panose="02040503050406030204" pitchFamily="18" charset="0"/>
                          </a:rPr>
                          <m:t>1</m:t>
                        </m:r>
                      </m:num>
                      <m:den>
                        <m:r>
                          <a:rPr lang="tr-TR" i="1">
                            <a:latin typeface="Cambria Math" panose="02040503050406030204" pitchFamily="18" charset="0"/>
                          </a:rPr>
                          <m:t>4</m:t>
                        </m:r>
                      </m:den>
                    </m:f>
                  </m:oMath>
                </a14:m>
                <a:r>
                  <a:rPr lang="tr-TR" i="1" dirty="0">
                    <a:latin typeface="Cambria Math" panose="02040503050406030204" pitchFamily="18" charset="0"/>
                  </a:rPr>
                  <a:t> </a:t>
                </a:r>
                <a:r>
                  <a:rPr lang="es-ES" i="1" dirty="0">
                    <a:latin typeface="Cambria Math" panose="02040503050406030204" pitchFamily="18" charset="0"/>
                  </a:rPr>
                  <a:t>ʎ</a:t>
                </a:r>
                <a:r>
                  <a:rPr lang="tr-TR" i="1" dirty="0">
                    <a:latin typeface="Cambria Math" panose="02040503050406030204" pitchFamily="18" charset="0"/>
                  </a:rPr>
                  <a:t> ) – (12 -</a:t>
                </a:r>
                <a14:m>
                  <m:oMath xmlns:m="http://schemas.openxmlformats.org/officeDocument/2006/math">
                    <m:r>
                      <a:rPr lang="tr-TR" i="1">
                        <a:latin typeface="Cambria Math" panose="02040503050406030204" pitchFamily="18" charset="0"/>
                      </a:rPr>
                      <m:t> </m:t>
                    </m:r>
                    <m:f>
                      <m:fPr>
                        <m:ctrlPr>
                          <a:rPr lang="tr-TR" i="1">
                            <a:latin typeface="Cambria Math" panose="02040503050406030204" pitchFamily="18" charset="0"/>
                          </a:rPr>
                        </m:ctrlPr>
                      </m:fPr>
                      <m:num>
                        <m:r>
                          <a:rPr lang="tr-TR" i="1">
                            <a:latin typeface="Cambria Math" panose="02040503050406030204" pitchFamily="18" charset="0"/>
                          </a:rPr>
                          <m:t>1</m:t>
                        </m:r>
                      </m:num>
                      <m:den>
                        <m:r>
                          <a:rPr lang="tr-TR" i="1">
                            <a:latin typeface="Cambria Math" panose="02040503050406030204" pitchFamily="18" charset="0"/>
                          </a:rPr>
                          <m:t>6</m:t>
                        </m:r>
                      </m:den>
                    </m:f>
                  </m:oMath>
                </a14:m>
                <a:r>
                  <a:rPr lang="es-ES" i="1" dirty="0">
                    <a:latin typeface="Cambria Math" panose="02040503050406030204" pitchFamily="18" charset="0"/>
                  </a:rPr>
                  <a:t>ʎ</a:t>
                </a:r>
                <a:r>
                  <a:rPr lang="tr-TR" i="1" dirty="0">
                    <a:latin typeface="Cambria Math" panose="02040503050406030204" pitchFamily="18" charset="0"/>
                  </a:rPr>
                  <a:t> ) + 20  = </a:t>
                </a:r>
                <a:r>
                  <a:rPr lang="en-US" i="1" dirty="0">
                    <a:latin typeface="Cambria Math" panose="02040503050406030204" pitchFamily="18" charset="0"/>
                  </a:rPr>
                  <a:t>0</a:t>
                </a:r>
                <a:r>
                  <a:rPr lang="tr-TR" i="1" dirty="0">
                    <a:latin typeface="Cambria Math" panose="02040503050406030204" pitchFamily="18" charset="0"/>
                  </a:rPr>
                  <a:t>,    </a:t>
                </a:r>
                <a:r>
                  <a:rPr lang="es-ES" i="1" dirty="0">
                    <a:latin typeface="Cambria Math" panose="02040503050406030204" pitchFamily="18" charset="0"/>
                  </a:rPr>
                  <a:t>ʎ</a:t>
                </a:r>
                <a:r>
                  <a:rPr lang="tr-TR" i="1" dirty="0">
                    <a:latin typeface="Cambria Math" panose="02040503050406030204" pitchFamily="18" charset="0"/>
                  </a:rPr>
                  <a:t> =16,8 </a:t>
                </a:r>
              </a:p>
              <a:p>
                <a:r>
                  <a:rPr lang="tr-TR" i="1" dirty="0">
                    <a:latin typeface="Cambria Math" panose="02040503050406030204" pitchFamily="18" charset="0"/>
                  </a:rPr>
                  <a:t>x=10,8 ve y=9,2</a:t>
                </a:r>
              </a:p>
              <a:p>
                <a:endParaRPr lang="tr-TR" i="1" dirty="0">
                  <a:latin typeface="Cambria Math" panose="02040503050406030204" pitchFamily="18" charset="0"/>
                </a:endParaRPr>
              </a:p>
            </p:txBody>
          </p:sp>
        </mc:Choice>
        <mc:Fallback xmlns="">
          <p:sp>
            <p:nvSpPr>
              <p:cNvPr id="13" name="Dikdörtgen 12"/>
              <p:cNvSpPr>
                <a:spLocks noRot="1" noChangeAspect="1" noMove="1" noResize="1" noEditPoints="1" noAdjustHandles="1" noChangeArrowheads="1" noChangeShapeType="1" noTextEdit="1"/>
              </p:cNvSpPr>
              <p:nvPr/>
            </p:nvSpPr>
            <p:spPr>
              <a:xfrm>
                <a:off x="9514" y="1523693"/>
                <a:ext cx="9134486" cy="4756046"/>
              </a:xfrm>
              <a:prstGeom prst="rect">
                <a:avLst/>
              </a:prstGeom>
              <a:blipFill>
                <a:blip r:embed="rId5"/>
                <a:stretch>
                  <a:fillRect l="-601" t="-897"/>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EBED8121-03BD-056A-381D-E3AD52CCE7C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7300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2" name="Metin kutusu 11"/>
          <p:cNvSpPr txBox="1"/>
          <p:nvPr/>
        </p:nvSpPr>
        <p:spPr>
          <a:xfrm>
            <a:off x="9738" y="692696"/>
            <a:ext cx="9145016" cy="830997"/>
          </a:xfrm>
          <a:prstGeom prst="rect">
            <a:avLst/>
          </a:prstGeom>
          <a:noFill/>
        </p:spPr>
        <p:txBody>
          <a:bodyPr wrap="square" rtlCol="0">
            <a:spAutoFit/>
          </a:bodyPr>
          <a:lstStyle/>
          <a:p>
            <a:pPr algn="ctr"/>
            <a:r>
              <a:rPr lang="tr-TR" sz="4800" b="1" dirty="0"/>
              <a:t>ÖRNEK 4</a:t>
            </a:r>
            <a:endParaRPr lang="tr-TR" sz="4800" dirty="0"/>
          </a:p>
        </p:txBody>
      </p:sp>
      <p:sp>
        <p:nvSpPr>
          <p:cNvPr id="13" name="Dikdörtgen 12"/>
          <p:cNvSpPr/>
          <p:nvPr/>
        </p:nvSpPr>
        <p:spPr>
          <a:xfrm>
            <a:off x="-31642" y="1413064"/>
            <a:ext cx="9186396" cy="1323439"/>
          </a:xfrm>
          <a:prstGeom prst="rect">
            <a:avLst/>
          </a:prstGeom>
        </p:spPr>
        <p:txBody>
          <a:bodyPr wrap="square">
            <a:spAutoFit/>
          </a:bodyPr>
          <a:lstStyle/>
          <a:p>
            <a:r>
              <a:rPr lang="tr-TR" sz="2000" b="1" dirty="0">
                <a:solidFill>
                  <a:srgbClr val="000000"/>
                </a:solidFill>
                <a:latin typeface="Times New Roman" panose="02020603050405020304" pitchFamily="18" charset="0"/>
              </a:rPr>
              <a:t>Örnek: </a:t>
            </a:r>
            <a:r>
              <a:rPr lang="tr-TR" sz="2000" dirty="0">
                <a:solidFill>
                  <a:srgbClr val="000000"/>
                </a:solidFill>
                <a:latin typeface="Times New Roman" panose="02020603050405020304" pitchFamily="18" charset="0"/>
              </a:rPr>
              <a:t>Karayolları müdürlüğü otoban ile bitişik devam eden bir piknik alanı kurmak istemektedir. Otoyola bitişik olacak şekilde toplam 5000m</a:t>
            </a:r>
            <a:r>
              <a:rPr lang="tr-TR" sz="2000" baseline="30000" dirty="0">
                <a:solidFill>
                  <a:srgbClr val="000000"/>
                </a:solidFill>
                <a:latin typeface="Times New Roman" panose="02020603050405020304" pitchFamily="18" charset="0"/>
              </a:rPr>
              <a:t>2 </a:t>
            </a:r>
            <a:r>
              <a:rPr lang="tr-TR" sz="2000" dirty="0">
                <a:solidFill>
                  <a:srgbClr val="000000"/>
                </a:solidFill>
                <a:latin typeface="Times New Roman" panose="02020603050405020304" pitchFamily="18" charset="0"/>
              </a:rPr>
              <a:t>alan ayrılacaktır. Otoyola bakmayan 3 tarafı çit ile çevrilecek olan piknik alanı için en az çit gerektiren tasarımı bulunuz.</a:t>
            </a:r>
          </a:p>
        </p:txBody>
      </p:sp>
      <p:sp>
        <p:nvSpPr>
          <p:cNvPr id="14" name="Dikdörtgen 13"/>
          <p:cNvSpPr/>
          <p:nvPr/>
        </p:nvSpPr>
        <p:spPr>
          <a:xfrm>
            <a:off x="-5490" y="2636912"/>
            <a:ext cx="5585602" cy="2862322"/>
          </a:xfrm>
          <a:prstGeom prst="rect">
            <a:avLst/>
          </a:prstGeom>
        </p:spPr>
        <p:txBody>
          <a:bodyPr wrap="square">
            <a:spAutoFit/>
          </a:bodyPr>
          <a:lstStyle/>
          <a:p>
            <a:r>
              <a:rPr lang="tr-TR" i="1" dirty="0">
                <a:latin typeface="Cambria Math" panose="02040503050406030204" pitchFamily="18" charset="0"/>
              </a:rPr>
              <a:t>			f(x , y) = x + 2y,</a:t>
            </a:r>
          </a:p>
          <a:p>
            <a:r>
              <a:rPr lang="tr-TR" i="1" dirty="0">
                <a:latin typeface="Cambria Math" panose="02040503050406030204" pitchFamily="18" charset="0"/>
              </a:rPr>
              <a:t>			</a:t>
            </a:r>
            <a:r>
              <a:rPr lang="tr-TR" i="1" dirty="0" err="1">
                <a:latin typeface="Cambria Math" panose="02040503050406030204" pitchFamily="18" charset="0"/>
              </a:rPr>
              <a:t>xy</a:t>
            </a:r>
            <a:r>
              <a:rPr lang="tr-TR" i="1" dirty="0">
                <a:latin typeface="Cambria Math" panose="02040503050406030204" pitchFamily="18" charset="0"/>
              </a:rPr>
              <a:t>=5000</a:t>
            </a:r>
          </a:p>
          <a:p>
            <a:endParaRPr lang="tr-TR" i="1" dirty="0">
              <a:latin typeface="Cambria Math" panose="02040503050406030204" pitchFamily="18" charset="0"/>
            </a:endParaRPr>
          </a:p>
          <a:p>
            <a:r>
              <a:rPr lang="tr-TR" i="1" dirty="0">
                <a:latin typeface="Cambria Math" panose="02040503050406030204" pitchFamily="18" charset="0"/>
              </a:rPr>
              <a:t>Lagrange metodu ile çözelim;</a:t>
            </a:r>
          </a:p>
          <a:p>
            <a:endParaRPr lang="tr-TR" i="1" dirty="0">
              <a:latin typeface="Cambria Math" panose="02040503050406030204" pitchFamily="18" charset="0"/>
            </a:endParaRPr>
          </a:p>
          <a:p>
            <a:r>
              <a:rPr lang="tr-TR" i="1" dirty="0">
                <a:latin typeface="Cambria Math" panose="02040503050406030204" pitchFamily="18" charset="0"/>
              </a:rPr>
              <a:t>Adım 1-</a:t>
            </a:r>
          </a:p>
          <a:p>
            <a:r>
              <a:rPr lang="tr-TR" i="1" dirty="0">
                <a:latin typeface="Cambria Math" panose="02040503050406030204" pitchFamily="18" charset="0"/>
              </a:rPr>
              <a:t>	Lagrange Fonksiyonunu oluşturalım;</a:t>
            </a:r>
          </a:p>
          <a:p>
            <a:endParaRPr lang="tr-TR" i="1" dirty="0">
              <a:latin typeface="Cambria Math" panose="02040503050406030204" pitchFamily="18" charset="0"/>
            </a:endParaRPr>
          </a:p>
          <a:p>
            <a:r>
              <a:rPr lang="tr-TR" dirty="0"/>
              <a:t>		</a:t>
            </a:r>
            <a:r>
              <a:rPr lang="es-ES" i="1" dirty="0">
                <a:latin typeface="Cambria Math" panose="02040503050406030204" pitchFamily="18" charset="0"/>
              </a:rPr>
              <a:t>L(x, y) = f(x, y)- ʎ</a:t>
            </a:r>
            <a:r>
              <a:rPr lang="tr-TR" i="1" dirty="0">
                <a:latin typeface="Cambria Math" panose="02040503050406030204" pitchFamily="18" charset="0"/>
              </a:rPr>
              <a:t> </a:t>
            </a:r>
            <a:r>
              <a:rPr lang="es-ES" i="1" dirty="0">
                <a:latin typeface="Cambria Math" panose="02040503050406030204" pitchFamily="18" charset="0"/>
              </a:rPr>
              <a:t>[g(x, y) - k] </a:t>
            </a:r>
            <a:endParaRPr lang="tr-TR" i="1" dirty="0">
              <a:latin typeface="Cambria Math" panose="02040503050406030204" pitchFamily="18" charset="0"/>
            </a:endParaRPr>
          </a:p>
          <a:p>
            <a:r>
              <a:rPr lang="tr-TR" i="1" dirty="0">
                <a:latin typeface="Cambria Math" panose="02040503050406030204" pitchFamily="18" charset="0"/>
              </a:rPr>
              <a:t>		</a:t>
            </a:r>
            <a:r>
              <a:rPr lang="es-ES" i="1" dirty="0">
                <a:latin typeface="Cambria Math" panose="02040503050406030204" pitchFamily="18" charset="0"/>
              </a:rPr>
              <a:t> L(x, y) = (</a:t>
            </a:r>
            <a:r>
              <a:rPr lang="tr-TR" i="1" dirty="0">
                <a:latin typeface="Cambria Math" panose="02040503050406030204" pitchFamily="18" charset="0"/>
              </a:rPr>
              <a:t>x+2y</a:t>
            </a:r>
            <a:r>
              <a:rPr lang="es-ES" i="1" dirty="0">
                <a:latin typeface="Cambria Math" panose="02040503050406030204" pitchFamily="18" charset="0"/>
              </a:rPr>
              <a:t>) </a:t>
            </a:r>
            <a:r>
              <a:rPr lang="tr-TR" i="1" dirty="0">
                <a:latin typeface="Cambria Math" panose="02040503050406030204" pitchFamily="18" charset="0"/>
              </a:rPr>
              <a:t>-</a:t>
            </a:r>
            <a:r>
              <a:rPr lang="es-ES" i="1" dirty="0">
                <a:latin typeface="Cambria Math" panose="02040503050406030204" pitchFamily="18" charset="0"/>
              </a:rPr>
              <a:t> ʎ (x y </a:t>
            </a:r>
            <a:r>
              <a:rPr lang="tr-TR" i="1" dirty="0">
                <a:latin typeface="Cambria Math" panose="02040503050406030204" pitchFamily="18" charset="0"/>
              </a:rPr>
              <a:t>-</a:t>
            </a:r>
            <a:r>
              <a:rPr lang="es-ES" i="1" dirty="0">
                <a:latin typeface="Cambria Math" panose="02040503050406030204" pitchFamily="18" charset="0"/>
              </a:rPr>
              <a:t> </a:t>
            </a:r>
            <a:r>
              <a:rPr lang="tr-TR" i="1" dirty="0">
                <a:latin typeface="Cambria Math" panose="02040503050406030204" pitchFamily="18" charset="0"/>
              </a:rPr>
              <a:t>5000</a:t>
            </a:r>
            <a:r>
              <a:rPr lang="es-ES" i="1" dirty="0">
                <a:latin typeface="Cambria Math" panose="02040503050406030204" pitchFamily="18" charset="0"/>
              </a:rPr>
              <a:t>)</a:t>
            </a:r>
            <a:endParaRPr lang="tr-TR" i="1" dirty="0">
              <a:latin typeface="Cambria Math" panose="02040503050406030204" pitchFamily="18" charset="0"/>
            </a:endParaRPr>
          </a:p>
        </p:txBody>
      </p:sp>
      <p:grpSp>
        <p:nvGrpSpPr>
          <p:cNvPr id="16" name="Grup 15"/>
          <p:cNvGrpSpPr/>
          <p:nvPr/>
        </p:nvGrpSpPr>
        <p:grpSpPr>
          <a:xfrm>
            <a:off x="6444208" y="2622609"/>
            <a:ext cx="2232248" cy="3614703"/>
            <a:chOff x="6444208" y="2721799"/>
            <a:chExt cx="2232248" cy="3614703"/>
          </a:xfrm>
        </p:grpSpPr>
        <p:sp>
          <p:nvSpPr>
            <p:cNvPr id="17" name="Dikdörtgen 16"/>
            <p:cNvSpPr/>
            <p:nvPr/>
          </p:nvSpPr>
          <p:spPr>
            <a:xfrm>
              <a:off x="6786537" y="3617441"/>
              <a:ext cx="1224136" cy="172819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tr-TR" dirty="0"/>
                <a:t>Piknik Alanı</a:t>
              </a:r>
            </a:p>
          </p:txBody>
        </p:sp>
        <p:cxnSp>
          <p:nvCxnSpPr>
            <p:cNvPr id="18" name="Düz Bağlayıcı 17"/>
            <p:cNvCxnSpPr/>
            <p:nvPr/>
          </p:nvCxnSpPr>
          <p:spPr>
            <a:xfrm>
              <a:off x="8028384" y="2736502"/>
              <a:ext cx="0" cy="3600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Düz Bağlayıcı 18"/>
            <p:cNvCxnSpPr/>
            <p:nvPr/>
          </p:nvCxnSpPr>
          <p:spPr>
            <a:xfrm>
              <a:off x="8676456" y="2734678"/>
              <a:ext cx="0" cy="3600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Düz Bağlayıcı 19"/>
            <p:cNvCxnSpPr/>
            <p:nvPr/>
          </p:nvCxnSpPr>
          <p:spPr>
            <a:xfrm>
              <a:off x="8375545" y="2721799"/>
              <a:ext cx="0" cy="360000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21" name="Metin kutusu 20"/>
            <p:cNvSpPr txBox="1"/>
            <p:nvPr/>
          </p:nvSpPr>
          <p:spPr>
            <a:xfrm>
              <a:off x="7308304" y="3275692"/>
              <a:ext cx="576064" cy="369332"/>
            </a:xfrm>
            <a:prstGeom prst="rect">
              <a:avLst/>
            </a:prstGeom>
            <a:noFill/>
          </p:spPr>
          <p:txBody>
            <a:bodyPr wrap="square" rtlCol="0">
              <a:spAutoFit/>
            </a:bodyPr>
            <a:lstStyle/>
            <a:p>
              <a:r>
                <a:rPr lang="tr-TR" b="1" dirty="0"/>
                <a:t>y</a:t>
              </a:r>
            </a:p>
          </p:txBody>
        </p:sp>
        <p:sp>
          <p:nvSpPr>
            <p:cNvPr id="22" name="Metin kutusu 21"/>
            <p:cNvSpPr txBox="1"/>
            <p:nvPr/>
          </p:nvSpPr>
          <p:spPr>
            <a:xfrm>
              <a:off x="7308304" y="5229200"/>
              <a:ext cx="576064" cy="369332"/>
            </a:xfrm>
            <a:prstGeom prst="rect">
              <a:avLst/>
            </a:prstGeom>
            <a:noFill/>
          </p:spPr>
          <p:txBody>
            <a:bodyPr wrap="square" rtlCol="0">
              <a:spAutoFit/>
            </a:bodyPr>
            <a:lstStyle/>
            <a:p>
              <a:r>
                <a:rPr lang="tr-TR" b="1" dirty="0"/>
                <a:t>y</a:t>
              </a:r>
            </a:p>
          </p:txBody>
        </p:sp>
        <p:sp>
          <p:nvSpPr>
            <p:cNvPr id="23" name="Metin kutusu 22"/>
            <p:cNvSpPr txBox="1"/>
            <p:nvPr/>
          </p:nvSpPr>
          <p:spPr>
            <a:xfrm>
              <a:off x="6444208" y="4283804"/>
              <a:ext cx="576064" cy="369332"/>
            </a:xfrm>
            <a:prstGeom prst="rect">
              <a:avLst/>
            </a:prstGeom>
            <a:noFill/>
          </p:spPr>
          <p:txBody>
            <a:bodyPr wrap="square" rtlCol="0">
              <a:spAutoFit/>
            </a:bodyPr>
            <a:lstStyle/>
            <a:p>
              <a:r>
                <a:rPr lang="tr-TR" b="1" dirty="0"/>
                <a:t>x</a:t>
              </a:r>
            </a:p>
          </p:txBody>
        </p:sp>
      </p:grpSp>
      <p:pic>
        <p:nvPicPr>
          <p:cNvPr id="3" name="Resim 4">
            <a:extLst>
              <a:ext uri="{FF2B5EF4-FFF2-40B4-BE49-F238E27FC236}">
                <a16:creationId xmlns:a16="http://schemas.microsoft.com/office/drawing/2014/main" id="{B0E7469D-8736-790D-EA72-6F14CF5C63C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01389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pic>
        <p:nvPicPr>
          <p:cNvPr id="9"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
        <p:nvSpPr>
          <p:cNvPr id="13" name="Metin kutusu 12"/>
          <p:cNvSpPr txBox="1"/>
          <p:nvPr/>
        </p:nvSpPr>
        <p:spPr>
          <a:xfrm>
            <a:off x="9738" y="692696"/>
            <a:ext cx="9145016" cy="830997"/>
          </a:xfrm>
          <a:prstGeom prst="rect">
            <a:avLst/>
          </a:prstGeom>
          <a:noFill/>
        </p:spPr>
        <p:txBody>
          <a:bodyPr wrap="square" rtlCol="0">
            <a:spAutoFit/>
          </a:bodyPr>
          <a:lstStyle/>
          <a:p>
            <a:pPr algn="ctr"/>
            <a:r>
              <a:rPr lang="tr-TR" sz="4800" b="1" dirty="0"/>
              <a:t>ÖRNEK 4</a:t>
            </a:r>
            <a:endParaRPr lang="tr-TR" sz="4800" dirty="0"/>
          </a:p>
        </p:txBody>
      </p:sp>
      <p:sp>
        <p:nvSpPr>
          <p:cNvPr id="14" name="Dikdörtgen 13"/>
          <p:cNvSpPr/>
          <p:nvPr/>
        </p:nvSpPr>
        <p:spPr>
          <a:xfrm>
            <a:off x="-5490" y="2050970"/>
            <a:ext cx="9134486" cy="3970318"/>
          </a:xfrm>
          <a:prstGeom prst="rect">
            <a:avLst/>
          </a:prstGeom>
        </p:spPr>
        <p:txBody>
          <a:bodyPr wrap="square">
            <a:spAutoFit/>
          </a:bodyPr>
          <a:lstStyle/>
          <a:p>
            <a:r>
              <a:rPr lang="tr-TR" i="1" dirty="0">
                <a:latin typeface="Cambria Math" panose="02040503050406030204" pitchFamily="18" charset="0"/>
              </a:rPr>
              <a:t>Adım 2-</a:t>
            </a:r>
          </a:p>
          <a:p>
            <a:r>
              <a:rPr lang="tr-TR" i="1" dirty="0">
                <a:latin typeface="Cambria Math" panose="02040503050406030204" pitchFamily="18" charset="0"/>
              </a:rPr>
              <a:t>	Kısmı türevlere göre </a:t>
            </a:r>
            <a:r>
              <a:rPr lang="en-US" i="1" dirty="0">
                <a:latin typeface="Cambria Math" panose="02040503050406030204" pitchFamily="18" charset="0"/>
              </a:rPr>
              <a:t> L</a:t>
            </a:r>
            <a:r>
              <a:rPr lang="en-US" i="1" baseline="-25000" dirty="0">
                <a:latin typeface="Cambria Math" panose="02040503050406030204" pitchFamily="18" charset="0"/>
              </a:rPr>
              <a:t>x</a:t>
            </a:r>
            <a:r>
              <a:rPr lang="en-US" i="1" dirty="0">
                <a:latin typeface="Cambria Math" panose="02040503050406030204" pitchFamily="18" charset="0"/>
              </a:rPr>
              <a:t> = 0, L</a:t>
            </a:r>
            <a:r>
              <a:rPr lang="en-US" i="1" baseline="-25000" dirty="0">
                <a:latin typeface="Cambria Math" panose="02040503050406030204" pitchFamily="18" charset="0"/>
              </a:rPr>
              <a:t>y</a:t>
            </a:r>
            <a:r>
              <a:rPr lang="en-US" i="1" dirty="0">
                <a:latin typeface="Cambria Math" panose="02040503050406030204" pitchFamily="18" charset="0"/>
              </a:rPr>
              <a:t> = 0 and L</a:t>
            </a:r>
            <a:r>
              <a:rPr lang="es-ES" i="1" baseline="-25000" dirty="0">
                <a:latin typeface="Cambria Math" panose="02040503050406030204" pitchFamily="18" charset="0"/>
              </a:rPr>
              <a:t>ʎ</a:t>
            </a:r>
            <a:r>
              <a:rPr lang="en-US" i="1" dirty="0">
                <a:latin typeface="Cambria Math" panose="02040503050406030204" pitchFamily="18" charset="0"/>
              </a:rPr>
              <a:t> = 0</a:t>
            </a:r>
            <a:r>
              <a:rPr lang="tr-TR" i="1" dirty="0">
                <a:latin typeface="Cambria Math" panose="02040503050406030204" pitchFamily="18" charset="0"/>
              </a:rPr>
              <a:t>;</a:t>
            </a:r>
          </a:p>
          <a:p>
            <a:r>
              <a:rPr lang="tr-TR" i="1" dirty="0">
                <a:latin typeface="Cambria Math" panose="02040503050406030204" pitchFamily="18" charset="0"/>
              </a:rPr>
              <a:t>	</a:t>
            </a:r>
          </a:p>
          <a:p>
            <a:r>
              <a:rPr lang="tr-TR" i="1" dirty="0">
                <a:latin typeface="Cambria Math" panose="02040503050406030204" pitchFamily="18" charset="0"/>
              </a:rPr>
              <a:t>	</a:t>
            </a:r>
            <a:r>
              <a:rPr lang="en-US" i="1" dirty="0">
                <a:latin typeface="Cambria Math" panose="02040503050406030204" pitchFamily="18" charset="0"/>
              </a:rPr>
              <a:t>L</a:t>
            </a:r>
            <a:r>
              <a:rPr lang="en-US" i="1" baseline="-25000" dirty="0">
                <a:latin typeface="Cambria Math" panose="02040503050406030204" pitchFamily="18" charset="0"/>
              </a:rPr>
              <a:t>x</a:t>
            </a:r>
            <a:r>
              <a:rPr lang="en-US" i="1" dirty="0">
                <a:latin typeface="Cambria Math" panose="02040503050406030204" pitchFamily="18" charset="0"/>
              </a:rPr>
              <a:t> = </a:t>
            </a:r>
            <a:r>
              <a:rPr lang="tr-TR" i="1" dirty="0">
                <a:latin typeface="Cambria Math" panose="02040503050406030204" pitchFamily="18" charset="0"/>
              </a:rPr>
              <a:t>1 - </a:t>
            </a:r>
            <a:r>
              <a:rPr lang="es-ES" i="1" dirty="0">
                <a:latin typeface="Cambria Math" panose="02040503050406030204" pitchFamily="18" charset="0"/>
              </a:rPr>
              <a:t>ʎ</a:t>
            </a:r>
            <a:r>
              <a:rPr lang="tr-TR" i="1" dirty="0">
                <a:latin typeface="Cambria Math" panose="02040503050406030204" pitchFamily="18" charset="0"/>
              </a:rPr>
              <a:t>y =  0</a:t>
            </a:r>
            <a:r>
              <a:rPr lang="en-US" i="1" dirty="0">
                <a:latin typeface="Cambria Math" panose="02040503050406030204" pitchFamily="18" charset="0"/>
              </a:rPr>
              <a:t>, </a:t>
            </a:r>
            <a:endParaRPr lang="tr-TR" i="1" dirty="0">
              <a:latin typeface="Cambria Math" panose="02040503050406030204" pitchFamily="18" charset="0"/>
            </a:endParaRPr>
          </a:p>
          <a:p>
            <a:r>
              <a:rPr lang="tr-TR" i="1" dirty="0">
                <a:latin typeface="Cambria Math" panose="02040503050406030204" pitchFamily="18" charset="0"/>
              </a:rPr>
              <a:t>	</a:t>
            </a:r>
            <a:r>
              <a:rPr lang="en-US" i="1" dirty="0">
                <a:latin typeface="Cambria Math" panose="02040503050406030204" pitchFamily="18" charset="0"/>
              </a:rPr>
              <a:t>L</a:t>
            </a:r>
            <a:r>
              <a:rPr lang="en-US" i="1" baseline="-25000" dirty="0">
                <a:latin typeface="Cambria Math" panose="02040503050406030204" pitchFamily="18" charset="0"/>
              </a:rPr>
              <a:t>y </a:t>
            </a:r>
            <a:r>
              <a:rPr lang="en-US" i="1" dirty="0">
                <a:latin typeface="Cambria Math" panose="02040503050406030204" pitchFamily="18" charset="0"/>
              </a:rPr>
              <a:t>= </a:t>
            </a:r>
            <a:r>
              <a:rPr lang="tr-TR" i="1" dirty="0">
                <a:latin typeface="Cambria Math" panose="02040503050406030204" pitchFamily="18" charset="0"/>
              </a:rPr>
              <a:t>2 - </a:t>
            </a:r>
            <a:r>
              <a:rPr lang="es-ES" i="1" dirty="0">
                <a:latin typeface="Cambria Math" panose="02040503050406030204" pitchFamily="18" charset="0"/>
              </a:rPr>
              <a:t>ʎ</a:t>
            </a:r>
            <a:r>
              <a:rPr lang="tr-TR" i="1" dirty="0">
                <a:latin typeface="Cambria Math" panose="02040503050406030204" pitchFamily="18" charset="0"/>
              </a:rPr>
              <a:t>x  = </a:t>
            </a:r>
            <a:r>
              <a:rPr lang="en-US" i="1" dirty="0">
                <a:latin typeface="Cambria Math" panose="02040503050406030204" pitchFamily="18" charset="0"/>
              </a:rPr>
              <a:t>0</a:t>
            </a:r>
            <a:r>
              <a:rPr lang="tr-TR" i="1" dirty="0">
                <a:latin typeface="Cambria Math" panose="02040503050406030204" pitchFamily="18" charset="0"/>
              </a:rPr>
              <a:t>,</a:t>
            </a:r>
            <a:r>
              <a:rPr lang="en-US" i="1" dirty="0">
                <a:latin typeface="Cambria Math" panose="02040503050406030204" pitchFamily="18" charset="0"/>
              </a:rPr>
              <a:t> </a:t>
            </a:r>
            <a:endParaRPr lang="tr-TR" i="1" dirty="0">
              <a:latin typeface="Cambria Math" panose="02040503050406030204" pitchFamily="18" charset="0"/>
            </a:endParaRPr>
          </a:p>
          <a:p>
            <a:r>
              <a:rPr lang="tr-TR" i="1" dirty="0">
                <a:latin typeface="Cambria Math" panose="02040503050406030204" pitchFamily="18" charset="0"/>
              </a:rPr>
              <a:t>	</a:t>
            </a:r>
            <a:r>
              <a:rPr lang="en-US" i="1" dirty="0">
                <a:latin typeface="Cambria Math" panose="02040503050406030204" pitchFamily="18" charset="0"/>
              </a:rPr>
              <a:t>L</a:t>
            </a:r>
            <a:r>
              <a:rPr lang="es-ES" i="1" baseline="-25000" dirty="0">
                <a:latin typeface="Cambria Math" panose="02040503050406030204" pitchFamily="18" charset="0"/>
              </a:rPr>
              <a:t>ʎ</a:t>
            </a:r>
            <a:r>
              <a:rPr lang="en-US" i="1" baseline="-25000" dirty="0">
                <a:latin typeface="Cambria Math" panose="02040503050406030204" pitchFamily="18" charset="0"/>
              </a:rPr>
              <a:t> </a:t>
            </a:r>
            <a:r>
              <a:rPr lang="en-US" i="1" dirty="0">
                <a:latin typeface="Cambria Math" panose="02040503050406030204" pitchFamily="18" charset="0"/>
              </a:rPr>
              <a:t>= </a:t>
            </a:r>
            <a:r>
              <a:rPr lang="tr-TR" i="1" dirty="0">
                <a:latin typeface="Cambria Math" panose="02040503050406030204" pitchFamily="18" charset="0"/>
              </a:rPr>
              <a:t>- </a:t>
            </a:r>
            <a:r>
              <a:rPr lang="es-ES" i="1" dirty="0">
                <a:latin typeface="Cambria Math" panose="02040503050406030204" pitchFamily="18" charset="0"/>
              </a:rPr>
              <a:t>x</a:t>
            </a:r>
            <a:r>
              <a:rPr lang="tr-TR" i="1" dirty="0">
                <a:latin typeface="Cambria Math" panose="02040503050406030204" pitchFamily="18" charset="0"/>
              </a:rPr>
              <a:t>y + 5000  = </a:t>
            </a:r>
            <a:r>
              <a:rPr lang="en-US" i="1" dirty="0">
                <a:latin typeface="Cambria Math" panose="02040503050406030204" pitchFamily="18" charset="0"/>
              </a:rPr>
              <a:t>0</a:t>
            </a:r>
            <a:r>
              <a:rPr lang="tr-TR" i="1" dirty="0">
                <a:latin typeface="Cambria Math" panose="02040503050406030204" pitchFamily="18" charset="0"/>
              </a:rPr>
              <a:t>,</a:t>
            </a:r>
          </a:p>
          <a:p>
            <a:endParaRPr lang="tr-TR" i="1" dirty="0">
              <a:latin typeface="Cambria Math" panose="02040503050406030204" pitchFamily="18" charset="0"/>
            </a:endParaRPr>
          </a:p>
          <a:p>
            <a:r>
              <a:rPr lang="tr-TR" i="1" dirty="0">
                <a:latin typeface="Cambria Math" panose="02040503050406030204" pitchFamily="18" charset="0"/>
              </a:rPr>
              <a:t>Adım 3- </a:t>
            </a:r>
          </a:p>
          <a:p>
            <a:r>
              <a:rPr lang="tr-TR" i="1" dirty="0">
                <a:latin typeface="Cambria Math" panose="02040503050406030204" pitchFamily="18" charset="0"/>
              </a:rPr>
              <a:t>	</a:t>
            </a:r>
            <a:r>
              <a:rPr lang="en-US" i="1" dirty="0">
                <a:latin typeface="Cambria Math" panose="02040503050406030204" pitchFamily="18" charset="0"/>
              </a:rPr>
              <a:t> L</a:t>
            </a:r>
            <a:r>
              <a:rPr lang="en-US" i="1" baseline="-25000" dirty="0">
                <a:latin typeface="Cambria Math" panose="02040503050406030204" pitchFamily="18" charset="0"/>
              </a:rPr>
              <a:t>x</a:t>
            </a:r>
            <a:r>
              <a:rPr lang="en-US" i="1" dirty="0">
                <a:latin typeface="Cambria Math" panose="02040503050406030204" pitchFamily="18" charset="0"/>
              </a:rPr>
              <a:t> = 0</a:t>
            </a:r>
            <a:r>
              <a:rPr lang="tr-TR" i="1" dirty="0">
                <a:latin typeface="Cambria Math" panose="02040503050406030204" pitchFamily="18" charset="0"/>
              </a:rPr>
              <a:t> ve</a:t>
            </a:r>
            <a:r>
              <a:rPr lang="en-US" i="1" dirty="0">
                <a:latin typeface="Cambria Math" panose="02040503050406030204" pitchFamily="18" charset="0"/>
              </a:rPr>
              <a:t> L</a:t>
            </a:r>
            <a:r>
              <a:rPr lang="en-US" i="1" baseline="-25000" dirty="0">
                <a:latin typeface="Cambria Math" panose="02040503050406030204" pitchFamily="18" charset="0"/>
              </a:rPr>
              <a:t>y</a:t>
            </a:r>
            <a:r>
              <a:rPr lang="en-US" i="1" dirty="0">
                <a:latin typeface="Cambria Math" panose="02040503050406030204" pitchFamily="18" charset="0"/>
              </a:rPr>
              <a:t> = 0 </a:t>
            </a:r>
            <a:r>
              <a:rPr lang="tr-TR" i="1" dirty="0">
                <a:latin typeface="Cambria Math" panose="02040503050406030204" pitchFamily="18" charset="0"/>
              </a:rPr>
              <a:t> kullanılarak, 1= </a:t>
            </a:r>
            <a:r>
              <a:rPr lang="es-ES" i="1" dirty="0">
                <a:latin typeface="Cambria Math" panose="02040503050406030204" pitchFamily="18" charset="0"/>
              </a:rPr>
              <a:t>ʎ</a:t>
            </a:r>
            <a:r>
              <a:rPr lang="tr-TR" i="1" dirty="0">
                <a:latin typeface="Cambria Math" panose="02040503050406030204" pitchFamily="18" charset="0"/>
              </a:rPr>
              <a:t>y  ve 2=</a:t>
            </a:r>
            <a:r>
              <a:rPr lang="es-ES" i="1" dirty="0">
                <a:latin typeface="Cambria Math" panose="02040503050406030204" pitchFamily="18" charset="0"/>
              </a:rPr>
              <a:t>ʎ</a:t>
            </a:r>
            <a:r>
              <a:rPr lang="tr-TR" i="1" dirty="0">
                <a:latin typeface="Cambria Math" panose="02040503050406030204" pitchFamily="18" charset="0"/>
              </a:rPr>
              <a:t>x  olarak bulunur. </a:t>
            </a:r>
            <a:r>
              <a:rPr lang="en-US" i="1" dirty="0">
                <a:latin typeface="Cambria Math" panose="02040503050406030204" pitchFamily="18" charset="0"/>
              </a:rPr>
              <a:t>L</a:t>
            </a:r>
            <a:r>
              <a:rPr lang="es-ES" i="1" baseline="-25000" dirty="0">
                <a:latin typeface="Cambria Math" panose="02040503050406030204" pitchFamily="18" charset="0"/>
              </a:rPr>
              <a:t>ʎ</a:t>
            </a:r>
            <a:r>
              <a:rPr lang="en-US" i="1" dirty="0">
                <a:latin typeface="Cambria Math" panose="02040503050406030204" pitchFamily="18" charset="0"/>
              </a:rPr>
              <a:t> = 0</a:t>
            </a:r>
            <a:r>
              <a:rPr lang="tr-TR" i="1" dirty="0">
                <a:latin typeface="Cambria Math" panose="02040503050406030204" pitchFamily="18" charset="0"/>
              </a:rPr>
              <a:t> denkleminde yerine yazarak bilinmeyenler hesaplanabilir.</a:t>
            </a:r>
          </a:p>
          <a:p>
            <a:endParaRPr lang="tr-TR" i="1" dirty="0">
              <a:latin typeface="Cambria Math" panose="02040503050406030204" pitchFamily="18" charset="0"/>
            </a:endParaRPr>
          </a:p>
          <a:p>
            <a:r>
              <a:rPr lang="tr-TR" i="1" dirty="0">
                <a:latin typeface="Cambria Math" panose="02040503050406030204" pitchFamily="18" charset="0"/>
              </a:rPr>
              <a:t>		</a:t>
            </a:r>
            <a:r>
              <a:rPr lang="en-US" i="1" dirty="0">
                <a:latin typeface="Cambria Math" panose="02040503050406030204" pitchFamily="18" charset="0"/>
              </a:rPr>
              <a:t>L</a:t>
            </a:r>
            <a:r>
              <a:rPr lang="es-ES" i="1" baseline="-25000" dirty="0">
                <a:latin typeface="Cambria Math" panose="02040503050406030204" pitchFamily="18" charset="0"/>
              </a:rPr>
              <a:t>ʎ</a:t>
            </a:r>
            <a:r>
              <a:rPr lang="en-US" i="1" baseline="-25000" dirty="0">
                <a:latin typeface="Cambria Math" panose="02040503050406030204" pitchFamily="18" charset="0"/>
              </a:rPr>
              <a:t> </a:t>
            </a:r>
            <a:r>
              <a:rPr lang="en-US" i="1" dirty="0">
                <a:latin typeface="Cambria Math" panose="02040503050406030204" pitchFamily="18" charset="0"/>
              </a:rPr>
              <a:t>= </a:t>
            </a:r>
            <a:r>
              <a:rPr lang="tr-TR" i="1" dirty="0">
                <a:latin typeface="Cambria Math" panose="02040503050406030204" pitchFamily="18" charset="0"/>
              </a:rPr>
              <a:t>- </a:t>
            </a:r>
            <a:r>
              <a:rPr lang="es-ES" i="1" dirty="0">
                <a:latin typeface="Cambria Math" panose="02040503050406030204" pitchFamily="18" charset="0"/>
              </a:rPr>
              <a:t>x</a:t>
            </a:r>
            <a:r>
              <a:rPr lang="tr-TR" i="1" dirty="0">
                <a:latin typeface="Cambria Math" panose="02040503050406030204" pitchFamily="18" charset="0"/>
              </a:rPr>
              <a:t>y + 5000  = </a:t>
            </a:r>
            <a:r>
              <a:rPr lang="en-US" i="1" dirty="0">
                <a:latin typeface="Cambria Math" panose="02040503050406030204" pitchFamily="18" charset="0"/>
              </a:rPr>
              <a:t>0</a:t>
            </a:r>
            <a:r>
              <a:rPr lang="tr-TR" i="1" dirty="0">
                <a:latin typeface="Cambria Math" panose="02040503050406030204" pitchFamily="18" charset="0"/>
              </a:rPr>
              <a:t>, 	x=2/</a:t>
            </a:r>
            <a:r>
              <a:rPr lang="es-ES" i="1" dirty="0">
                <a:latin typeface="Cambria Math" panose="02040503050406030204" pitchFamily="18" charset="0"/>
              </a:rPr>
              <a:t> ʎ</a:t>
            </a:r>
            <a:r>
              <a:rPr lang="tr-TR" i="1" dirty="0">
                <a:latin typeface="Cambria Math" panose="02040503050406030204" pitchFamily="18" charset="0"/>
              </a:rPr>
              <a:t> ve y = 1/</a:t>
            </a:r>
            <a:r>
              <a:rPr lang="es-ES" i="1" dirty="0">
                <a:latin typeface="Cambria Math" panose="02040503050406030204" pitchFamily="18" charset="0"/>
              </a:rPr>
              <a:t> ʎ</a:t>
            </a:r>
            <a:r>
              <a:rPr lang="tr-TR" i="1" dirty="0">
                <a:latin typeface="Cambria Math" panose="02040503050406030204" pitchFamily="18" charset="0"/>
              </a:rPr>
              <a:t>  ise  x=2y</a:t>
            </a:r>
          </a:p>
          <a:p>
            <a:endParaRPr lang="tr-TR" i="1" dirty="0">
              <a:latin typeface="Cambria Math" panose="02040503050406030204" pitchFamily="18" charset="0"/>
            </a:endParaRPr>
          </a:p>
          <a:p>
            <a:pPr algn="ctr"/>
            <a:r>
              <a:rPr lang="tr-TR" i="1" dirty="0">
                <a:latin typeface="Cambria Math" panose="02040503050406030204" pitchFamily="18" charset="0"/>
              </a:rPr>
              <a:t>2y</a:t>
            </a:r>
            <a:r>
              <a:rPr lang="tr-TR" i="1" baseline="30000" dirty="0">
                <a:latin typeface="Cambria Math" panose="02040503050406030204" pitchFamily="18" charset="0"/>
              </a:rPr>
              <a:t>2</a:t>
            </a:r>
            <a:r>
              <a:rPr lang="tr-TR" i="1" dirty="0">
                <a:latin typeface="Cambria Math" panose="02040503050406030204" pitchFamily="18" charset="0"/>
              </a:rPr>
              <a:t>=5000, 	 y = </a:t>
            </a:r>
            <a:r>
              <a:rPr lang="tr-TR" i="1" baseline="30000" dirty="0">
                <a:latin typeface="Cambria Math" panose="02040503050406030204" pitchFamily="18" charset="0"/>
              </a:rPr>
              <a:t>±</a:t>
            </a:r>
            <a:r>
              <a:rPr lang="tr-TR" i="1" dirty="0">
                <a:latin typeface="Cambria Math" panose="02040503050406030204" pitchFamily="18" charset="0"/>
              </a:rPr>
              <a:t>50   ve    x=100 olarak hesaplanır.</a:t>
            </a:r>
          </a:p>
        </p:txBody>
      </p:sp>
    </p:spTree>
    <p:extLst>
      <p:ext uri="{BB962C8B-B14F-4D97-AF65-F5344CB8AC3E}">
        <p14:creationId xmlns:p14="http://schemas.microsoft.com/office/powerpoint/2010/main" val="10088642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pic>
        <p:nvPicPr>
          <p:cNvPr id="9"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
        <p:nvSpPr>
          <p:cNvPr id="10" name="İçerik Yer Tutucusu 2"/>
          <p:cNvSpPr txBox="1">
            <a:spLocks/>
          </p:cNvSpPr>
          <p:nvPr/>
        </p:nvSpPr>
        <p:spPr bwMode="auto">
          <a:xfrm>
            <a:off x="899592" y="1412776"/>
            <a:ext cx="8235478"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tr-TR" sz="2000" dirty="0"/>
          </a:p>
        </p:txBody>
      </p:sp>
      <p:sp>
        <p:nvSpPr>
          <p:cNvPr id="12" name="Metin kutusu 11"/>
          <p:cNvSpPr txBox="1"/>
          <p:nvPr/>
        </p:nvSpPr>
        <p:spPr>
          <a:xfrm>
            <a:off x="9738" y="692696"/>
            <a:ext cx="9145016" cy="830997"/>
          </a:xfrm>
          <a:prstGeom prst="rect">
            <a:avLst/>
          </a:prstGeom>
          <a:noFill/>
        </p:spPr>
        <p:txBody>
          <a:bodyPr wrap="square" rtlCol="0">
            <a:spAutoFit/>
          </a:bodyPr>
          <a:lstStyle/>
          <a:p>
            <a:pPr algn="ctr"/>
            <a:r>
              <a:rPr lang="tr-TR" sz="4800" b="1" dirty="0" err="1"/>
              <a:t>Kuhn-Tucker</a:t>
            </a:r>
            <a:r>
              <a:rPr lang="tr-TR" sz="4800" b="1" dirty="0"/>
              <a:t> Şartları</a:t>
            </a:r>
            <a:endParaRPr lang="tr-TR" sz="4800" dirty="0"/>
          </a:p>
        </p:txBody>
      </p:sp>
      <p:sp>
        <p:nvSpPr>
          <p:cNvPr id="13" name="Metin kutusu 12"/>
          <p:cNvSpPr txBox="1"/>
          <p:nvPr/>
        </p:nvSpPr>
        <p:spPr>
          <a:xfrm>
            <a:off x="0" y="1556792"/>
            <a:ext cx="9154754" cy="4801314"/>
          </a:xfrm>
          <a:prstGeom prst="rect">
            <a:avLst/>
          </a:prstGeom>
          <a:noFill/>
        </p:spPr>
        <p:txBody>
          <a:bodyPr wrap="square" rtlCol="0">
            <a:spAutoFit/>
          </a:bodyPr>
          <a:lstStyle/>
          <a:p>
            <a:r>
              <a:rPr lang="tr-TR" dirty="0"/>
              <a:t>Doğrusal olmayan modelde eşitlik </a:t>
            </a:r>
            <a:r>
              <a:rPr lang="tr-TR" dirty="0" err="1"/>
              <a:t>kısıtından</a:t>
            </a:r>
            <a:r>
              <a:rPr lang="tr-TR" dirty="0"/>
              <a:t> başka büyük eşit veya küçük eşit </a:t>
            </a:r>
            <a:r>
              <a:rPr lang="tr-TR" dirty="0" err="1"/>
              <a:t>kısıtı</a:t>
            </a:r>
            <a:r>
              <a:rPr lang="tr-TR" dirty="0"/>
              <a:t> olduğunda </a:t>
            </a:r>
            <a:r>
              <a:rPr lang="tr-TR" dirty="0" err="1"/>
              <a:t>Lagrange</a:t>
            </a:r>
            <a:r>
              <a:rPr lang="tr-TR" dirty="0"/>
              <a:t> çarpanları yöntemini kullanamayız. Böyle durumlarda eşitlik ve büyük eşit kısıtlarını küçük eşit formunda aşağıdaki gibi yazdıktan sonra </a:t>
            </a:r>
            <a:r>
              <a:rPr lang="tr-TR" dirty="0" err="1"/>
              <a:t>Kuhn-Tucker</a:t>
            </a:r>
            <a:r>
              <a:rPr lang="tr-TR" dirty="0"/>
              <a:t> şartlarını uygulayabiliriz:</a:t>
            </a:r>
          </a:p>
          <a:p>
            <a:pPr algn="ctr"/>
            <a:r>
              <a:rPr lang="tr-TR" dirty="0" err="1"/>
              <a:t>maks</a:t>
            </a:r>
            <a:r>
              <a:rPr lang="tr-TR" dirty="0"/>
              <a:t>. (</a:t>
            </a:r>
            <a:r>
              <a:rPr lang="tr-TR" dirty="0" err="1"/>
              <a:t>or</a:t>
            </a:r>
            <a:r>
              <a:rPr lang="tr-TR" dirty="0"/>
              <a:t> min.) f(x</a:t>
            </a:r>
            <a:r>
              <a:rPr lang="tr-TR" baseline="-25000" dirty="0"/>
              <a:t>1</a:t>
            </a:r>
            <a:r>
              <a:rPr lang="tr-TR" dirty="0"/>
              <a:t>, x</a:t>
            </a:r>
            <a:r>
              <a:rPr lang="tr-TR" baseline="-25000" dirty="0"/>
              <a:t>2</a:t>
            </a:r>
            <a:r>
              <a:rPr lang="tr-TR" dirty="0"/>
              <a:t>, …, </a:t>
            </a:r>
            <a:r>
              <a:rPr lang="tr-TR" dirty="0" err="1"/>
              <a:t>x</a:t>
            </a:r>
            <a:r>
              <a:rPr lang="tr-TR" baseline="-25000" dirty="0" err="1"/>
              <a:t>n</a:t>
            </a:r>
            <a:r>
              <a:rPr lang="tr-TR" dirty="0"/>
              <a:t>)</a:t>
            </a:r>
          </a:p>
          <a:p>
            <a:pPr algn="ctr"/>
            <a:r>
              <a:rPr lang="tr-TR" dirty="0"/>
              <a:t>g</a:t>
            </a:r>
            <a:r>
              <a:rPr lang="tr-TR" baseline="-25000" dirty="0"/>
              <a:t>1</a:t>
            </a:r>
            <a:r>
              <a:rPr lang="tr-TR" dirty="0"/>
              <a:t>(x</a:t>
            </a:r>
            <a:r>
              <a:rPr lang="tr-TR" baseline="-25000" dirty="0"/>
              <a:t>1</a:t>
            </a:r>
            <a:r>
              <a:rPr lang="tr-TR" dirty="0"/>
              <a:t>, x</a:t>
            </a:r>
            <a:r>
              <a:rPr lang="tr-TR" baseline="-25000" dirty="0"/>
              <a:t>2</a:t>
            </a:r>
            <a:r>
              <a:rPr lang="tr-TR" dirty="0"/>
              <a:t>, …, </a:t>
            </a:r>
            <a:r>
              <a:rPr lang="tr-TR" dirty="0" err="1"/>
              <a:t>x</a:t>
            </a:r>
            <a:r>
              <a:rPr lang="tr-TR" baseline="-25000" dirty="0" err="1"/>
              <a:t>n</a:t>
            </a:r>
            <a:r>
              <a:rPr lang="tr-TR" dirty="0"/>
              <a:t>)≤b</a:t>
            </a:r>
            <a:r>
              <a:rPr lang="tr-TR" baseline="-25000" dirty="0"/>
              <a:t>1</a:t>
            </a:r>
            <a:endParaRPr lang="tr-TR" dirty="0"/>
          </a:p>
          <a:p>
            <a:pPr algn="ctr"/>
            <a:r>
              <a:rPr lang="tr-TR" dirty="0"/>
              <a:t>g</a:t>
            </a:r>
            <a:r>
              <a:rPr lang="tr-TR" baseline="-25000" dirty="0"/>
              <a:t>2</a:t>
            </a:r>
            <a:r>
              <a:rPr lang="tr-TR" dirty="0"/>
              <a:t>(x</a:t>
            </a:r>
            <a:r>
              <a:rPr lang="tr-TR" baseline="-25000" dirty="0"/>
              <a:t>1</a:t>
            </a:r>
            <a:r>
              <a:rPr lang="tr-TR" dirty="0"/>
              <a:t>, x</a:t>
            </a:r>
            <a:r>
              <a:rPr lang="tr-TR" baseline="-25000" dirty="0"/>
              <a:t>2</a:t>
            </a:r>
            <a:r>
              <a:rPr lang="tr-TR" dirty="0"/>
              <a:t>, …, </a:t>
            </a:r>
            <a:r>
              <a:rPr lang="tr-TR" dirty="0" err="1"/>
              <a:t>x</a:t>
            </a:r>
            <a:r>
              <a:rPr lang="tr-TR" baseline="-25000" dirty="0" err="1"/>
              <a:t>n</a:t>
            </a:r>
            <a:r>
              <a:rPr lang="tr-TR" dirty="0"/>
              <a:t>)≤b</a:t>
            </a:r>
            <a:r>
              <a:rPr lang="tr-TR" baseline="-25000" dirty="0"/>
              <a:t>2</a:t>
            </a:r>
            <a:endParaRPr lang="tr-TR" dirty="0"/>
          </a:p>
          <a:p>
            <a:pPr algn="ctr"/>
            <a:r>
              <a:rPr lang="tr-TR" dirty="0"/>
              <a:t>…</a:t>
            </a:r>
          </a:p>
          <a:p>
            <a:pPr algn="ctr"/>
            <a:r>
              <a:rPr lang="tr-TR" dirty="0" err="1"/>
              <a:t>g</a:t>
            </a:r>
            <a:r>
              <a:rPr lang="tr-TR" baseline="-25000" dirty="0" err="1"/>
              <a:t>m</a:t>
            </a:r>
            <a:r>
              <a:rPr lang="tr-TR" dirty="0"/>
              <a:t>(x</a:t>
            </a:r>
            <a:r>
              <a:rPr lang="tr-TR" baseline="-25000" dirty="0"/>
              <a:t>1</a:t>
            </a:r>
            <a:r>
              <a:rPr lang="tr-TR" dirty="0"/>
              <a:t>, x</a:t>
            </a:r>
            <a:r>
              <a:rPr lang="tr-TR" baseline="-25000" dirty="0"/>
              <a:t>2</a:t>
            </a:r>
            <a:r>
              <a:rPr lang="tr-TR" dirty="0"/>
              <a:t>, …, </a:t>
            </a:r>
            <a:r>
              <a:rPr lang="tr-TR" dirty="0" err="1"/>
              <a:t>x</a:t>
            </a:r>
            <a:r>
              <a:rPr lang="tr-TR" baseline="-25000" dirty="0" err="1"/>
              <a:t>n</a:t>
            </a:r>
            <a:r>
              <a:rPr lang="tr-TR" dirty="0"/>
              <a:t>)≤</a:t>
            </a:r>
            <a:r>
              <a:rPr lang="tr-TR" dirty="0" err="1"/>
              <a:t>b</a:t>
            </a:r>
            <a:r>
              <a:rPr lang="tr-TR" baseline="-25000" dirty="0" err="1"/>
              <a:t>m</a:t>
            </a:r>
            <a:endParaRPr lang="tr-TR" dirty="0"/>
          </a:p>
          <a:p>
            <a:pPr algn="ctr"/>
            <a:r>
              <a:rPr lang="tr-TR" baseline="-25000" dirty="0"/>
              <a:t> </a:t>
            </a:r>
            <a:endParaRPr lang="tr-TR" dirty="0"/>
          </a:p>
          <a:p>
            <a:r>
              <a:rPr lang="tr-TR" dirty="0"/>
              <a:t>Bütün kısıtlar &lt;= olmalıdır, </a:t>
            </a:r>
            <a:r>
              <a:rPr lang="tr-TR" i="1" dirty="0"/>
              <a:t>h(x</a:t>
            </a:r>
            <a:r>
              <a:rPr lang="tr-TR" i="1" baseline="-25000" dirty="0"/>
              <a:t>1</a:t>
            </a:r>
            <a:r>
              <a:rPr lang="tr-TR" i="1" dirty="0"/>
              <a:t>,x</a:t>
            </a:r>
            <a:r>
              <a:rPr lang="tr-TR" i="1" baseline="-25000" dirty="0"/>
              <a:t>2</a:t>
            </a:r>
            <a:r>
              <a:rPr lang="tr-TR" i="1" dirty="0"/>
              <a:t>,…,</a:t>
            </a:r>
            <a:r>
              <a:rPr lang="tr-TR" i="1" dirty="0" err="1"/>
              <a:t>x</a:t>
            </a:r>
            <a:r>
              <a:rPr lang="tr-TR" i="1" baseline="-25000" dirty="0" err="1"/>
              <a:t>n</a:t>
            </a:r>
            <a:r>
              <a:rPr lang="tr-TR" i="1" dirty="0"/>
              <a:t>)&gt;=b</a:t>
            </a:r>
            <a:r>
              <a:rPr lang="tr-TR" dirty="0"/>
              <a:t>  </a:t>
            </a:r>
            <a:r>
              <a:rPr lang="tr-TR" dirty="0" err="1"/>
              <a:t>kısıtı</a:t>
            </a:r>
            <a:r>
              <a:rPr lang="tr-TR" dirty="0"/>
              <a:t>   </a:t>
            </a:r>
            <a:r>
              <a:rPr lang="tr-TR" i="1" dirty="0"/>
              <a:t>–h(x</a:t>
            </a:r>
            <a:r>
              <a:rPr lang="tr-TR" i="1" baseline="-25000" dirty="0"/>
              <a:t>1</a:t>
            </a:r>
            <a:r>
              <a:rPr lang="tr-TR" i="1" dirty="0"/>
              <a:t>,x</a:t>
            </a:r>
            <a:r>
              <a:rPr lang="tr-TR" i="1" baseline="-25000" dirty="0"/>
              <a:t>2</a:t>
            </a:r>
            <a:r>
              <a:rPr lang="tr-TR" i="1" dirty="0"/>
              <a:t>,…,</a:t>
            </a:r>
            <a:r>
              <a:rPr lang="tr-TR" i="1" dirty="0" err="1"/>
              <a:t>x</a:t>
            </a:r>
            <a:r>
              <a:rPr lang="tr-TR" i="1" baseline="-25000" dirty="0" err="1"/>
              <a:t>n</a:t>
            </a:r>
            <a:r>
              <a:rPr lang="tr-TR" i="1" dirty="0"/>
              <a:t>)&lt;=-b</a:t>
            </a:r>
            <a:r>
              <a:rPr lang="tr-TR" dirty="0"/>
              <a:t> şekline dönüştürülmelidir. Örnek olarak, </a:t>
            </a:r>
            <a:r>
              <a:rPr lang="tr-TR" i="1" dirty="0"/>
              <a:t>2x</a:t>
            </a:r>
            <a:r>
              <a:rPr lang="tr-TR" i="1" baseline="-25000" dirty="0"/>
              <a:t>1</a:t>
            </a:r>
            <a:r>
              <a:rPr lang="tr-TR" i="1" dirty="0"/>
              <a:t>+x</a:t>
            </a:r>
            <a:r>
              <a:rPr lang="tr-TR" i="1" baseline="-25000" dirty="0"/>
              <a:t>2</a:t>
            </a:r>
            <a:r>
              <a:rPr lang="tr-TR" i="1" dirty="0"/>
              <a:t>&gt;=2</a:t>
            </a:r>
            <a:r>
              <a:rPr lang="tr-TR" dirty="0"/>
              <a:t> </a:t>
            </a:r>
            <a:r>
              <a:rPr lang="tr-TR" dirty="0" err="1"/>
              <a:t>kısıtı</a:t>
            </a:r>
            <a:r>
              <a:rPr lang="tr-TR" dirty="0"/>
              <a:t>, </a:t>
            </a:r>
            <a:r>
              <a:rPr lang="tr-TR" i="1" dirty="0"/>
              <a:t>-2x</a:t>
            </a:r>
            <a:r>
              <a:rPr lang="tr-TR" i="1" baseline="-25000" dirty="0"/>
              <a:t>1</a:t>
            </a:r>
            <a:r>
              <a:rPr lang="tr-TR" i="1" dirty="0"/>
              <a:t>-x</a:t>
            </a:r>
            <a:r>
              <a:rPr lang="tr-TR" i="1" baseline="-25000" dirty="0"/>
              <a:t>2</a:t>
            </a:r>
            <a:r>
              <a:rPr lang="tr-TR" i="1" dirty="0"/>
              <a:t>&lt;=-2</a:t>
            </a:r>
            <a:r>
              <a:rPr lang="tr-TR" dirty="0"/>
              <a:t> şekline düzenlenmelidir.</a:t>
            </a:r>
          </a:p>
          <a:p>
            <a:endParaRPr lang="tr-TR" dirty="0"/>
          </a:p>
          <a:p>
            <a:r>
              <a:rPr lang="tr-TR" dirty="0"/>
              <a:t>Eğer eşitlik halinde bir kısıt var ise, </a:t>
            </a:r>
            <a:r>
              <a:rPr lang="tr-TR" i="1" dirty="0"/>
              <a:t>h(x</a:t>
            </a:r>
            <a:r>
              <a:rPr lang="tr-TR" i="1" baseline="-25000" dirty="0"/>
              <a:t>1</a:t>
            </a:r>
            <a:r>
              <a:rPr lang="tr-TR" i="1" dirty="0"/>
              <a:t>,x</a:t>
            </a:r>
            <a:r>
              <a:rPr lang="tr-TR" i="1" baseline="-25000" dirty="0"/>
              <a:t>2</a:t>
            </a:r>
            <a:r>
              <a:rPr lang="tr-TR" i="1" dirty="0"/>
              <a:t>,…,</a:t>
            </a:r>
            <a:r>
              <a:rPr lang="tr-TR" i="1" dirty="0" err="1"/>
              <a:t>x</a:t>
            </a:r>
            <a:r>
              <a:rPr lang="tr-TR" i="1" baseline="-25000" dirty="0" err="1"/>
              <a:t>n</a:t>
            </a:r>
            <a:r>
              <a:rPr lang="tr-TR" i="1" dirty="0"/>
              <a:t>)=b</a:t>
            </a:r>
            <a:r>
              <a:rPr lang="tr-TR" dirty="0"/>
              <a:t>, </a:t>
            </a:r>
            <a:r>
              <a:rPr lang="tr-TR" i="1" dirty="0"/>
              <a:t>h(x</a:t>
            </a:r>
            <a:r>
              <a:rPr lang="tr-TR" i="1" baseline="-25000" dirty="0"/>
              <a:t>1</a:t>
            </a:r>
            <a:r>
              <a:rPr lang="tr-TR" i="1" dirty="0"/>
              <a:t>,x</a:t>
            </a:r>
            <a:r>
              <a:rPr lang="tr-TR" i="1" baseline="-25000" dirty="0"/>
              <a:t>2</a:t>
            </a:r>
            <a:r>
              <a:rPr lang="tr-TR" i="1" dirty="0"/>
              <a:t>,…,</a:t>
            </a:r>
            <a:r>
              <a:rPr lang="tr-TR" i="1" dirty="0" err="1"/>
              <a:t>x</a:t>
            </a:r>
            <a:r>
              <a:rPr lang="tr-TR" i="1" baseline="-25000" dirty="0" err="1"/>
              <a:t>n</a:t>
            </a:r>
            <a:r>
              <a:rPr lang="tr-TR" i="1" dirty="0"/>
              <a:t>)&lt;=b</a:t>
            </a:r>
            <a:r>
              <a:rPr lang="tr-TR" dirty="0"/>
              <a:t> ve </a:t>
            </a:r>
            <a:r>
              <a:rPr lang="tr-TR" i="1" dirty="0"/>
              <a:t>–h(x</a:t>
            </a:r>
            <a:r>
              <a:rPr lang="tr-TR" i="1" baseline="-25000" dirty="0"/>
              <a:t>1</a:t>
            </a:r>
            <a:r>
              <a:rPr lang="tr-TR" i="1" dirty="0"/>
              <a:t>,x</a:t>
            </a:r>
            <a:r>
              <a:rPr lang="tr-TR" i="1" baseline="-25000" dirty="0"/>
              <a:t>2</a:t>
            </a:r>
            <a:r>
              <a:rPr lang="tr-TR" i="1" dirty="0"/>
              <a:t>,…,</a:t>
            </a:r>
            <a:r>
              <a:rPr lang="tr-TR" i="1" dirty="0" err="1"/>
              <a:t>x</a:t>
            </a:r>
            <a:r>
              <a:rPr lang="tr-TR" i="1" baseline="-25000" dirty="0" err="1"/>
              <a:t>n</a:t>
            </a:r>
            <a:r>
              <a:rPr lang="tr-TR" i="1" dirty="0"/>
              <a:t>)&lt;=-b</a:t>
            </a:r>
            <a:r>
              <a:rPr lang="tr-TR" dirty="0"/>
              <a:t> şeklinde yazılmalıdır.</a:t>
            </a:r>
          </a:p>
          <a:p>
            <a:endParaRPr lang="tr-TR" dirty="0"/>
          </a:p>
          <a:p>
            <a:r>
              <a:rPr lang="tr-TR" dirty="0"/>
              <a:t>Örnek olarak, </a:t>
            </a:r>
            <a:r>
              <a:rPr lang="tr-TR" i="1" dirty="0"/>
              <a:t>2x</a:t>
            </a:r>
            <a:r>
              <a:rPr lang="tr-TR" i="1" baseline="-25000" dirty="0"/>
              <a:t>1</a:t>
            </a:r>
            <a:r>
              <a:rPr lang="tr-TR" i="1" dirty="0"/>
              <a:t>+x</a:t>
            </a:r>
            <a:r>
              <a:rPr lang="tr-TR" i="1" baseline="-25000" dirty="0"/>
              <a:t>2</a:t>
            </a:r>
            <a:r>
              <a:rPr lang="tr-TR" i="1" dirty="0"/>
              <a:t>=2</a:t>
            </a:r>
            <a:r>
              <a:rPr lang="tr-TR" dirty="0"/>
              <a:t> olarak alındığında,  </a:t>
            </a:r>
            <a:r>
              <a:rPr lang="tr-TR" i="1" dirty="0"/>
              <a:t>2x</a:t>
            </a:r>
            <a:r>
              <a:rPr lang="tr-TR" i="1" baseline="-25000" dirty="0"/>
              <a:t>1</a:t>
            </a:r>
            <a:r>
              <a:rPr lang="tr-TR" i="1" dirty="0"/>
              <a:t>+x</a:t>
            </a:r>
            <a:r>
              <a:rPr lang="tr-TR" i="1" baseline="-25000" dirty="0"/>
              <a:t>2</a:t>
            </a:r>
            <a:r>
              <a:rPr lang="tr-TR" i="1" dirty="0"/>
              <a:t>&lt;=2</a:t>
            </a:r>
            <a:r>
              <a:rPr lang="tr-TR" dirty="0"/>
              <a:t> ve </a:t>
            </a:r>
            <a:r>
              <a:rPr lang="tr-TR" i="1" dirty="0"/>
              <a:t>-2x</a:t>
            </a:r>
            <a:r>
              <a:rPr lang="tr-TR" i="1" baseline="-25000" dirty="0"/>
              <a:t>1</a:t>
            </a:r>
            <a:r>
              <a:rPr lang="tr-TR" i="1" dirty="0"/>
              <a:t>-x</a:t>
            </a:r>
            <a:r>
              <a:rPr lang="tr-TR" i="1" baseline="-25000" dirty="0"/>
              <a:t>2</a:t>
            </a:r>
            <a:r>
              <a:rPr lang="tr-TR" i="1" dirty="0"/>
              <a:t>&lt;=-2</a:t>
            </a:r>
            <a:r>
              <a:rPr lang="tr-TR" dirty="0"/>
              <a:t> şeklinde iki kısıt olarak düzenlenmelidir.</a:t>
            </a:r>
          </a:p>
        </p:txBody>
      </p:sp>
    </p:spTree>
    <p:extLst>
      <p:ext uri="{BB962C8B-B14F-4D97-AF65-F5344CB8AC3E}">
        <p14:creationId xmlns:p14="http://schemas.microsoft.com/office/powerpoint/2010/main" val="24359282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0" name="Metin kutusu 9"/>
          <p:cNvSpPr txBox="1"/>
          <p:nvPr/>
        </p:nvSpPr>
        <p:spPr>
          <a:xfrm>
            <a:off x="9738" y="692696"/>
            <a:ext cx="9145016" cy="830997"/>
          </a:xfrm>
          <a:prstGeom prst="rect">
            <a:avLst/>
          </a:prstGeom>
          <a:noFill/>
        </p:spPr>
        <p:txBody>
          <a:bodyPr wrap="square" rtlCol="0">
            <a:spAutoFit/>
          </a:bodyPr>
          <a:lstStyle/>
          <a:p>
            <a:pPr algn="ctr"/>
            <a:r>
              <a:rPr lang="tr-TR" sz="4800" b="1" dirty="0" err="1"/>
              <a:t>Kuhn-Tucker</a:t>
            </a:r>
            <a:r>
              <a:rPr lang="tr-TR" sz="4800" b="1" dirty="0"/>
              <a:t> Şartları</a:t>
            </a:r>
            <a:endParaRPr lang="tr-TR" sz="4800" dirty="0"/>
          </a:p>
        </p:txBody>
      </p:sp>
      <mc:AlternateContent xmlns:mc="http://schemas.openxmlformats.org/markup-compatibility/2006" xmlns:a14="http://schemas.microsoft.com/office/drawing/2010/main">
        <mc:Choice Requires="a14">
          <p:sp>
            <p:nvSpPr>
              <p:cNvPr id="12" name="Metin kutusu 11"/>
              <p:cNvSpPr txBox="1"/>
              <p:nvPr/>
            </p:nvSpPr>
            <p:spPr>
              <a:xfrm>
                <a:off x="0" y="1523693"/>
                <a:ext cx="9154754" cy="5136791"/>
              </a:xfrm>
              <a:prstGeom prst="rect">
                <a:avLst/>
              </a:prstGeom>
              <a:noFill/>
            </p:spPr>
            <p:txBody>
              <a:bodyPr wrap="square" rtlCol="0">
                <a:spAutoFit/>
              </a:bodyPr>
              <a:lstStyle/>
              <a:p>
                <a:r>
                  <a:rPr lang="tr-TR" sz="2000" b="1" dirty="0" err="1"/>
                  <a:t>Kuhn-Tucker</a:t>
                </a:r>
                <a:r>
                  <a:rPr lang="tr-TR" sz="2000" b="1" dirty="0"/>
                  <a:t> şartları şöyledir:</a:t>
                </a:r>
              </a:p>
              <a:p>
                <a:endParaRPr lang="tr-TR" sz="2000" b="1" dirty="0"/>
              </a:p>
              <a:p>
                <a:r>
                  <a:rPr lang="tr-TR" dirty="0"/>
                  <a:t>Amaç fonksiyonu </a:t>
                </a:r>
                <a:r>
                  <a:rPr lang="tr-TR" dirty="0" err="1"/>
                  <a:t>enbüyükleme</a:t>
                </a:r>
                <a:r>
                  <a:rPr lang="tr-TR" dirty="0"/>
                  <a:t> olan bir modelde, eğer  </a:t>
                </a:r>
                <a14:m>
                  <m:oMath xmlns:m="http://schemas.openxmlformats.org/officeDocument/2006/math">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m:rPr>
                            <m:sty m:val="p"/>
                          </m:rPr>
                          <a:rPr lang="tr-TR">
                            <a:latin typeface="Cambria Math" panose="02040503050406030204" pitchFamily="18" charset="0"/>
                          </a:rPr>
                          <m:t>n</m:t>
                        </m:r>
                      </m:sub>
                    </m:sSub>
                    <m:r>
                      <a:rPr lang="tr-TR">
                        <a:latin typeface="Cambria Math" panose="02040503050406030204" pitchFamily="18" charset="0"/>
                      </a:rPr>
                      <m:t>)</m:t>
                    </m:r>
                  </m:oMath>
                </a14:m>
                <a:r>
                  <a:rPr lang="tr-TR" dirty="0"/>
                  <a:t> optimal bir çözümse, m tane </a:t>
                </a:r>
                <a:r>
                  <a:rPr lang="tr-TR" dirty="0" err="1"/>
                  <a:t>kısıtı</a:t>
                </a:r>
                <a:r>
                  <a:rPr lang="tr-TR" dirty="0"/>
                  <a:t> ve var olan </a:t>
                </a: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m</m:t>
                        </m:r>
                      </m:sub>
                    </m:sSub>
                  </m:oMath>
                </a14:m>
                <a:r>
                  <a:rPr lang="tr-TR" dirty="0"/>
                  <a:t> çarpanları ile aşağıdaki koşulları sağlamalıdır:</a:t>
                </a:r>
              </a:p>
              <a:p>
                <a:endParaRPr lang="tr-TR" dirty="0"/>
              </a:p>
              <a:p>
                <a:pPr algn="ct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r>
                          <a:rPr lang="tr-TR">
                            <a:latin typeface="Cambria Math" panose="02040503050406030204" pitchFamily="18" charset="0"/>
                          </a:rPr>
                          <m:t>(</m:t>
                        </m:r>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r>
                          <a:rPr lang="tr-TR">
                            <a:latin typeface="Cambria Math" panose="02040503050406030204" pitchFamily="18" charset="0"/>
                          </a:rPr>
                          <m:t>)</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m:rPr>
                                <m:sty m:val="p"/>
                              </m:rPr>
                              <a:rPr lang="tr-TR">
                                <a:latin typeface="Cambria Math" panose="02040503050406030204" pitchFamily="18" charset="0"/>
                              </a:rPr>
                              <m:t>j</m:t>
                            </m:r>
                          </m:sub>
                        </m:sSub>
                      </m:den>
                    </m:f>
                    <m:r>
                      <a:rPr lang="tr-TR" i="1">
                        <a:latin typeface="Cambria Math" panose="02040503050406030204" pitchFamily="18" charset="0"/>
                      </a:rPr>
                      <m:t>−</m:t>
                    </m:r>
                    <m:nary>
                      <m:naryPr>
                        <m:chr m:val="∑"/>
                        <m:limLoc m:val="undOvr"/>
                        <m:ctrlPr>
                          <a:rPr lang="tr-TR" i="1">
                            <a:latin typeface="Cambria Math" panose="02040503050406030204" pitchFamily="18" charset="0"/>
                          </a:rPr>
                        </m:ctrlPr>
                      </m:naryPr>
                      <m:sub>
                        <m:r>
                          <m:rPr>
                            <m:sty m:val="p"/>
                          </m:rPr>
                          <a:rPr lang="tr-TR">
                            <a:latin typeface="Cambria Math" panose="02040503050406030204" pitchFamily="18" charset="0"/>
                          </a:rPr>
                          <m:t>i</m:t>
                        </m:r>
                        <m:r>
                          <a:rPr lang="tr-TR">
                            <a:latin typeface="Cambria Math" panose="02040503050406030204" pitchFamily="18" charset="0"/>
                          </a:rPr>
                          <m:t>=1</m:t>
                        </m:r>
                      </m:sub>
                      <m:sup>
                        <m:r>
                          <m:rPr>
                            <m:sty m:val="p"/>
                          </m:rPr>
                          <a:rPr lang="tr-TR">
                            <a:latin typeface="Cambria Math" panose="02040503050406030204" pitchFamily="18" charset="0"/>
                          </a:rPr>
                          <m:t>i</m:t>
                        </m:r>
                        <m:r>
                          <a:rPr lang="tr-TR">
                            <a:latin typeface="Cambria Math" panose="02040503050406030204" pitchFamily="18" charset="0"/>
                          </a:rPr>
                          <m:t>=</m:t>
                        </m:r>
                        <m:r>
                          <m:rPr>
                            <m:sty m:val="p"/>
                          </m:rPr>
                          <a:rPr lang="tr-TR">
                            <a:latin typeface="Cambria Math" panose="02040503050406030204" pitchFamily="18" charset="0"/>
                          </a:rPr>
                          <m:t>m</m:t>
                        </m:r>
                      </m:sup>
                      <m:e>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i</m:t>
                            </m:r>
                          </m:sub>
                        </m:sSub>
                      </m:e>
                    </m:nary>
                    <m:f>
                      <m:fPr>
                        <m:ctrlPr>
                          <a:rPr lang="tr-TR" i="1">
                            <a:latin typeface="Cambria Math" panose="02040503050406030204" pitchFamily="18" charset="0"/>
                          </a:rPr>
                        </m:ctrlPr>
                      </m:fPr>
                      <m:num>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g</m:t>
                            </m:r>
                          </m:e>
                          <m:sub>
                            <m:r>
                              <m:rPr>
                                <m:sty m:val="p"/>
                              </m:rPr>
                              <a:rPr lang="tr-TR">
                                <a:latin typeface="Cambria Math" panose="02040503050406030204" pitchFamily="18" charset="0"/>
                              </a:rPr>
                              <m:t>i</m:t>
                            </m:r>
                          </m:sub>
                        </m:sSub>
                        <m:d>
                          <m:dPr>
                            <m:ctrlPr>
                              <a:rPr lang="tr-TR" i="1">
                                <a:latin typeface="Cambria Math" panose="02040503050406030204" pitchFamily="18" charset="0"/>
                              </a:rPr>
                            </m:ctrlPr>
                          </m:d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d>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m:rPr>
                                <m:sty m:val="p"/>
                              </m:rPr>
                              <a:rPr lang="tr-TR">
                                <a:latin typeface="Cambria Math" panose="02040503050406030204" pitchFamily="18" charset="0"/>
                              </a:rPr>
                              <m:t>j</m:t>
                            </m:r>
                          </m:sub>
                        </m:sSub>
                      </m:den>
                    </m:f>
                    <m:r>
                      <a:rPr lang="tr-TR">
                        <a:latin typeface="Cambria Math" panose="02040503050406030204" pitchFamily="18" charset="0"/>
                      </a:rPr>
                      <m:t>=0</m:t>
                    </m:r>
                  </m:oMath>
                </a14:m>
                <a:r>
                  <a:rPr lang="tr-TR" dirty="0"/>
                  <a:t> 		(j=1, 2, …, n)</a:t>
                </a:r>
              </a:p>
              <a:p>
                <a:pPr algn="ct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i</m:t>
                        </m:r>
                      </m:sub>
                    </m:sSub>
                    <m:d>
                      <m:dPr>
                        <m:begChr m:val="["/>
                        <m:endChr m:val="]"/>
                        <m:ctrlPr>
                          <a:rPr lang="tr-TR" i="1">
                            <a:latin typeface="Cambria Math" panose="02040503050406030204" pitchFamily="18" charset="0"/>
                          </a:rPr>
                        </m:ctrlPr>
                      </m:dPr>
                      <m:e>
                        <m:sSub>
                          <m:sSubPr>
                            <m:ctrlPr>
                              <a:rPr lang="tr-TR" i="1">
                                <a:latin typeface="Cambria Math" panose="02040503050406030204" pitchFamily="18" charset="0"/>
                              </a:rPr>
                            </m:ctrlPr>
                          </m:sSubPr>
                          <m:e>
                            <m:r>
                              <m:rPr>
                                <m:sty m:val="p"/>
                              </m:rPr>
                              <a:rPr lang="tr-TR">
                                <a:latin typeface="Cambria Math" panose="02040503050406030204" pitchFamily="18" charset="0"/>
                              </a:rPr>
                              <m:t>b</m:t>
                            </m:r>
                          </m:e>
                          <m:sub>
                            <m:r>
                              <m:rPr>
                                <m:sty m:val="p"/>
                              </m:rPr>
                              <a:rPr lang="tr-TR">
                                <a:latin typeface="Cambria Math" panose="02040503050406030204" pitchFamily="18" charset="0"/>
                              </a:rPr>
                              <m:t>i</m:t>
                            </m:r>
                          </m:sub>
                        </m:sSub>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g</m:t>
                            </m:r>
                          </m:e>
                          <m:sub>
                            <m:r>
                              <m:rPr>
                                <m:sty m:val="p"/>
                              </m:rPr>
                              <a:rPr lang="tr-TR">
                                <a:latin typeface="Cambria Math" panose="02040503050406030204" pitchFamily="18" charset="0"/>
                              </a:rPr>
                              <m:t>i</m:t>
                            </m:r>
                          </m:sub>
                        </m:sSub>
                        <m:d>
                          <m:dPr>
                            <m:ctrlPr>
                              <a:rPr lang="tr-TR" i="1">
                                <a:latin typeface="Cambria Math" panose="02040503050406030204" pitchFamily="18" charset="0"/>
                              </a:rPr>
                            </m:ctrlPr>
                          </m:d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d>
                      </m:e>
                    </m:d>
                    <m:r>
                      <a:rPr lang="tr-TR">
                        <a:latin typeface="Cambria Math" panose="02040503050406030204" pitchFamily="18" charset="0"/>
                      </a:rPr>
                      <m:t>=0</m:t>
                    </m:r>
                  </m:oMath>
                </a14:m>
                <a:r>
                  <a:rPr lang="tr-TR" dirty="0"/>
                  <a:t> 			(i=1, 2, …, m)</a:t>
                </a:r>
              </a:p>
              <a:p>
                <a:pPr algn="ct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i</m:t>
                        </m:r>
                      </m:sub>
                    </m:sSub>
                    <m:r>
                      <a:rPr lang="tr-TR">
                        <a:latin typeface="Cambria Math" panose="02040503050406030204" pitchFamily="18" charset="0"/>
                      </a:rPr>
                      <m:t>≥0</m:t>
                    </m:r>
                  </m:oMath>
                </a14:m>
                <a:r>
                  <a:rPr lang="tr-TR" dirty="0"/>
                  <a:t> 				(i=1, 2, …, m)</a:t>
                </a:r>
              </a:p>
              <a:p>
                <a:r>
                  <a:rPr lang="tr-TR" dirty="0"/>
                  <a:t> </a:t>
                </a:r>
              </a:p>
              <a:p>
                <a:r>
                  <a:rPr lang="tr-TR" dirty="0"/>
                  <a:t>Amaç fonksiyonu </a:t>
                </a:r>
                <a:r>
                  <a:rPr lang="tr-TR" dirty="0" err="1"/>
                  <a:t>enküçükleme</a:t>
                </a:r>
                <a:r>
                  <a:rPr lang="tr-TR" dirty="0"/>
                  <a:t> olan bir modelde, eğer  </a:t>
                </a:r>
                <a14:m>
                  <m:oMath xmlns:m="http://schemas.openxmlformats.org/officeDocument/2006/math">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m:rPr>
                            <m:sty m:val="p"/>
                          </m:rPr>
                          <a:rPr lang="tr-TR">
                            <a:latin typeface="Cambria Math" panose="02040503050406030204" pitchFamily="18" charset="0"/>
                          </a:rPr>
                          <m:t>n</m:t>
                        </m:r>
                      </m:sub>
                    </m:sSub>
                    <m:r>
                      <a:rPr lang="tr-TR">
                        <a:latin typeface="Cambria Math" panose="02040503050406030204" pitchFamily="18" charset="0"/>
                      </a:rPr>
                      <m:t>)</m:t>
                    </m:r>
                  </m:oMath>
                </a14:m>
                <a:r>
                  <a:rPr lang="tr-TR" dirty="0"/>
                  <a:t> optimal bir çözümse, m tane </a:t>
                </a:r>
                <a:r>
                  <a:rPr lang="tr-TR" dirty="0" err="1"/>
                  <a:t>kısıtı</a:t>
                </a:r>
                <a:r>
                  <a:rPr lang="tr-TR" dirty="0"/>
                  <a:t> ve var olan </a:t>
                </a: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m</m:t>
                        </m:r>
                      </m:sub>
                    </m:sSub>
                  </m:oMath>
                </a14:m>
                <a:r>
                  <a:rPr lang="tr-TR" dirty="0"/>
                  <a:t> çarpanları ile aşağıdaki koşulları sağlamalıdır:</a:t>
                </a:r>
              </a:p>
              <a:p>
                <a:endParaRPr lang="tr-TR" dirty="0"/>
              </a:p>
              <a:p>
                <a:pPr algn="ct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r>
                          <a:rPr lang="tr-TR">
                            <a:latin typeface="Cambria Math" panose="02040503050406030204" pitchFamily="18" charset="0"/>
                          </a:rPr>
                          <m:t>(</m:t>
                        </m:r>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r>
                          <a:rPr lang="tr-TR">
                            <a:latin typeface="Cambria Math" panose="02040503050406030204" pitchFamily="18" charset="0"/>
                          </a:rPr>
                          <m:t>)</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m:rPr>
                                <m:sty m:val="p"/>
                              </m:rPr>
                              <a:rPr lang="tr-TR">
                                <a:latin typeface="Cambria Math" panose="02040503050406030204" pitchFamily="18" charset="0"/>
                              </a:rPr>
                              <m:t>j</m:t>
                            </m:r>
                          </m:sub>
                        </m:sSub>
                      </m:den>
                    </m:f>
                    <m:r>
                      <a:rPr lang="tr-TR">
                        <a:latin typeface="Cambria Math" panose="02040503050406030204" pitchFamily="18" charset="0"/>
                      </a:rPr>
                      <m:t>+</m:t>
                    </m:r>
                    <m:nary>
                      <m:naryPr>
                        <m:chr m:val="∑"/>
                        <m:limLoc m:val="undOvr"/>
                        <m:ctrlPr>
                          <a:rPr lang="tr-TR" i="1">
                            <a:latin typeface="Cambria Math" panose="02040503050406030204" pitchFamily="18" charset="0"/>
                          </a:rPr>
                        </m:ctrlPr>
                      </m:naryPr>
                      <m:sub>
                        <m:r>
                          <m:rPr>
                            <m:sty m:val="p"/>
                          </m:rPr>
                          <a:rPr lang="tr-TR">
                            <a:latin typeface="Cambria Math" panose="02040503050406030204" pitchFamily="18" charset="0"/>
                          </a:rPr>
                          <m:t>i</m:t>
                        </m:r>
                        <m:r>
                          <a:rPr lang="tr-TR">
                            <a:latin typeface="Cambria Math" panose="02040503050406030204" pitchFamily="18" charset="0"/>
                          </a:rPr>
                          <m:t>=1</m:t>
                        </m:r>
                      </m:sub>
                      <m:sup>
                        <m:r>
                          <m:rPr>
                            <m:sty m:val="p"/>
                          </m:rPr>
                          <a:rPr lang="tr-TR">
                            <a:latin typeface="Cambria Math" panose="02040503050406030204" pitchFamily="18" charset="0"/>
                          </a:rPr>
                          <m:t>i</m:t>
                        </m:r>
                        <m:r>
                          <a:rPr lang="tr-TR">
                            <a:latin typeface="Cambria Math" panose="02040503050406030204" pitchFamily="18" charset="0"/>
                          </a:rPr>
                          <m:t>=</m:t>
                        </m:r>
                        <m:r>
                          <m:rPr>
                            <m:sty m:val="p"/>
                          </m:rPr>
                          <a:rPr lang="tr-TR">
                            <a:latin typeface="Cambria Math" panose="02040503050406030204" pitchFamily="18" charset="0"/>
                          </a:rPr>
                          <m:t>m</m:t>
                        </m:r>
                      </m:sup>
                      <m:e>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i</m:t>
                            </m:r>
                          </m:sub>
                        </m:sSub>
                      </m:e>
                    </m:nary>
                    <m:f>
                      <m:fPr>
                        <m:ctrlPr>
                          <a:rPr lang="tr-TR" i="1">
                            <a:latin typeface="Cambria Math" panose="02040503050406030204" pitchFamily="18" charset="0"/>
                          </a:rPr>
                        </m:ctrlPr>
                      </m:fPr>
                      <m:num>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g</m:t>
                            </m:r>
                          </m:e>
                          <m:sub>
                            <m:r>
                              <m:rPr>
                                <m:sty m:val="p"/>
                              </m:rPr>
                              <a:rPr lang="tr-TR">
                                <a:latin typeface="Cambria Math" panose="02040503050406030204" pitchFamily="18" charset="0"/>
                              </a:rPr>
                              <m:t>i</m:t>
                            </m:r>
                          </m:sub>
                        </m:sSub>
                        <m:d>
                          <m:dPr>
                            <m:ctrlPr>
                              <a:rPr lang="tr-TR" i="1">
                                <a:latin typeface="Cambria Math" panose="02040503050406030204" pitchFamily="18" charset="0"/>
                              </a:rPr>
                            </m:ctrlPr>
                          </m:d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d>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m:rPr>
                                <m:sty m:val="p"/>
                              </m:rPr>
                              <a:rPr lang="tr-TR">
                                <a:latin typeface="Cambria Math" panose="02040503050406030204" pitchFamily="18" charset="0"/>
                              </a:rPr>
                              <m:t>j</m:t>
                            </m:r>
                          </m:sub>
                        </m:sSub>
                      </m:den>
                    </m:f>
                    <m:r>
                      <a:rPr lang="tr-TR">
                        <a:latin typeface="Cambria Math" panose="02040503050406030204" pitchFamily="18" charset="0"/>
                      </a:rPr>
                      <m:t>=0</m:t>
                    </m:r>
                  </m:oMath>
                </a14:m>
                <a:r>
                  <a:rPr lang="tr-TR" dirty="0"/>
                  <a:t> 		(j=1, 2, …, n)</a:t>
                </a:r>
              </a:p>
              <a:p>
                <a:pPr algn="ct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i</m:t>
                        </m:r>
                      </m:sub>
                    </m:sSub>
                    <m:d>
                      <m:dPr>
                        <m:begChr m:val="["/>
                        <m:endChr m:val="]"/>
                        <m:ctrlPr>
                          <a:rPr lang="tr-TR" i="1">
                            <a:latin typeface="Cambria Math" panose="02040503050406030204" pitchFamily="18" charset="0"/>
                          </a:rPr>
                        </m:ctrlPr>
                      </m:dPr>
                      <m:e>
                        <m:sSub>
                          <m:sSubPr>
                            <m:ctrlPr>
                              <a:rPr lang="tr-TR" i="1">
                                <a:latin typeface="Cambria Math" panose="02040503050406030204" pitchFamily="18" charset="0"/>
                              </a:rPr>
                            </m:ctrlPr>
                          </m:sSubPr>
                          <m:e>
                            <m:r>
                              <m:rPr>
                                <m:sty m:val="p"/>
                              </m:rPr>
                              <a:rPr lang="tr-TR">
                                <a:latin typeface="Cambria Math" panose="02040503050406030204" pitchFamily="18" charset="0"/>
                              </a:rPr>
                              <m:t>b</m:t>
                            </m:r>
                          </m:e>
                          <m:sub>
                            <m:r>
                              <m:rPr>
                                <m:sty m:val="p"/>
                              </m:rPr>
                              <a:rPr lang="tr-TR">
                                <a:latin typeface="Cambria Math" panose="02040503050406030204" pitchFamily="18" charset="0"/>
                              </a:rPr>
                              <m:t>i</m:t>
                            </m:r>
                          </m:sub>
                        </m:sSub>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g</m:t>
                            </m:r>
                          </m:e>
                          <m:sub>
                            <m:r>
                              <m:rPr>
                                <m:sty m:val="p"/>
                              </m:rPr>
                              <a:rPr lang="tr-TR">
                                <a:latin typeface="Cambria Math" panose="02040503050406030204" pitchFamily="18" charset="0"/>
                              </a:rPr>
                              <m:t>i</m:t>
                            </m:r>
                          </m:sub>
                        </m:sSub>
                        <m:d>
                          <m:dPr>
                            <m:ctrlPr>
                              <a:rPr lang="tr-TR" i="1">
                                <a:latin typeface="Cambria Math" panose="02040503050406030204" pitchFamily="18" charset="0"/>
                              </a:rPr>
                            </m:ctrlPr>
                          </m:d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d>
                      </m:e>
                    </m:d>
                    <m:r>
                      <a:rPr lang="tr-TR">
                        <a:latin typeface="Cambria Math" panose="02040503050406030204" pitchFamily="18" charset="0"/>
                      </a:rPr>
                      <m:t>=0</m:t>
                    </m:r>
                  </m:oMath>
                </a14:m>
                <a:r>
                  <a:rPr lang="tr-TR" dirty="0"/>
                  <a:t> 			(i=1, 2, …, m)</a:t>
                </a:r>
              </a:p>
              <a:p>
                <a:pPr algn="ct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i</m:t>
                        </m:r>
                      </m:sub>
                    </m:sSub>
                    <m:r>
                      <a:rPr lang="tr-TR">
                        <a:latin typeface="Cambria Math" panose="02040503050406030204" pitchFamily="18" charset="0"/>
                      </a:rPr>
                      <m:t>≥0</m:t>
                    </m:r>
                  </m:oMath>
                </a14:m>
                <a:r>
                  <a:rPr lang="tr-TR" dirty="0"/>
                  <a:t> 				(i=1, 2, …, m)</a:t>
                </a:r>
              </a:p>
              <a:p>
                <a:r>
                  <a:rPr lang="tr-TR" dirty="0"/>
                  <a:t> </a:t>
                </a:r>
              </a:p>
            </p:txBody>
          </p:sp>
        </mc:Choice>
        <mc:Fallback xmlns="">
          <p:sp>
            <p:nvSpPr>
              <p:cNvPr id="12" name="Metin kutusu 11"/>
              <p:cNvSpPr txBox="1">
                <a:spLocks noRot="1" noChangeAspect="1" noMove="1" noResize="1" noEditPoints="1" noAdjustHandles="1" noChangeArrowheads="1" noChangeShapeType="1" noTextEdit="1"/>
              </p:cNvSpPr>
              <p:nvPr/>
            </p:nvSpPr>
            <p:spPr>
              <a:xfrm>
                <a:off x="0" y="1523693"/>
                <a:ext cx="9154754" cy="5136791"/>
              </a:xfrm>
              <a:prstGeom prst="rect">
                <a:avLst/>
              </a:prstGeom>
              <a:blipFill>
                <a:blip r:embed="rId5"/>
                <a:stretch>
                  <a:fillRect l="-666" t="-712" r="-266"/>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E234FE7B-8754-7411-2139-7CD22730D83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3333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0" name="Metin kutusu 9"/>
          <p:cNvSpPr txBox="1"/>
          <p:nvPr/>
        </p:nvSpPr>
        <p:spPr>
          <a:xfrm>
            <a:off x="9738" y="692696"/>
            <a:ext cx="9145016" cy="830997"/>
          </a:xfrm>
          <a:prstGeom prst="rect">
            <a:avLst/>
          </a:prstGeom>
          <a:noFill/>
        </p:spPr>
        <p:txBody>
          <a:bodyPr wrap="square" rtlCol="0">
            <a:spAutoFit/>
          </a:bodyPr>
          <a:lstStyle/>
          <a:p>
            <a:pPr algn="ctr"/>
            <a:r>
              <a:rPr lang="tr-TR" sz="4800" b="1" dirty="0" err="1"/>
              <a:t>Kuhn-Tucker</a:t>
            </a:r>
            <a:r>
              <a:rPr lang="tr-TR" sz="4800" b="1" dirty="0"/>
              <a:t> Şartları</a:t>
            </a:r>
            <a:endParaRPr lang="tr-TR" sz="4800" dirty="0"/>
          </a:p>
        </p:txBody>
      </p:sp>
      <mc:AlternateContent xmlns:mc="http://schemas.openxmlformats.org/markup-compatibility/2006" xmlns:a14="http://schemas.microsoft.com/office/drawing/2010/main">
        <mc:Choice Requires="a14">
          <p:sp>
            <p:nvSpPr>
              <p:cNvPr id="12" name="Metin kutusu 11"/>
              <p:cNvSpPr txBox="1"/>
              <p:nvPr/>
            </p:nvSpPr>
            <p:spPr>
              <a:xfrm>
                <a:off x="25758" y="1435041"/>
                <a:ext cx="9154754" cy="5162311"/>
              </a:xfrm>
              <a:prstGeom prst="rect">
                <a:avLst/>
              </a:prstGeom>
              <a:noFill/>
            </p:spPr>
            <p:txBody>
              <a:bodyPr wrap="square" rtlCol="0">
                <a:spAutoFit/>
              </a:bodyPr>
              <a:lstStyle/>
              <a:p>
                <a:r>
                  <a:rPr lang="tr-TR" dirty="0"/>
                  <a:t>Eğer doğrusal olmayan modelde değişkenlerin negatif olmama </a:t>
                </a:r>
                <a:r>
                  <a:rPr lang="tr-TR" dirty="0" err="1"/>
                  <a:t>kısıtı</a:t>
                </a:r>
                <a:r>
                  <a:rPr lang="tr-TR" dirty="0"/>
                  <a:t> varsa genel form aşağıdaki gibi olur:</a:t>
                </a:r>
              </a:p>
              <a:p>
                <a:pPr algn="ctr"/>
                <a:r>
                  <a:rPr lang="tr-TR" sz="1600" dirty="0" err="1"/>
                  <a:t>maks</a:t>
                </a:r>
                <a:r>
                  <a:rPr lang="tr-TR" sz="1600" dirty="0"/>
                  <a:t>. (</a:t>
                </a:r>
                <a:r>
                  <a:rPr lang="tr-TR" sz="1600" dirty="0" err="1"/>
                  <a:t>or</a:t>
                </a:r>
                <a:r>
                  <a:rPr lang="tr-TR" sz="1600" dirty="0"/>
                  <a:t> min.) f(x</a:t>
                </a:r>
                <a:r>
                  <a:rPr lang="tr-TR" sz="1600" baseline="-25000" dirty="0"/>
                  <a:t>1</a:t>
                </a:r>
                <a:r>
                  <a:rPr lang="tr-TR" sz="1600" dirty="0"/>
                  <a:t>, x</a:t>
                </a:r>
                <a:r>
                  <a:rPr lang="tr-TR" sz="1600" baseline="-25000" dirty="0"/>
                  <a:t>2</a:t>
                </a:r>
                <a:r>
                  <a:rPr lang="tr-TR" sz="1600" dirty="0"/>
                  <a:t>, …, </a:t>
                </a:r>
                <a:r>
                  <a:rPr lang="tr-TR" sz="1600" dirty="0" err="1"/>
                  <a:t>x</a:t>
                </a:r>
                <a:r>
                  <a:rPr lang="tr-TR" sz="1600" baseline="-25000" dirty="0" err="1"/>
                  <a:t>n</a:t>
                </a:r>
                <a:r>
                  <a:rPr lang="tr-TR" sz="1600" dirty="0"/>
                  <a:t>)</a:t>
                </a:r>
              </a:p>
              <a:p>
                <a:pPr algn="ctr"/>
                <a:r>
                  <a:rPr lang="tr-TR" sz="1600" dirty="0"/>
                  <a:t>g</a:t>
                </a:r>
                <a:r>
                  <a:rPr lang="tr-TR" sz="1600" baseline="-25000" dirty="0"/>
                  <a:t>1</a:t>
                </a:r>
                <a:r>
                  <a:rPr lang="tr-TR" sz="1600" dirty="0"/>
                  <a:t>(x</a:t>
                </a:r>
                <a:r>
                  <a:rPr lang="tr-TR" sz="1600" baseline="-25000" dirty="0"/>
                  <a:t>1</a:t>
                </a:r>
                <a:r>
                  <a:rPr lang="tr-TR" sz="1600" dirty="0"/>
                  <a:t>, x</a:t>
                </a:r>
                <a:r>
                  <a:rPr lang="tr-TR" sz="1600" baseline="-25000" dirty="0"/>
                  <a:t>2</a:t>
                </a:r>
                <a:r>
                  <a:rPr lang="tr-TR" sz="1600" dirty="0"/>
                  <a:t>, …, </a:t>
                </a:r>
                <a:r>
                  <a:rPr lang="tr-TR" sz="1600" dirty="0" err="1"/>
                  <a:t>x</a:t>
                </a:r>
                <a:r>
                  <a:rPr lang="tr-TR" sz="1600" baseline="-25000" dirty="0" err="1"/>
                  <a:t>n</a:t>
                </a:r>
                <a:r>
                  <a:rPr lang="tr-TR" sz="1600" dirty="0"/>
                  <a:t>)≤b</a:t>
                </a:r>
                <a:r>
                  <a:rPr lang="tr-TR" sz="1600" baseline="-25000" dirty="0"/>
                  <a:t>1</a:t>
                </a:r>
                <a:endParaRPr lang="tr-TR" sz="1600" dirty="0"/>
              </a:p>
              <a:p>
                <a:pPr algn="ctr"/>
                <a:r>
                  <a:rPr lang="tr-TR" sz="1600" dirty="0"/>
                  <a:t>g</a:t>
                </a:r>
                <a:r>
                  <a:rPr lang="tr-TR" sz="1600" baseline="-25000" dirty="0"/>
                  <a:t>2</a:t>
                </a:r>
                <a:r>
                  <a:rPr lang="tr-TR" sz="1600" dirty="0"/>
                  <a:t>(x</a:t>
                </a:r>
                <a:r>
                  <a:rPr lang="tr-TR" sz="1600" baseline="-25000" dirty="0"/>
                  <a:t>1</a:t>
                </a:r>
                <a:r>
                  <a:rPr lang="tr-TR" sz="1600" dirty="0"/>
                  <a:t>, x</a:t>
                </a:r>
                <a:r>
                  <a:rPr lang="tr-TR" sz="1600" baseline="-25000" dirty="0"/>
                  <a:t>2</a:t>
                </a:r>
                <a:r>
                  <a:rPr lang="tr-TR" sz="1600" dirty="0"/>
                  <a:t>, …, </a:t>
                </a:r>
                <a:r>
                  <a:rPr lang="tr-TR" sz="1600" dirty="0" err="1"/>
                  <a:t>x</a:t>
                </a:r>
                <a:r>
                  <a:rPr lang="tr-TR" sz="1600" baseline="-25000" dirty="0" err="1"/>
                  <a:t>n</a:t>
                </a:r>
                <a:r>
                  <a:rPr lang="tr-TR" sz="1600" dirty="0"/>
                  <a:t>)≤b</a:t>
                </a:r>
                <a:r>
                  <a:rPr lang="tr-TR" sz="1600" baseline="-25000" dirty="0"/>
                  <a:t>2</a:t>
                </a:r>
                <a:endParaRPr lang="tr-TR" sz="1600" dirty="0"/>
              </a:p>
              <a:p>
                <a:pPr algn="ctr"/>
                <a:r>
                  <a:rPr lang="tr-TR" sz="1600" dirty="0"/>
                  <a:t>…</a:t>
                </a:r>
              </a:p>
              <a:p>
                <a:pPr algn="ctr"/>
                <a:r>
                  <a:rPr lang="tr-TR" sz="1600" dirty="0" err="1"/>
                  <a:t>g</a:t>
                </a:r>
                <a:r>
                  <a:rPr lang="tr-TR" sz="1600" baseline="-25000" dirty="0" err="1"/>
                  <a:t>m</a:t>
                </a:r>
                <a:r>
                  <a:rPr lang="tr-TR" sz="1600" dirty="0"/>
                  <a:t>(x</a:t>
                </a:r>
                <a:r>
                  <a:rPr lang="tr-TR" sz="1600" baseline="-25000" dirty="0"/>
                  <a:t>1</a:t>
                </a:r>
                <a:r>
                  <a:rPr lang="tr-TR" sz="1600" dirty="0"/>
                  <a:t>, x</a:t>
                </a:r>
                <a:r>
                  <a:rPr lang="tr-TR" sz="1600" baseline="-25000" dirty="0"/>
                  <a:t>2</a:t>
                </a:r>
                <a:r>
                  <a:rPr lang="tr-TR" sz="1600" dirty="0"/>
                  <a:t>, …, </a:t>
                </a:r>
                <a:r>
                  <a:rPr lang="tr-TR" sz="1600" dirty="0" err="1"/>
                  <a:t>x</a:t>
                </a:r>
                <a:r>
                  <a:rPr lang="tr-TR" sz="1600" baseline="-25000" dirty="0" err="1"/>
                  <a:t>n</a:t>
                </a:r>
                <a:r>
                  <a:rPr lang="tr-TR" sz="1600" dirty="0"/>
                  <a:t>)≤</a:t>
                </a:r>
                <a:r>
                  <a:rPr lang="tr-TR" sz="1600" dirty="0" err="1"/>
                  <a:t>b</a:t>
                </a:r>
                <a:r>
                  <a:rPr lang="tr-TR" sz="1600" baseline="-25000" dirty="0" err="1"/>
                  <a:t>m</a:t>
                </a:r>
                <a:endParaRPr lang="tr-TR" sz="1600" dirty="0"/>
              </a:p>
              <a:p>
                <a:pPr algn="ctr"/>
                <a:r>
                  <a:rPr lang="tr-TR" sz="1600" dirty="0"/>
                  <a:t>-x</a:t>
                </a:r>
                <a:r>
                  <a:rPr lang="tr-TR" sz="1600" baseline="-25000" dirty="0"/>
                  <a:t>1 </a:t>
                </a:r>
                <a:r>
                  <a:rPr lang="tr-TR" sz="1600" dirty="0"/>
                  <a:t>≤ 0</a:t>
                </a:r>
              </a:p>
              <a:p>
                <a:pPr algn="ctr"/>
                <a:r>
                  <a:rPr lang="tr-TR" sz="1600" dirty="0"/>
                  <a:t>-x</a:t>
                </a:r>
                <a:r>
                  <a:rPr lang="tr-TR" sz="1600" baseline="-25000" dirty="0"/>
                  <a:t>2 </a:t>
                </a:r>
                <a:r>
                  <a:rPr lang="tr-TR" sz="1600" dirty="0"/>
                  <a:t>≤ 0</a:t>
                </a:r>
              </a:p>
              <a:p>
                <a:pPr algn="ctr"/>
                <a:r>
                  <a:rPr lang="tr-TR" sz="1600" dirty="0"/>
                  <a:t>…</a:t>
                </a:r>
              </a:p>
              <a:p>
                <a:pPr algn="ctr"/>
                <a:r>
                  <a:rPr lang="tr-TR" sz="1600" dirty="0"/>
                  <a:t>-</a:t>
                </a:r>
                <a:r>
                  <a:rPr lang="tr-TR" sz="1600" dirty="0" err="1"/>
                  <a:t>x</a:t>
                </a:r>
                <a:r>
                  <a:rPr lang="tr-TR" sz="1600" baseline="-25000" dirty="0" err="1"/>
                  <a:t>n</a:t>
                </a:r>
                <a:r>
                  <a:rPr lang="tr-TR" sz="1600" baseline="-25000" dirty="0"/>
                  <a:t> </a:t>
                </a:r>
                <a:r>
                  <a:rPr lang="tr-TR" sz="1600" dirty="0"/>
                  <a:t>≤ 0</a:t>
                </a:r>
              </a:p>
              <a:p>
                <a:r>
                  <a:rPr lang="tr-TR" dirty="0"/>
                  <a:t>Modelin genel formu böyleyse, amaç fonksiyonu </a:t>
                </a:r>
                <a:r>
                  <a:rPr lang="tr-TR" dirty="0" err="1"/>
                  <a:t>enbüyükleme</a:t>
                </a:r>
                <a:r>
                  <a:rPr lang="tr-TR" dirty="0"/>
                  <a:t> olan bir modelde, eğer  </a:t>
                </a:r>
                <a14:m>
                  <m:oMath xmlns:m="http://schemas.openxmlformats.org/officeDocument/2006/math">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m:rPr>
                            <m:sty m:val="p"/>
                          </m:rPr>
                          <a:rPr lang="tr-TR">
                            <a:latin typeface="Cambria Math" panose="02040503050406030204" pitchFamily="18" charset="0"/>
                          </a:rPr>
                          <m:t>n</m:t>
                        </m:r>
                      </m:sub>
                    </m:sSub>
                    <m:r>
                      <a:rPr lang="tr-TR">
                        <a:latin typeface="Cambria Math" panose="02040503050406030204" pitchFamily="18" charset="0"/>
                      </a:rPr>
                      <m:t>)</m:t>
                    </m:r>
                  </m:oMath>
                </a14:m>
                <a:r>
                  <a:rPr lang="tr-TR" dirty="0"/>
                  <a:t> optimal bir çözümse, m tane </a:t>
                </a:r>
                <a:r>
                  <a:rPr lang="tr-TR" dirty="0" err="1"/>
                  <a:t>kısıtı</a:t>
                </a:r>
                <a:r>
                  <a:rPr lang="tr-TR" dirty="0"/>
                  <a:t> ve var olan </a:t>
                </a: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m</m:t>
                        </m:r>
                      </m:sub>
                    </m:sSub>
                  </m:oMath>
                </a14:m>
                <a:r>
                  <a:rPr lang="tr-TR" dirty="0"/>
                  <a:t> çarpanları ile aşağıdaki koşulları sağlamalıdır:</a:t>
                </a:r>
              </a:p>
              <a:p>
                <a:pPr algn="ctr"/>
                <a14:m>
                  <m:oMath xmlns:m="http://schemas.openxmlformats.org/officeDocument/2006/math">
                    <m:f>
                      <m:fPr>
                        <m:ctrlPr>
                          <a:rPr lang="tr-TR" sz="1600" i="1">
                            <a:latin typeface="Cambria Math" panose="02040503050406030204" pitchFamily="18" charset="0"/>
                          </a:rPr>
                        </m:ctrlPr>
                      </m:fPr>
                      <m:num>
                        <m:r>
                          <a:rPr lang="tr-TR" sz="1600">
                            <a:latin typeface="Cambria Math" panose="02040503050406030204" pitchFamily="18" charset="0"/>
                          </a:rPr>
                          <m:t>𝜕</m:t>
                        </m:r>
                        <m:r>
                          <m:rPr>
                            <m:sty m:val="p"/>
                          </m:rPr>
                          <a:rPr lang="tr-TR" sz="1600">
                            <a:latin typeface="Cambria Math" panose="02040503050406030204" pitchFamily="18" charset="0"/>
                          </a:rPr>
                          <m:t>f</m:t>
                        </m:r>
                        <m:r>
                          <a:rPr lang="tr-TR" sz="1600">
                            <a:latin typeface="Cambria Math" panose="02040503050406030204" pitchFamily="18" charset="0"/>
                          </a:rPr>
                          <m:t>(</m:t>
                        </m:r>
                        <m:acc>
                          <m:accPr>
                            <m:chr m:val="̅"/>
                            <m:ctrlPr>
                              <a:rPr lang="tr-TR" sz="1600" i="1">
                                <a:latin typeface="Cambria Math" panose="02040503050406030204" pitchFamily="18" charset="0"/>
                              </a:rPr>
                            </m:ctrlPr>
                          </m:accPr>
                          <m:e>
                            <m:r>
                              <m:rPr>
                                <m:sty m:val="p"/>
                              </m:rPr>
                              <a:rPr lang="tr-TR" sz="1600">
                                <a:latin typeface="Cambria Math" panose="02040503050406030204" pitchFamily="18" charset="0"/>
                              </a:rPr>
                              <m:t>x</m:t>
                            </m:r>
                          </m:e>
                        </m:acc>
                        <m:r>
                          <a:rPr lang="tr-TR" sz="1600">
                            <a:latin typeface="Cambria Math" panose="02040503050406030204" pitchFamily="18" charset="0"/>
                          </a:rPr>
                          <m:t>)</m:t>
                        </m:r>
                      </m:num>
                      <m:den>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m:rPr>
                                <m:sty m:val="p"/>
                              </m:rPr>
                              <a:rPr lang="tr-TR" sz="1600">
                                <a:latin typeface="Cambria Math" panose="02040503050406030204" pitchFamily="18" charset="0"/>
                              </a:rPr>
                              <m:t>j</m:t>
                            </m:r>
                          </m:sub>
                        </m:sSub>
                      </m:den>
                    </m:f>
                    <m:r>
                      <a:rPr lang="tr-TR" sz="1600" i="1">
                        <a:latin typeface="Cambria Math" panose="02040503050406030204" pitchFamily="18" charset="0"/>
                      </a:rPr>
                      <m:t>−</m:t>
                    </m:r>
                    <m:nary>
                      <m:naryPr>
                        <m:chr m:val="∑"/>
                        <m:limLoc m:val="undOvr"/>
                        <m:ctrlPr>
                          <a:rPr lang="tr-TR" sz="1600" i="1">
                            <a:latin typeface="Cambria Math" panose="02040503050406030204" pitchFamily="18" charset="0"/>
                          </a:rPr>
                        </m:ctrlPr>
                      </m:naryPr>
                      <m:sub>
                        <m:r>
                          <m:rPr>
                            <m:sty m:val="p"/>
                          </m:rPr>
                          <a:rPr lang="tr-TR" sz="1600">
                            <a:latin typeface="Cambria Math" panose="02040503050406030204" pitchFamily="18" charset="0"/>
                          </a:rPr>
                          <m:t>i</m:t>
                        </m:r>
                        <m:r>
                          <a:rPr lang="tr-TR" sz="1600">
                            <a:latin typeface="Cambria Math" panose="02040503050406030204" pitchFamily="18" charset="0"/>
                          </a:rPr>
                          <m:t>=1</m:t>
                        </m:r>
                      </m:sub>
                      <m:sup>
                        <m:r>
                          <m:rPr>
                            <m:sty m:val="p"/>
                          </m:rPr>
                          <a:rPr lang="tr-TR" sz="1600">
                            <a:latin typeface="Cambria Math" panose="02040503050406030204" pitchFamily="18" charset="0"/>
                          </a:rPr>
                          <m:t>i</m:t>
                        </m:r>
                        <m:r>
                          <a:rPr lang="tr-TR" sz="1600">
                            <a:latin typeface="Cambria Math" panose="02040503050406030204" pitchFamily="18" charset="0"/>
                          </a:rPr>
                          <m:t>=</m:t>
                        </m:r>
                        <m:r>
                          <m:rPr>
                            <m:sty m:val="p"/>
                          </m:rPr>
                          <a:rPr lang="tr-TR" sz="1600">
                            <a:latin typeface="Cambria Math" panose="02040503050406030204" pitchFamily="18" charset="0"/>
                          </a:rPr>
                          <m:t>m</m:t>
                        </m:r>
                      </m:sup>
                      <m:e>
                        <m:sSub>
                          <m:sSubPr>
                            <m:ctrlPr>
                              <a:rPr lang="tr-TR" sz="1600" i="1">
                                <a:latin typeface="Cambria Math" panose="02040503050406030204" pitchFamily="18" charset="0"/>
                              </a:rPr>
                            </m:ctrlPr>
                          </m:sSubPr>
                          <m:e>
                            <m:acc>
                              <m:accPr>
                                <m:chr m:val="̅"/>
                                <m:ctrlPr>
                                  <a:rPr lang="tr-TR" sz="1600" i="1">
                                    <a:latin typeface="Cambria Math" panose="02040503050406030204" pitchFamily="18" charset="0"/>
                                  </a:rPr>
                                </m:ctrlPr>
                              </m:accPr>
                              <m:e>
                                <m:r>
                                  <m:rPr>
                                    <m:sty m:val="p"/>
                                  </m:rPr>
                                  <a:rPr lang="tr-TR" sz="1600">
                                    <a:latin typeface="Cambria Math" panose="02040503050406030204" pitchFamily="18" charset="0"/>
                                  </a:rPr>
                                  <m:t>λ</m:t>
                                </m:r>
                              </m:e>
                            </m:acc>
                          </m:e>
                          <m:sub>
                            <m:r>
                              <m:rPr>
                                <m:sty m:val="p"/>
                              </m:rPr>
                              <a:rPr lang="tr-TR" sz="1600">
                                <a:latin typeface="Cambria Math" panose="02040503050406030204" pitchFamily="18" charset="0"/>
                              </a:rPr>
                              <m:t>i</m:t>
                            </m:r>
                          </m:sub>
                        </m:sSub>
                      </m:e>
                    </m:nary>
                    <m:f>
                      <m:fPr>
                        <m:ctrlPr>
                          <a:rPr lang="tr-TR" sz="1600" i="1">
                            <a:latin typeface="Cambria Math" panose="02040503050406030204" pitchFamily="18" charset="0"/>
                          </a:rPr>
                        </m:ctrlPr>
                      </m:fPr>
                      <m:num>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g</m:t>
                            </m:r>
                          </m:e>
                          <m:sub>
                            <m:r>
                              <m:rPr>
                                <m:sty m:val="p"/>
                              </m:rPr>
                              <a:rPr lang="tr-TR" sz="1600">
                                <a:latin typeface="Cambria Math" panose="02040503050406030204" pitchFamily="18" charset="0"/>
                              </a:rPr>
                              <m:t>i</m:t>
                            </m:r>
                          </m:sub>
                        </m:sSub>
                        <m:d>
                          <m:dPr>
                            <m:ctrlPr>
                              <a:rPr lang="tr-TR" sz="1600" i="1">
                                <a:latin typeface="Cambria Math" panose="02040503050406030204" pitchFamily="18" charset="0"/>
                              </a:rPr>
                            </m:ctrlPr>
                          </m:dPr>
                          <m:e>
                            <m:acc>
                              <m:accPr>
                                <m:chr m:val="̅"/>
                                <m:ctrlPr>
                                  <a:rPr lang="tr-TR" sz="1600" i="1">
                                    <a:latin typeface="Cambria Math" panose="02040503050406030204" pitchFamily="18" charset="0"/>
                                  </a:rPr>
                                </m:ctrlPr>
                              </m:accPr>
                              <m:e>
                                <m:r>
                                  <m:rPr>
                                    <m:sty m:val="p"/>
                                  </m:rPr>
                                  <a:rPr lang="tr-TR" sz="1600">
                                    <a:latin typeface="Cambria Math" panose="02040503050406030204" pitchFamily="18" charset="0"/>
                                  </a:rPr>
                                  <m:t>x</m:t>
                                </m:r>
                              </m:e>
                            </m:acc>
                          </m:e>
                        </m:d>
                      </m:num>
                      <m:den>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m:rPr>
                                <m:sty m:val="p"/>
                              </m:rPr>
                              <a:rPr lang="tr-TR" sz="1600">
                                <a:latin typeface="Cambria Math" panose="02040503050406030204" pitchFamily="18" charset="0"/>
                              </a:rPr>
                              <m:t>j</m:t>
                            </m:r>
                          </m:sub>
                        </m:sSub>
                      </m:den>
                    </m:f>
                    <m:r>
                      <a:rPr lang="tr-TR" sz="1600">
                        <a:latin typeface="Cambria Math" panose="02040503050406030204" pitchFamily="18" charset="0"/>
                      </a:rPr>
                      <m:t>≤0</m:t>
                    </m:r>
                  </m:oMath>
                </a14:m>
                <a:r>
                  <a:rPr lang="tr-TR" sz="1600" dirty="0"/>
                  <a:t> 		(j=1, 2, …, n)</a:t>
                </a:r>
              </a:p>
              <a:p>
                <a:pPr algn="ctr"/>
                <a14:m>
                  <m:oMath xmlns:m="http://schemas.openxmlformats.org/officeDocument/2006/math">
                    <m:sSub>
                      <m:sSubPr>
                        <m:ctrlPr>
                          <a:rPr lang="tr-TR" sz="1600" i="1">
                            <a:latin typeface="Cambria Math" panose="02040503050406030204" pitchFamily="18" charset="0"/>
                          </a:rPr>
                        </m:ctrlPr>
                      </m:sSubPr>
                      <m:e>
                        <m:acc>
                          <m:accPr>
                            <m:chr m:val="̅"/>
                            <m:ctrlPr>
                              <a:rPr lang="tr-TR" sz="1600" i="1">
                                <a:latin typeface="Cambria Math" panose="02040503050406030204" pitchFamily="18" charset="0"/>
                              </a:rPr>
                            </m:ctrlPr>
                          </m:accPr>
                          <m:e>
                            <m:r>
                              <m:rPr>
                                <m:sty m:val="p"/>
                              </m:rPr>
                              <a:rPr lang="tr-TR" sz="1600">
                                <a:latin typeface="Cambria Math" panose="02040503050406030204" pitchFamily="18" charset="0"/>
                              </a:rPr>
                              <m:t>λ</m:t>
                            </m:r>
                          </m:e>
                        </m:acc>
                      </m:e>
                      <m:sub>
                        <m:r>
                          <m:rPr>
                            <m:sty m:val="p"/>
                          </m:rPr>
                          <a:rPr lang="tr-TR" sz="1600">
                            <a:latin typeface="Cambria Math" panose="02040503050406030204" pitchFamily="18" charset="0"/>
                          </a:rPr>
                          <m:t>i</m:t>
                        </m:r>
                      </m:sub>
                    </m:sSub>
                    <m:d>
                      <m:dPr>
                        <m:begChr m:val="["/>
                        <m:endChr m:val="]"/>
                        <m:ctrlPr>
                          <a:rPr lang="tr-TR" sz="1600" i="1">
                            <a:latin typeface="Cambria Math" panose="02040503050406030204" pitchFamily="18" charset="0"/>
                          </a:rPr>
                        </m:ctrlPr>
                      </m:dPr>
                      <m:e>
                        <m:sSub>
                          <m:sSubPr>
                            <m:ctrlPr>
                              <a:rPr lang="tr-TR" sz="1600" i="1">
                                <a:latin typeface="Cambria Math" panose="02040503050406030204" pitchFamily="18" charset="0"/>
                              </a:rPr>
                            </m:ctrlPr>
                          </m:sSubPr>
                          <m:e>
                            <m:r>
                              <m:rPr>
                                <m:sty m:val="p"/>
                              </m:rPr>
                              <a:rPr lang="tr-TR" sz="1600">
                                <a:latin typeface="Cambria Math" panose="02040503050406030204" pitchFamily="18" charset="0"/>
                              </a:rPr>
                              <m:t>b</m:t>
                            </m:r>
                          </m:e>
                          <m:sub>
                            <m:r>
                              <m:rPr>
                                <m:sty m:val="p"/>
                              </m:rPr>
                              <a:rPr lang="tr-TR" sz="1600">
                                <a:latin typeface="Cambria Math" panose="02040503050406030204" pitchFamily="18" charset="0"/>
                              </a:rPr>
                              <m:t>i</m:t>
                            </m:r>
                          </m:sub>
                        </m:sSub>
                        <m:r>
                          <a:rPr lang="tr-TR" sz="1600" i="1">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g</m:t>
                            </m:r>
                          </m:e>
                          <m:sub>
                            <m:r>
                              <m:rPr>
                                <m:sty m:val="p"/>
                              </m:rPr>
                              <a:rPr lang="tr-TR" sz="1600">
                                <a:latin typeface="Cambria Math" panose="02040503050406030204" pitchFamily="18" charset="0"/>
                              </a:rPr>
                              <m:t>i</m:t>
                            </m:r>
                          </m:sub>
                        </m:sSub>
                        <m:d>
                          <m:dPr>
                            <m:ctrlPr>
                              <a:rPr lang="tr-TR" sz="1600" i="1">
                                <a:latin typeface="Cambria Math" panose="02040503050406030204" pitchFamily="18" charset="0"/>
                              </a:rPr>
                            </m:ctrlPr>
                          </m:dPr>
                          <m:e>
                            <m:acc>
                              <m:accPr>
                                <m:chr m:val="̅"/>
                                <m:ctrlPr>
                                  <a:rPr lang="tr-TR" sz="1600" i="1">
                                    <a:latin typeface="Cambria Math" panose="02040503050406030204" pitchFamily="18" charset="0"/>
                                  </a:rPr>
                                </m:ctrlPr>
                              </m:accPr>
                              <m:e>
                                <m:r>
                                  <m:rPr>
                                    <m:sty m:val="p"/>
                                  </m:rPr>
                                  <a:rPr lang="tr-TR" sz="1600">
                                    <a:latin typeface="Cambria Math" panose="02040503050406030204" pitchFamily="18" charset="0"/>
                                  </a:rPr>
                                  <m:t>x</m:t>
                                </m:r>
                              </m:e>
                            </m:acc>
                          </m:e>
                        </m:d>
                      </m:e>
                    </m:d>
                    <m:r>
                      <a:rPr lang="tr-TR" sz="1600">
                        <a:latin typeface="Cambria Math" panose="02040503050406030204" pitchFamily="18" charset="0"/>
                      </a:rPr>
                      <m:t>=0</m:t>
                    </m:r>
                  </m:oMath>
                </a14:m>
                <a:r>
                  <a:rPr lang="tr-TR" sz="1600" dirty="0"/>
                  <a:t> 			(i=1, 2, …, m)</a:t>
                </a:r>
              </a:p>
              <a:p>
                <a:pPr algn="ctr"/>
                <a14:m>
                  <m:oMath xmlns:m="http://schemas.openxmlformats.org/officeDocument/2006/math">
                    <m:d>
                      <m:dPr>
                        <m:begChr m:val="["/>
                        <m:endChr m:val="]"/>
                        <m:ctrlPr>
                          <a:rPr lang="tr-TR" sz="1600" i="1">
                            <a:latin typeface="Cambria Math" panose="02040503050406030204" pitchFamily="18" charset="0"/>
                          </a:rPr>
                        </m:ctrlPr>
                      </m:dPr>
                      <m:e>
                        <m:f>
                          <m:fPr>
                            <m:ctrlPr>
                              <a:rPr lang="tr-TR" sz="1600" i="1">
                                <a:latin typeface="Cambria Math" panose="02040503050406030204" pitchFamily="18" charset="0"/>
                              </a:rPr>
                            </m:ctrlPr>
                          </m:fPr>
                          <m:num>
                            <m:r>
                              <a:rPr lang="tr-TR" sz="1600">
                                <a:latin typeface="Cambria Math" panose="02040503050406030204" pitchFamily="18" charset="0"/>
                              </a:rPr>
                              <m:t>𝜕</m:t>
                            </m:r>
                            <m:r>
                              <m:rPr>
                                <m:sty m:val="p"/>
                              </m:rPr>
                              <a:rPr lang="tr-TR" sz="1600">
                                <a:latin typeface="Cambria Math" panose="02040503050406030204" pitchFamily="18" charset="0"/>
                              </a:rPr>
                              <m:t>f</m:t>
                            </m:r>
                            <m:r>
                              <a:rPr lang="tr-TR" sz="1600">
                                <a:latin typeface="Cambria Math" panose="02040503050406030204" pitchFamily="18" charset="0"/>
                              </a:rPr>
                              <m:t>(</m:t>
                            </m:r>
                            <m:acc>
                              <m:accPr>
                                <m:chr m:val="̅"/>
                                <m:ctrlPr>
                                  <a:rPr lang="tr-TR" sz="1600" i="1">
                                    <a:latin typeface="Cambria Math" panose="02040503050406030204" pitchFamily="18" charset="0"/>
                                  </a:rPr>
                                </m:ctrlPr>
                              </m:accPr>
                              <m:e>
                                <m:r>
                                  <m:rPr>
                                    <m:sty m:val="p"/>
                                  </m:rPr>
                                  <a:rPr lang="tr-TR" sz="1600">
                                    <a:latin typeface="Cambria Math" panose="02040503050406030204" pitchFamily="18" charset="0"/>
                                  </a:rPr>
                                  <m:t>x</m:t>
                                </m:r>
                              </m:e>
                            </m:acc>
                            <m:r>
                              <a:rPr lang="tr-TR" sz="1600">
                                <a:latin typeface="Cambria Math" panose="02040503050406030204" pitchFamily="18" charset="0"/>
                              </a:rPr>
                              <m:t>)</m:t>
                            </m:r>
                          </m:num>
                          <m:den>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m:rPr>
                                    <m:sty m:val="p"/>
                                  </m:rPr>
                                  <a:rPr lang="tr-TR" sz="1600">
                                    <a:latin typeface="Cambria Math" panose="02040503050406030204" pitchFamily="18" charset="0"/>
                                  </a:rPr>
                                  <m:t>j</m:t>
                                </m:r>
                              </m:sub>
                            </m:sSub>
                          </m:den>
                        </m:f>
                        <m:r>
                          <a:rPr lang="tr-TR" sz="1600" i="1">
                            <a:latin typeface="Cambria Math" panose="02040503050406030204" pitchFamily="18" charset="0"/>
                          </a:rPr>
                          <m:t>−</m:t>
                        </m:r>
                        <m:nary>
                          <m:naryPr>
                            <m:chr m:val="∑"/>
                            <m:limLoc m:val="undOvr"/>
                            <m:ctrlPr>
                              <a:rPr lang="tr-TR" sz="1600" i="1">
                                <a:latin typeface="Cambria Math" panose="02040503050406030204" pitchFamily="18" charset="0"/>
                              </a:rPr>
                            </m:ctrlPr>
                          </m:naryPr>
                          <m:sub>
                            <m:r>
                              <m:rPr>
                                <m:sty m:val="p"/>
                              </m:rPr>
                              <a:rPr lang="tr-TR" sz="1600">
                                <a:latin typeface="Cambria Math" panose="02040503050406030204" pitchFamily="18" charset="0"/>
                              </a:rPr>
                              <m:t>i</m:t>
                            </m:r>
                            <m:r>
                              <a:rPr lang="tr-TR" sz="1600">
                                <a:latin typeface="Cambria Math" panose="02040503050406030204" pitchFamily="18" charset="0"/>
                              </a:rPr>
                              <m:t>=1</m:t>
                            </m:r>
                          </m:sub>
                          <m:sup>
                            <m:r>
                              <m:rPr>
                                <m:sty m:val="p"/>
                              </m:rPr>
                              <a:rPr lang="tr-TR" sz="1600">
                                <a:latin typeface="Cambria Math" panose="02040503050406030204" pitchFamily="18" charset="0"/>
                              </a:rPr>
                              <m:t>i</m:t>
                            </m:r>
                            <m:r>
                              <a:rPr lang="tr-TR" sz="1600">
                                <a:latin typeface="Cambria Math" panose="02040503050406030204" pitchFamily="18" charset="0"/>
                              </a:rPr>
                              <m:t>=</m:t>
                            </m:r>
                            <m:r>
                              <m:rPr>
                                <m:sty m:val="p"/>
                              </m:rPr>
                              <a:rPr lang="tr-TR" sz="1600">
                                <a:latin typeface="Cambria Math" panose="02040503050406030204" pitchFamily="18" charset="0"/>
                              </a:rPr>
                              <m:t>m</m:t>
                            </m:r>
                          </m:sup>
                          <m:e>
                            <m:sSub>
                              <m:sSubPr>
                                <m:ctrlPr>
                                  <a:rPr lang="tr-TR" sz="1600" i="1">
                                    <a:latin typeface="Cambria Math" panose="02040503050406030204" pitchFamily="18" charset="0"/>
                                  </a:rPr>
                                </m:ctrlPr>
                              </m:sSubPr>
                              <m:e>
                                <m:acc>
                                  <m:accPr>
                                    <m:chr m:val="̅"/>
                                    <m:ctrlPr>
                                      <a:rPr lang="tr-TR" sz="1600" i="1">
                                        <a:latin typeface="Cambria Math" panose="02040503050406030204" pitchFamily="18" charset="0"/>
                                      </a:rPr>
                                    </m:ctrlPr>
                                  </m:accPr>
                                  <m:e>
                                    <m:r>
                                      <m:rPr>
                                        <m:sty m:val="p"/>
                                      </m:rPr>
                                      <a:rPr lang="tr-TR" sz="1600">
                                        <a:latin typeface="Cambria Math" panose="02040503050406030204" pitchFamily="18" charset="0"/>
                                      </a:rPr>
                                      <m:t>λ</m:t>
                                    </m:r>
                                  </m:e>
                                </m:acc>
                              </m:e>
                              <m:sub>
                                <m:r>
                                  <m:rPr>
                                    <m:sty m:val="p"/>
                                  </m:rPr>
                                  <a:rPr lang="tr-TR" sz="1600">
                                    <a:latin typeface="Cambria Math" panose="02040503050406030204" pitchFamily="18" charset="0"/>
                                  </a:rPr>
                                  <m:t>i</m:t>
                                </m:r>
                              </m:sub>
                            </m:sSub>
                          </m:e>
                        </m:nary>
                        <m:f>
                          <m:fPr>
                            <m:ctrlPr>
                              <a:rPr lang="tr-TR" sz="1600" i="1">
                                <a:latin typeface="Cambria Math" panose="02040503050406030204" pitchFamily="18" charset="0"/>
                              </a:rPr>
                            </m:ctrlPr>
                          </m:fPr>
                          <m:num>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g</m:t>
                                </m:r>
                              </m:e>
                              <m:sub>
                                <m:r>
                                  <m:rPr>
                                    <m:sty m:val="p"/>
                                  </m:rPr>
                                  <a:rPr lang="tr-TR" sz="1600">
                                    <a:latin typeface="Cambria Math" panose="02040503050406030204" pitchFamily="18" charset="0"/>
                                  </a:rPr>
                                  <m:t>i</m:t>
                                </m:r>
                              </m:sub>
                            </m:sSub>
                            <m:d>
                              <m:dPr>
                                <m:ctrlPr>
                                  <a:rPr lang="tr-TR" sz="1600" i="1">
                                    <a:latin typeface="Cambria Math" panose="02040503050406030204" pitchFamily="18" charset="0"/>
                                  </a:rPr>
                                </m:ctrlPr>
                              </m:dPr>
                              <m:e>
                                <m:acc>
                                  <m:accPr>
                                    <m:chr m:val="̅"/>
                                    <m:ctrlPr>
                                      <a:rPr lang="tr-TR" sz="1600" i="1">
                                        <a:latin typeface="Cambria Math" panose="02040503050406030204" pitchFamily="18" charset="0"/>
                                      </a:rPr>
                                    </m:ctrlPr>
                                  </m:accPr>
                                  <m:e>
                                    <m:r>
                                      <m:rPr>
                                        <m:sty m:val="p"/>
                                      </m:rPr>
                                      <a:rPr lang="tr-TR" sz="1600">
                                        <a:latin typeface="Cambria Math" panose="02040503050406030204" pitchFamily="18" charset="0"/>
                                      </a:rPr>
                                      <m:t>x</m:t>
                                    </m:r>
                                  </m:e>
                                </m:acc>
                              </m:e>
                            </m:d>
                          </m:num>
                          <m:den>
                            <m:r>
                              <a:rPr lang="tr-TR" sz="1600">
                                <a:latin typeface="Cambria Math" panose="02040503050406030204" pitchFamily="18" charset="0"/>
                              </a:rPr>
                              <m:t>𝜕</m:t>
                            </m:r>
                            <m:sSub>
                              <m:sSubPr>
                                <m:ctrlPr>
                                  <a:rPr lang="tr-TR" sz="1600" i="1">
                                    <a:latin typeface="Cambria Math" panose="02040503050406030204" pitchFamily="18" charset="0"/>
                                  </a:rPr>
                                </m:ctrlPr>
                              </m:sSubPr>
                              <m:e>
                                <m:r>
                                  <m:rPr>
                                    <m:sty m:val="p"/>
                                  </m:rPr>
                                  <a:rPr lang="tr-TR" sz="1600">
                                    <a:latin typeface="Cambria Math" panose="02040503050406030204" pitchFamily="18" charset="0"/>
                                  </a:rPr>
                                  <m:t>x</m:t>
                                </m:r>
                              </m:e>
                              <m:sub>
                                <m:r>
                                  <m:rPr>
                                    <m:sty m:val="p"/>
                                  </m:rPr>
                                  <a:rPr lang="tr-TR" sz="1600">
                                    <a:latin typeface="Cambria Math" panose="02040503050406030204" pitchFamily="18" charset="0"/>
                                  </a:rPr>
                                  <m:t>j</m:t>
                                </m:r>
                              </m:sub>
                            </m:sSub>
                          </m:den>
                        </m:f>
                      </m:e>
                    </m:d>
                    <m:sSub>
                      <m:sSubPr>
                        <m:ctrlPr>
                          <a:rPr lang="tr-TR" sz="1600" i="1">
                            <a:latin typeface="Cambria Math" panose="02040503050406030204" pitchFamily="18" charset="0"/>
                          </a:rPr>
                        </m:ctrlPr>
                      </m:sSubPr>
                      <m:e>
                        <m:acc>
                          <m:accPr>
                            <m:chr m:val="̅"/>
                            <m:ctrlPr>
                              <a:rPr lang="tr-TR" sz="1600" i="1">
                                <a:latin typeface="Cambria Math" panose="02040503050406030204" pitchFamily="18" charset="0"/>
                              </a:rPr>
                            </m:ctrlPr>
                          </m:accPr>
                          <m:e>
                            <m:r>
                              <m:rPr>
                                <m:sty m:val="p"/>
                              </m:rPr>
                              <a:rPr lang="tr-TR" sz="1600">
                                <a:latin typeface="Cambria Math" panose="02040503050406030204" pitchFamily="18" charset="0"/>
                              </a:rPr>
                              <m:t>x</m:t>
                            </m:r>
                          </m:e>
                        </m:acc>
                      </m:e>
                      <m:sub>
                        <m:r>
                          <m:rPr>
                            <m:sty m:val="p"/>
                          </m:rPr>
                          <a:rPr lang="tr-TR" sz="1600">
                            <a:latin typeface="Cambria Math" panose="02040503050406030204" pitchFamily="18" charset="0"/>
                          </a:rPr>
                          <m:t>j</m:t>
                        </m:r>
                      </m:sub>
                    </m:sSub>
                    <m:r>
                      <a:rPr lang="tr-TR" sz="1600">
                        <a:latin typeface="Cambria Math" panose="02040503050406030204" pitchFamily="18" charset="0"/>
                      </a:rPr>
                      <m:t>=0</m:t>
                    </m:r>
                  </m:oMath>
                </a14:m>
                <a:r>
                  <a:rPr lang="tr-TR" sz="1600" dirty="0"/>
                  <a:t> 		(j=1, 2, …, n)</a:t>
                </a:r>
              </a:p>
              <a:p>
                <a:pPr algn="ctr"/>
                <a14:m>
                  <m:oMath xmlns:m="http://schemas.openxmlformats.org/officeDocument/2006/math">
                    <m:sSub>
                      <m:sSubPr>
                        <m:ctrlPr>
                          <a:rPr lang="tr-TR" sz="1600" i="1">
                            <a:latin typeface="Cambria Math" panose="02040503050406030204" pitchFamily="18" charset="0"/>
                          </a:rPr>
                        </m:ctrlPr>
                      </m:sSubPr>
                      <m:e>
                        <m:acc>
                          <m:accPr>
                            <m:chr m:val="̅"/>
                            <m:ctrlPr>
                              <a:rPr lang="tr-TR" sz="1600" i="1">
                                <a:latin typeface="Cambria Math" panose="02040503050406030204" pitchFamily="18" charset="0"/>
                              </a:rPr>
                            </m:ctrlPr>
                          </m:accPr>
                          <m:e>
                            <m:r>
                              <m:rPr>
                                <m:sty m:val="p"/>
                              </m:rPr>
                              <a:rPr lang="tr-TR" sz="1600">
                                <a:latin typeface="Cambria Math" panose="02040503050406030204" pitchFamily="18" charset="0"/>
                              </a:rPr>
                              <m:t>λ</m:t>
                            </m:r>
                          </m:e>
                        </m:acc>
                      </m:e>
                      <m:sub>
                        <m:r>
                          <m:rPr>
                            <m:sty m:val="p"/>
                          </m:rPr>
                          <a:rPr lang="tr-TR" sz="1600">
                            <a:latin typeface="Cambria Math" panose="02040503050406030204" pitchFamily="18" charset="0"/>
                          </a:rPr>
                          <m:t>i</m:t>
                        </m:r>
                      </m:sub>
                    </m:sSub>
                    <m:r>
                      <a:rPr lang="tr-TR" sz="1600">
                        <a:latin typeface="Cambria Math" panose="02040503050406030204" pitchFamily="18" charset="0"/>
                      </a:rPr>
                      <m:t>≥0</m:t>
                    </m:r>
                  </m:oMath>
                </a14:m>
                <a:r>
                  <a:rPr lang="tr-TR" sz="1600" dirty="0"/>
                  <a:t> 				(i=1, 2, …, m)</a:t>
                </a:r>
              </a:p>
            </p:txBody>
          </p:sp>
        </mc:Choice>
        <mc:Fallback xmlns="">
          <p:sp>
            <p:nvSpPr>
              <p:cNvPr id="12" name="Metin kutusu 11"/>
              <p:cNvSpPr txBox="1">
                <a:spLocks noRot="1" noChangeAspect="1" noMove="1" noResize="1" noEditPoints="1" noAdjustHandles="1" noChangeArrowheads="1" noChangeShapeType="1" noTextEdit="1"/>
              </p:cNvSpPr>
              <p:nvPr/>
            </p:nvSpPr>
            <p:spPr>
              <a:xfrm>
                <a:off x="25758" y="1435041"/>
                <a:ext cx="9154754" cy="5162311"/>
              </a:xfrm>
              <a:prstGeom prst="rect">
                <a:avLst/>
              </a:prstGeom>
              <a:blipFill>
                <a:blip r:embed="rId5"/>
                <a:stretch>
                  <a:fillRect l="-533" t="-590" r="-799" b="-1771"/>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85845836-CC8B-D9E0-FD40-5D5F548B554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0404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sp>
        <p:nvSpPr>
          <p:cNvPr id="15" name="Metin kutusu 12"/>
          <p:cNvSpPr txBox="1"/>
          <p:nvPr/>
        </p:nvSpPr>
        <p:spPr>
          <a:xfrm>
            <a:off x="579950" y="6525344"/>
            <a:ext cx="8555120" cy="307777"/>
          </a:xfrm>
          <a:prstGeom prst="rect">
            <a:avLst/>
          </a:prstGeom>
          <a:noFill/>
        </p:spPr>
        <p:txBody>
          <a:bodyPr wrap="square" rtlCol="0">
            <a:spAutoFit/>
          </a:bodyPr>
          <a:lstStyle/>
          <a:p>
            <a:pPr algn="ctr"/>
            <a:r>
              <a:rPr lang="tr-TR" sz="1400" b="1" dirty="0">
                <a:solidFill>
                  <a:schemeClr val="bg1"/>
                </a:solidFill>
              </a:rPr>
              <a:t>H. YAZGAN 	                                                			             YÖNEYLEM ARAŞTIRMASI ③ </a:t>
            </a:r>
          </a:p>
        </p:txBody>
      </p:sp>
      <p:sp>
        <p:nvSpPr>
          <p:cNvPr id="12" name="Metin kutusu 11"/>
          <p:cNvSpPr txBox="1"/>
          <p:nvPr/>
        </p:nvSpPr>
        <p:spPr>
          <a:xfrm>
            <a:off x="9738" y="692696"/>
            <a:ext cx="9145016" cy="830997"/>
          </a:xfrm>
          <a:prstGeom prst="rect">
            <a:avLst/>
          </a:prstGeom>
          <a:noFill/>
        </p:spPr>
        <p:txBody>
          <a:bodyPr wrap="square" rtlCol="0">
            <a:spAutoFit/>
          </a:bodyPr>
          <a:lstStyle/>
          <a:p>
            <a:pPr algn="ctr"/>
            <a:r>
              <a:rPr lang="tr-TR" sz="4800" b="1" dirty="0" err="1"/>
              <a:t>Kuhn-Tucker</a:t>
            </a:r>
            <a:r>
              <a:rPr lang="tr-TR" sz="4800" b="1" dirty="0"/>
              <a:t> Şartları</a:t>
            </a:r>
            <a:endParaRPr lang="tr-TR" sz="4800" dirty="0"/>
          </a:p>
        </p:txBody>
      </p:sp>
      <mc:AlternateContent xmlns:mc="http://schemas.openxmlformats.org/markup-compatibility/2006" xmlns:a14="http://schemas.microsoft.com/office/drawing/2010/main">
        <mc:Choice Requires="a14">
          <p:sp>
            <p:nvSpPr>
              <p:cNvPr id="13" name="Metin kutusu 12"/>
              <p:cNvSpPr txBox="1"/>
              <p:nvPr/>
            </p:nvSpPr>
            <p:spPr>
              <a:xfrm>
                <a:off x="0" y="1636611"/>
                <a:ext cx="9154754" cy="4207562"/>
              </a:xfrm>
              <a:prstGeom prst="rect">
                <a:avLst/>
              </a:prstGeom>
              <a:noFill/>
            </p:spPr>
            <p:txBody>
              <a:bodyPr wrap="square" rtlCol="0">
                <a:spAutoFit/>
              </a:bodyPr>
              <a:lstStyle/>
              <a:p>
                <a:r>
                  <a:rPr lang="tr-TR" dirty="0"/>
                  <a:t>Modelin genel formu böyleyse, amaç fonksiyonu </a:t>
                </a:r>
                <a:r>
                  <a:rPr lang="tr-TR" dirty="0" err="1"/>
                  <a:t>enküçükleme</a:t>
                </a:r>
                <a:r>
                  <a:rPr lang="tr-TR" dirty="0"/>
                  <a:t> olan bir modelde, eğer  </a:t>
                </a:r>
                <a14:m>
                  <m:oMath xmlns:m="http://schemas.openxmlformats.org/officeDocument/2006/math">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m:rPr>
                            <m:sty m:val="p"/>
                          </m:rPr>
                          <a:rPr lang="tr-TR">
                            <a:latin typeface="Cambria Math" panose="02040503050406030204" pitchFamily="18" charset="0"/>
                          </a:rPr>
                          <m:t>n</m:t>
                        </m:r>
                      </m:sub>
                    </m:sSub>
                    <m:r>
                      <a:rPr lang="tr-TR">
                        <a:latin typeface="Cambria Math" panose="02040503050406030204" pitchFamily="18" charset="0"/>
                      </a:rPr>
                      <m:t>)</m:t>
                    </m:r>
                  </m:oMath>
                </a14:m>
                <a:r>
                  <a:rPr lang="tr-TR" dirty="0"/>
                  <a:t> optimal bir çözümse, m tane </a:t>
                </a:r>
                <a:r>
                  <a:rPr lang="tr-TR" dirty="0" err="1"/>
                  <a:t>kısıtı</a:t>
                </a:r>
                <a:r>
                  <a:rPr lang="tr-TR" dirty="0"/>
                  <a:t> ve var olan </a:t>
                </a: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m</m:t>
                        </m:r>
                      </m:sub>
                    </m:sSub>
                  </m:oMath>
                </a14:m>
                <a:r>
                  <a:rPr lang="tr-TR" dirty="0"/>
                  <a:t> çarpanları ile aşağıdaki koşulları sağlamalıdır:</a:t>
                </a:r>
              </a:p>
              <a:p>
                <a:endParaRPr lang="tr-TR" dirty="0"/>
              </a:p>
              <a:p>
                <a:endParaRPr lang="tr-TR" dirty="0"/>
              </a:p>
              <a:p>
                <a:pPr algn="ctr"/>
                <a14:m>
                  <m:oMath xmlns:m="http://schemas.openxmlformats.org/officeDocument/2006/math">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r>
                          <a:rPr lang="tr-TR">
                            <a:latin typeface="Cambria Math" panose="02040503050406030204" pitchFamily="18" charset="0"/>
                          </a:rPr>
                          <m:t>(</m:t>
                        </m:r>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r>
                          <a:rPr lang="tr-TR">
                            <a:latin typeface="Cambria Math" panose="02040503050406030204" pitchFamily="18" charset="0"/>
                          </a:rPr>
                          <m:t>)</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m:rPr>
                                <m:sty m:val="p"/>
                              </m:rPr>
                              <a:rPr lang="tr-TR">
                                <a:latin typeface="Cambria Math" panose="02040503050406030204" pitchFamily="18" charset="0"/>
                              </a:rPr>
                              <m:t>j</m:t>
                            </m:r>
                          </m:sub>
                        </m:sSub>
                      </m:den>
                    </m:f>
                    <m:r>
                      <a:rPr lang="tr-TR">
                        <a:latin typeface="Cambria Math" panose="02040503050406030204" pitchFamily="18" charset="0"/>
                      </a:rPr>
                      <m:t>+</m:t>
                    </m:r>
                    <m:nary>
                      <m:naryPr>
                        <m:chr m:val="∑"/>
                        <m:limLoc m:val="undOvr"/>
                        <m:ctrlPr>
                          <a:rPr lang="tr-TR" i="1">
                            <a:latin typeface="Cambria Math" panose="02040503050406030204" pitchFamily="18" charset="0"/>
                          </a:rPr>
                        </m:ctrlPr>
                      </m:naryPr>
                      <m:sub>
                        <m:r>
                          <m:rPr>
                            <m:sty m:val="p"/>
                          </m:rPr>
                          <a:rPr lang="tr-TR">
                            <a:latin typeface="Cambria Math" panose="02040503050406030204" pitchFamily="18" charset="0"/>
                          </a:rPr>
                          <m:t>i</m:t>
                        </m:r>
                        <m:r>
                          <a:rPr lang="tr-TR">
                            <a:latin typeface="Cambria Math" panose="02040503050406030204" pitchFamily="18" charset="0"/>
                          </a:rPr>
                          <m:t>=1</m:t>
                        </m:r>
                      </m:sub>
                      <m:sup>
                        <m:r>
                          <m:rPr>
                            <m:sty m:val="p"/>
                          </m:rPr>
                          <a:rPr lang="tr-TR">
                            <a:latin typeface="Cambria Math" panose="02040503050406030204" pitchFamily="18" charset="0"/>
                          </a:rPr>
                          <m:t>i</m:t>
                        </m:r>
                        <m:r>
                          <a:rPr lang="tr-TR">
                            <a:latin typeface="Cambria Math" panose="02040503050406030204" pitchFamily="18" charset="0"/>
                          </a:rPr>
                          <m:t>=</m:t>
                        </m:r>
                        <m:r>
                          <m:rPr>
                            <m:sty m:val="p"/>
                          </m:rPr>
                          <a:rPr lang="tr-TR">
                            <a:latin typeface="Cambria Math" panose="02040503050406030204" pitchFamily="18" charset="0"/>
                          </a:rPr>
                          <m:t>m</m:t>
                        </m:r>
                      </m:sup>
                      <m:e>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i</m:t>
                            </m:r>
                          </m:sub>
                        </m:sSub>
                      </m:e>
                    </m:nary>
                    <m:f>
                      <m:fPr>
                        <m:ctrlPr>
                          <a:rPr lang="tr-TR" i="1">
                            <a:latin typeface="Cambria Math" panose="02040503050406030204" pitchFamily="18" charset="0"/>
                          </a:rPr>
                        </m:ctrlPr>
                      </m:fPr>
                      <m:num>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g</m:t>
                            </m:r>
                          </m:e>
                          <m:sub>
                            <m:r>
                              <m:rPr>
                                <m:sty m:val="p"/>
                              </m:rPr>
                              <a:rPr lang="tr-TR">
                                <a:latin typeface="Cambria Math" panose="02040503050406030204" pitchFamily="18" charset="0"/>
                              </a:rPr>
                              <m:t>i</m:t>
                            </m:r>
                          </m:sub>
                        </m:sSub>
                        <m:d>
                          <m:dPr>
                            <m:ctrlPr>
                              <a:rPr lang="tr-TR" i="1">
                                <a:latin typeface="Cambria Math" panose="02040503050406030204" pitchFamily="18" charset="0"/>
                              </a:rPr>
                            </m:ctrlPr>
                          </m:d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d>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m:rPr>
                                <m:sty m:val="p"/>
                              </m:rPr>
                              <a:rPr lang="tr-TR">
                                <a:latin typeface="Cambria Math" panose="02040503050406030204" pitchFamily="18" charset="0"/>
                              </a:rPr>
                              <m:t>j</m:t>
                            </m:r>
                          </m:sub>
                        </m:sSub>
                      </m:den>
                    </m:f>
                    <m:r>
                      <a:rPr lang="tr-TR">
                        <a:latin typeface="Cambria Math" panose="02040503050406030204" pitchFamily="18" charset="0"/>
                      </a:rPr>
                      <m:t>≥0</m:t>
                    </m:r>
                  </m:oMath>
                </a14:m>
                <a:r>
                  <a:rPr lang="tr-TR" dirty="0"/>
                  <a:t> 		(j=1, 2, …, n)</a:t>
                </a:r>
              </a:p>
              <a:p>
                <a:pPr algn="ct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i</m:t>
                        </m:r>
                      </m:sub>
                    </m:sSub>
                    <m:d>
                      <m:dPr>
                        <m:begChr m:val="["/>
                        <m:endChr m:val="]"/>
                        <m:ctrlPr>
                          <a:rPr lang="tr-TR" i="1">
                            <a:latin typeface="Cambria Math" panose="02040503050406030204" pitchFamily="18" charset="0"/>
                          </a:rPr>
                        </m:ctrlPr>
                      </m:dPr>
                      <m:e>
                        <m:sSub>
                          <m:sSubPr>
                            <m:ctrlPr>
                              <a:rPr lang="tr-TR" i="1">
                                <a:latin typeface="Cambria Math" panose="02040503050406030204" pitchFamily="18" charset="0"/>
                              </a:rPr>
                            </m:ctrlPr>
                          </m:sSubPr>
                          <m:e>
                            <m:r>
                              <m:rPr>
                                <m:sty m:val="p"/>
                              </m:rPr>
                              <a:rPr lang="tr-TR">
                                <a:latin typeface="Cambria Math" panose="02040503050406030204" pitchFamily="18" charset="0"/>
                              </a:rPr>
                              <m:t>b</m:t>
                            </m:r>
                          </m:e>
                          <m:sub>
                            <m:r>
                              <m:rPr>
                                <m:sty m:val="p"/>
                              </m:rPr>
                              <a:rPr lang="tr-TR">
                                <a:latin typeface="Cambria Math" panose="02040503050406030204" pitchFamily="18" charset="0"/>
                              </a:rPr>
                              <m:t>i</m:t>
                            </m:r>
                          </m:sub>
                        </m:sSub>
                        <m:r>
                          <a:rPr lang="tr-TR" i="1">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g</m:t>
                            </m:r>
                          </m:e>
                          <m:sub>
                            <m:r>
                              <m:rPr>
                                <m:sty m:val="p"/>
                              </m:rPr>
                              <a:rPr lang="tr-TR">
                                <a:latin typeface="Cambria Math" panose="02040503050406030204" pitchFamily="18" charset="0"/>
                              </a:rPr>
                              <m:t>i</m:t>
                            </m:r>
                          </m:sub>
                        </m:sSub>
                        <m:d>
                          <m:dPr>
                            <m:ctrlPr>
                              <a:rPr lang="tr-TR" i="1">
                                <a:latin typeface="Cambria Math" panose="02040503050406030204" pitchFamily="18" charset="0"/>
                              </a:rPr>
                            </m:ctrlPr>
                          </m:d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d>
                      </m:e>
                    </m:d>
                    <m:r>
                      <a:rPr lang="tr-TR">
                        <a:latin typeface="Cambria Math" panose="02040503050406030204" pitchFamily="18" charset="0"/>
                      </a:rPr>
                      <m:t>=0</m:t>
                    </m:r>
                  </m:oMath>
                </a14:m>
                <a:r>
                  <a:rPr lang="tr-TR" dirty="0"/>
                  <a:t> 			(i=1, 2, …, m)</a:t>
                </a:r>
              </a:p>
              <a:p>
                <a:pPr algn="ctr"/>
                <a14:m>
                  <m:oMath xmlns:m="http://schemas.openxmlformats.org/officeDocument/2006/math">
                    <m:d>
                      <m:dPr>
                        <m:begChr m:val="["/>
                        <m:endChr m:val="]"/>
                        <m:ctrlPr>
                          <a:rPr lang="tr-TR" i="1">
                            <a:latin typeface="Cambria Math" panose="02040503050406030204" pitchFamily="18" charset="0"/>
                          </a:rPr>
                        </m:ctrlPr>
                      </m:dPr>
                      <m:e>
                        <m:f>
                          <m:fPr>
                            <m:ctrlPr>
                              <a:rPr lang="tr-TR" i="1">
                                <a:latin typeface="Cambria Math" panose="02040503050406030204" pitchFamily="18" charset="0"/>
                              </a:rPr>
                            </m:ctrlPr>
                          </m:fPr>
                          <m:num>
                            <m:r>
                              <a:rPr lang="tr-TR">
                                <a:latin typeface="Cambria Math" panose="02040503050406030204" pitchFamily="18" charset="0"/>
                              </a:rPr>
                              <m:t>𝜕</m:t>
                            </m:r>
                            <m:r>
                              <m:rPr>
                                <m:sty m:val="p"/>
                              </m:rPr>
                              <a:rPr lang="tr-TR">
                                <a:latin typeface="Cambria Math" panose="02040503050406030204" pitchFamily="18" charset="0"/>
                              </a:rPr>
                              <m:t>f</m:t>
                            </m:r>
                            <m:r>
                              <a:rPr lang="tr-TR">
                                <a:latin typeface="Cambria Math" panose="02040503050406030204" pitchFamily="18" charset="0"/>
                              </a:rPr>
                              <m:t>(</m:t>
                            </m:r>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r>
                              <a:rPr lang="tr-TR">
                                <a:latin typeface="Cambria Math" panose="02040503050406030204" pitchFamily="18" charset="0"/>
                              </a:rPr>
                              <m:t>)</m:t>
                            </m:r>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m:rPr>
                                    <m:sty m:val="p"/>
                                  </m:rPr>
                                  <a:rPr lang="tr-TR">
                                    <a:latin typeface="Cambria Math" panose="02040503050406030204" pitchFamily="18" charset="0"/>
                                  </a:rPr>
                                  <m:t>j</m:t>
                                </m:r>
                              </m:sub>
                            </m:sSub>
                          </m:den>
                        </m:f>
                        <m:r>
                          <a:rPr lang="tr-TR">
                            <a:latin typeface="Cambria Math" panose="02040503050406030204" pitchFamily="18" charset="0"/>
                          </a:rPr>
                          <m:t>+</m:t>
                        </m:r>
                        <m:nary>
                          <m:naryPr>
                            <m:chr m:val="∑"/>
                            <m:limLoc m:val="undOvr"/>
                            <m:ctrlPr>
                              <a:rPr lang="tr-TR" i="1">
                                <a:latin typeface="Cambria Math" panose="02040503050406030204" pitchFamily="18" charset="0"/>
                              </a:rPr>
                            </m:ctrlPr>
                          </m:naryPr>
                          <m:sub>
                            <m:r>
                              <m:rPr>
                                <m:sty m:val="p"/>
                              </m:rPr>
                              <a:rPr lang="tr-TR">
                                <a:latin typeface="Cambria Math" panose="02040503050406030204" pitchFamily="18" charset="0"/>
                              </a:rPr>
                              <m:t>i</m:t>
                            </m:r>
                            <m:r>
                              <a:rPr lang="tr-TR">
                                <a:latin typeface="Cambria Math" panose="02040503050406030204" pitchFamily="18" charset="0"/>
                              </a:rPr>
                              <m:t>=1</m:t>
                            </m:r>
                          </m:sub>
                          <m:sup>
                            <m:r>
                              <m:rPr>
                                <m:sty m:val="p"/>
                              </m:rPr>
                              <a:rPr lang="tr-TR">
                                <a:latin typeface="Cambria Math" panose="02040503050406030204" pitchFamily="18" charset="0"/>
                              </a:rPr>
                              <m:t>i</m:t>
                            </m:r>
                            <m:r>
                              <a:rPr lang="tr-TR">
                                <a:latin typeface="Cambria Math" panose="02040503050406030204" pitchFamily="18" charset="0"/>
                              </a:rPr>
                              <m:t>=</m:t>
                            </m:r>
                            <m:r>
                              <m:rPr>
                                <m:sty m:val="p"/>
                              </m:rPr>
                              <a:rPr lang="tr-TR">
                                <a:latin typeface="Cambria Math" panose="02040503050406030204" pitchFamily="18" charset="0"/>
                              </a:rPr>
                              <m:t>m</m:t>
                            </m:r>
                          </m:sup>
                          <m:e>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i</m:t>
                                </m:r>
                              </m:sub>
                            </m:sSub>
                          </m:e>
                        </m:nary>
                        <m:f>
                          <m:fPr>
                            <m:ctrlPr>
                              <a:rPr lang="tr-TR" i="1">
                                <a:latin typeface="Cambria Math" panose="02040503050406030204" pitchFamily="18" charset="0"/>
                              </a:rPr>
                            </m:ctrlPr>
                          </m:fPr>
                          <m:num>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g</m:t>
                                </m:r>
                              </m:e>
                              <m:sub>
                                <m:r>
                                  <m:rPr>
                                    <m:sty m:val="p"/>
                                  </m:rPr>
                                  <a:rPr lang="tr-TR">
                                    <a:latin typeface="Cambria Math" panose="02040503050406030204" pitchFamily="18" charset="0"/>
                                  </a:rPr>
                                  <m:t>i</m:t>
                                </m:r>
                              </m:sub>
                            </m:sSub>
                            <m:d>
                              <m:dPr>
                                <m:ctrlPr>
                                  <a:rPr lang="tr-TR" i="1">
                                    <a:latin typeface="Cambria Math" panose="02040503050406030204" pitchFamily="18" charset="0"/>
                                  </a:rPr>
                                </m:ctrlPr>
                              </m:d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d>
                          </m:num>
                          <m:den>
                            <m:r>
                              <a:rPr lang="tr-TR">
                                <a:latin typeface="Cambria Math" panose="02040503050406030204" pitchFamily="18" charset="0"/>
                              </a:rPr>
                              <m:t>𝜕</m:t>
                            </m:r>
                            <m:sSub>
                              <m:sSubPr>
                                <m:ctrlPr>
                                  <a:rPr lang="tr-TR" i="1">
                                    <a:latin typeface="Cambria Math" panose="02040503050406030204" pitchFamily="18" charset="0"/>
                                  </a:rPr>
                                </m:ctrlPr>
                              </m:sSubPr>
                              <m:e>
                                <m:r>
                                  <m:rPr>
                                    <m:sty m:val="p"/>
                                  </m:rPr>
                                  <a:rPr lang="tr-TR">
                                    <a:latin typeface="Cambria Math" panose="02040503050406030204" pitchFamily="18" charset="0"/>
                                  </a:rPr>
                                  <m:t>x</m:t>
                                </m:r>
                              </m:e>
                              <m:sub>
                                <m:r>
                                  <m:rPr>
                                    <m:sty m:val="p"/>
                                  </m:rPr>
                                  <a:rPr lang="tr-TR">
                                    <a:latin typeface="Cambria Math" panose="02040503050406030204" pitchFamily="18" charset="0"/>
                                  </a:rPr>
                                  <m:t>j</m:t>
                                </m:r>
                              </m:sub>
                            </m:sSub>
                          </m:den>
                        </m:f>
                      </m:e>
                    </m:d>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x</m:t>
                            </m:r>
                          </m:e>
                        </m:acc>
                      </m:e>
                      <m:sub>
                        <m:r>
                          <m:rPr>
                            <m:sty m:val="p"/>
                          </m:rPr>
                          <a:rPr lang="tr-TR">
                            <a:latin typeface="Cambria Math" panose="02040503050406030204" pitchFamily="18" charset="0"/>
                          </a:rPr>
                          <m:t>j</m:t>
                        </m:r>
                      </m:sub>
                    </m:sSub>
                    <m:r>
                      <a:rPr lang="tr-TR">
                        <a:latin typeface="Cambria Math" panose="02040503050406030204" pitchFamily="18" charset="0"/>
                      </a:rPr>
                      <m:t>=0</m:t>
                    </m:r>
                  </m:oMath>
                </a14:m>
                <a:r>
                  <a:rPr lang="tr-TR" dirty="0"/>
                  <a:t> 		(j=1, 2, …, n)</a:t>
                </a:r>
              </a:p>
              <a:p>
                <a:pPr algn="ct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i</m:t>
                        </m:r>
                      </m:sub>
                    </m:sSub>
                    <m:r>
                      <a:rPr lang="tr-TR">
                        <a:latin typeface="Cambria Math" panose="02040503050406030204" pitchFamily="18" charset="0"/>
                      </a:rPr>
                      <m:t>≥0</m:t>
                    </m:r>
                  </m:oMath>
                </a14:m>
                <a:r>
                  <a:rPr lang="tr-TR" dirty="0"/>
                  <a:t> 				 (i=1, 2, …, m)</a:t>
                </a:r>
              </a:p>
              <a:p>
                <a:r>
                  <a:rPr lang="tr-TR" dirty="0"/>
                  <a:t> </a:t>
                </a:r>
              </a:p>
              <a:p>
                <a:endParaRPr lang="tr-TR" dirty="0"/>
              </a:p>
              <a:p>
                <a:r>
                  <a:rPr lang="tr-TR" dirty="0"/>
                  <a:t>Bu şartları sağlayan </a:t>
                </a:r>
                <a14:m>
                  <m:oMath xmlns:m="http://schemas.openxmlformats.org/officeDocument/2006/math">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a:rPr lang="tr-TR">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acc>
                          <m:accPr>
                            <m:chr m:val="̅"/>
                            <m:ctrlPr>
                              <a:rPr lang="tr-TR" i="1">
                                <a:latin typeface="Cambria Math" panose="02040503050406030204" pitchFamily="18" charset="0"/>
                              </a:rPr>
                            </m:ctrlPr>
                          </m:accPr>
                          <m:e>
                            <m:r>
                              <m:rPr>
                                <m:sty m:val="p"/>
                              </m:rPr>
                              <a:rPr lang="tr-TR">
                                <a:latin typeface="Cambria Math" panose="02040503050406030204" pitchFamily="18" charset="0"/>
                              </a:rPr>
                              <m:t>λ</m:t>
                            </m:r>
                          </m:e>
                        </m:acc>
                      </m:e>
                      <m:sub>
                        <m:r>
                          <m:rPr>
                            <m:sty m:val="p"/>
                          </m:rPr>
                          <a:rPr lang="tr-TR">
                            <a:latin typeface="Cambria Math" panose="02040503050406030204" pitchFamily="18" charset="0"/>
                          </a:rPr>
                          <m:t>m</m:t>
                        </m:r>
                      </m:sub>
                    </m:sSub>
                  </m:oMath>
                </a14:m>
                <a:r>
                  <a:rPr lang="tr-TR" dirty="0"/>
                  <a:t> çarpanlarından yola çıkarak, yazılan tüm </a:t>
                </a:r>
                <a:r>
                  <a:rPr lang="tr-TR" dirty="0" err="1"/>
                  <a:t>Kuhn-Tucker</a:t>
                </a:r>
                <a:r>
                  <a:rPr lang="tr-TR" dirty="0"/>
                  <a:t> şartlarını sağlayan değişken değerlerini bulabiliriz. </a:t>
                </a:r>
              </a:p>
            </p:txBody>
          </p:sp>
        </mc:Choice>
        <mc:Fallback xmlns="">
          <p:sp>
            <p:nvSpPr>
              <p:cNvPr id="13" name="Metin kutusu 12"/>
              <p:cNvSpPr txBox="1">
                <a:spLocks noRot="1" noChangeAspect="1" noMove="1" noResize="1" noEditPoints="1" noAdjustHandles="1" noChangeArrowheads="1" noChangeShapeType="1" noTextEdit="1"/>
              </p:cNvSpPr>
              <p:nvPr/>
            </p:nvSpPr>
            <p:spPr>
              <a:xfrm>
                <a:off x="0" y="1636611"/>
                <a:ext cx="9154754" cy="4207562"/>
              </a:xfrm>
              <a:prstGeom prst="rect">
                <a:avLst/>
              </a:prstGeom>
              <a:blipFill>
                <a:blip r:embed="rId5"/>
                <a:stretch>
                  <a:fillRect l="-533" t="-724" r="-732"/>
                </a:stretch>
              </a:blipFill>
            </p:spPr>
            <p:txBody>
              <a:bodyPr/>
              <a:lstStyle/>
              <a:p>
                <a:r>
                  <a:rPr lang="tr-TR">
                    <a:noFill/>
                  </a:rPr>
                  <a:t> </a:t>
                </a:r>
              </a:p>
            </p:txBody>
          </p:sp>
        </mc:Fallback>
      </mc:AlternateContent>
      <p:pic>
        <p:nvPicPr>
          <p:cNvPr id="3" name="Resim 4">
            <a:extLst>
              <a:ext uri="{FF2B5EF4-FFF2-40B4-BE49-F238E27FC236}">
                <a16:creationId xmlns:a16="http://schemas.microsoft.com/office/drawing/2014/main" id="{5D3FE428-78A3-26FB-6A3A-987CF1A50A4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4810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pic>
        <p:nvPicPr>
          <p:cNvPr id="9"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
        <p:nvSpPr>
          <p:cNvPr id="13" name="Metin kutusu 12"/>
          <p:cNvSpPr txBox="1"/>
          <p:nvPr/>
        </p:nvSpPr>
        <p:spPr>
          <a:xfrm>
            <a:off x="9738" y="692696"/>
            <a:ext cx="9145016" cy="707886"/>
          </a:xfrm>
          <a:prstGeom prst="rect">
            <a:avLst/>
          </a:prstGeom>
          <a:noFill/>
        </p:spPr>
        <p:txBody>
          <a:bodyPr wrap="square" rtlCol="0">
            <a:spAutoFit/>
          </a:bodyPr>
          <a:lstStyle/>
          <a:p>
            <a:pPr algn="ctr"/>
            <a:r>
              <a:rPr lang="tr-TR" sz="4000" b="1" dirty="0"/>
              <a:t>ÖRNEK 3</a:t>
            </a:r>
            <a:endParaRPr lang="tr-TR" sz="4000" dirty="0"/>
          </a:p>
        </p:txBody>
      </p:sp>
      <p:sp>
        <p:nvSpPr>
          <p:cNvPr id="14" name="Metin kutusu 13"/>
          <p:cNvSpPr txBox="1"/>
          <p:nvPr/>
        </p:nvSpPr>
        <p:spPr>
          <a:xfrm>
            <a:off x="0" y="1215884"/>
            <a:ext cx="9145016" cy="1477328"/>
          </a:xfrm>
          <a:prstGeom prst="rect">
            <a:avLst/>
          </a:prstGeom>
          <a:noFill/>
        </p:spPr>
        <p:txBody>
          <a:bodyPr wrap="square" rtlCol="0">
            <a:spAutoFit/>
          </a:bodyPr>
          <a:lstStyle/>
          <a:p>
            <a:r>
              <a:rPr lang="tr-TR" b="1" dirty="0"/>
              <a:t>Örnek:</a:t>
            </a:r>
            <a:r>
              <a:rPr lang="tr-TR" dirty="0"/>
              <a:t> Aşağıdaki doğrusal olmayan modelin optimal çözümünü bulunuz ve bulduğunuz çözümün optimal olduğunu gösteriniz.</a:t>
            </a:r>
          </a:p>
          <a:p>
            <a:pPr algn="ctr"/>
            <a:r>
              <a:rPr lang="tr-TR" dirty="0" err="1"/>
              <a:t>Z</a:t>
            </a:r>
            <a:r>
              <a:rPr lang="tr-TR" baseline="-25000" dirty="0" err="1"/>
              <a:t>ençok</a:t>
            </a:r>
            <a:r>
              <a:rPr lang="tr-TR" dirty="0"/>
              <a:t>=x</a:t>
            </a:r>
            <a:r>
              <a:rPr lang="tr-TR" baseline="-25000" dirty="0"/>
              <a:t>1</a:t>
            </a:r>
            <a:r>
              <a:rPr lang="tr-TR" dirty="0"/>
              <a:t>(30-x</a:t>
            </a:r>
            <a:r>
              <a:rPr lang="tr-TR" baseline="-25000" dirty="0"/>
              <a:t>1</a:t>
            </a:r>
            <a:r>
              <a:rPr lang="tr-TR" dirty="0"/>
              <a:t>)+x</a:t>
            </a:r>
            <a:r>
              <a:rPr lang="tr-TR" baseline="-25000" dirty="0"/>
              <a:t>2</a:t>
            </a:r>
            <a:r>
              <a:rPr lang="tr-TR" dirty="0"/>
              <a:t>(50-2x</a:t>
            </a:r>
            <a:r>
              <a:rPr lang="tr-TR" baseline="-25000" dirty="0"/>
              <a:t>2</a:t>
            </a:r>
            <a:r>
              <a:rPr lang="tr-TR" dirty="0"/>
              <a:t>)-3x</a:t>
            </a:r>
            <a:r>
              <a:rPr lang="tr-TR" baseline="-25000" dirty="0"/>
              <a:t>1</a:t>
            </a:r>
            <a:r>
              <a:rPr lang="tr-TR" dirty="0"/>
              <a:t>-5x</a:t>
            </a:r>
            <a:r>
              <a:rPr lang="tr-TR" baseline="-25000" dirty="0"/>
              <a:t>2</a:t>
            </a:r>
            <a:r>
              <a:rPr lang="tr-TR" dirty="0"/>
              <a:t>-10x</a:t>
            </a:r>
            <a:r>
              <a:rPr lang="tr-TR" baseline="-25000" dirty="0"/>
              <a:t>3</a:t>
            </a:r>
            <a:endParaRPr lang="tr-TR" dirty="0"/>
          </a:p>
          <a:p>
            <a:pPr algn="ctr"/>
            <a:r>
              <a:rPr lang="tr-TR" dirty="0"/>
              <a:t>x</a:t>
            </a:r>
            <a:r>
              <a:rPr lang="tr-TR" baseline="-25000" dirty="0"/>
              <a:t>1</a:t>
            </a:r>
            <a:r>
              <a:rPr lang="tr-TR" dirty="0"/>
              <a:t>+x</a:t>
            </a:r>
            <a:r>
              <a:rPr lang="tr-TR" baseline="-25000" dirty="0"/>
              <a:t>2</a:t>
            </a:r>
            <a:r>
              <a:rPr lang="tr-TR" dirty="0"/>
              <a:t> ≤ x</a:t>
            </a:r>
            <a:r>
              <a:rPr lang="tr-TR" baseline="-25000" dirty="0"/>
              <a:t>3</a:t>
            </a:r>
            <a:endParaRPr lang="tr-TR" dirty="0"/>
          </a:p>
          <a:p>
            <a:pPr algn="ctr"/>
            <a:r>
              <a:rPr lang="tr-TR" dirty="0"/>
              <a:t>x</a:t>
            </a:r>
            <a:r>
              <a:rPr lang="tr-TR" baseline="-25000" dirty="0"/>
              <a:t>3</a:t>
            </a:r>
            <a:r>
              <a:rPr lang="tr-TR" dirty="0"/>
              <a:t> ≤ 17,25</a:t>
            </a:r>
          </a:p>
        </p:txBody>
      </p:sp>
      <p:sp>
        <p:nvSpPr>
          <p:cNvPr id="16" name="Metin kutusu 15"/>
          <p:cNvSpPr txBox="1"/>
          <p:nvPr/>
        </p:nvSpPr>
        <p:spPr>
          <a:xfrm>
            <a:off x="0" y="2562125"/>
            <a:ext cx="9125332" cy="4247317"/>
          </a:xfrm>
          <a:prstGeom prst="rect">
            <a:avLst/>
          </a:prstGeom>
          <a:noFill/>
        </p:spPr>
        <p:txBody>
          <a:bodyPr wrap="square" rtlCol="0">
            <a:spAutoFit/>
          </a:bodyPr>
          <a:lstStyle/>
          <a:p>
            <a:r>
              <a:rPr lang="tr-TR" b="1" dirty="0"/>
              <a:t>Çözüm:</a:t>
            </a:r>
            <a:r>
              <a:rPr lang="tr-TR" dirty="0"/>
              <a:t> Yukarıda belirttiğimiz kurallara göre modelin </a:t>
            </a:r>
            <a:r>
              <a:rPr lang="tr-TR" dirty="0" err="1"/>
              <a:t>Kuhn-Tucker</a:t>
            </a:r>
            <a:r>
              <a:rPr lang="tr-TR" dirty="0"/>
              <a:t> şartlarını yazalım:</a:t>
            </a:r>
          </a:p>
          <a:p>
            <a:pPr marL="1440000" lvl="0" indent="-342900">
              <a:buFont typeface="+mj-lt"/>
              <a:buAutoNum type="arabicPeriod"/>
            </a:pPr>
            <a:r>
              <a:rPr lang="tr-TR" dirty="0"/>
              <a:t>30-2x</a:t>
            </a:r>
            <a:r>
              <a:rPr lang="tr-TR" baseline="-25000" dirty="0"/>
              <a:t>1</a:t>
            </a:r>
            <a:r>
              <a:rPr lang="tr-TR" dirty="0"/>
              <a:t>-3- λ</a:t>
            </a:r>
            <a:r>
              <a:rPr lang="tr-TR" baseline="-25000" dirty="0"/>
              <a:t>1</a:t>
            </a:r>
            <a:r>
              <a:rPr lang="tr-TR" dirty="0"/>
              <a:t>=0</a:t>
            </a:r>
          </a:p>
          <a:p>
            <a:pPr marL="1440000" lvl="0" indent="-342900">
              <a:buFont typeface="+mj-lt"/>
              <a:buAutoNum type="arabicPeriod"/>
            </a:pPr>
            <a:r>
              <a:rPr lang="tr-TR" dirty="0"/>
              <a:t>50-4x</a:t>
            </a:r>
            <a:r>
              <a:rPr lang="tr-TR" baseline="-25000" dirty="0"/>
              <a:t>2</a:t>
            </a:r>
            <a:r>
              <a:rPr lang="tr-TR" dirty="0"/>
              <a:t>-5- λ</a:t>
            </a:r>
            <a:r>
              <a:rPr lang="tr-TR" baseline="-25000" dirty="0"/>
              <a:t>1</a:t>
            </a:r>
            <a:r>
              <a:rPr lang="tr-TR" dirty="0"/>
              <a:t>=0</a:t>
            </a:r>
          </a:p>
          <a:p>
            <a:pPr marL="1440000" lvl="0" indent="-342900">
              <a:buFont typeface="+mj-lt"/>
              <a:buAutoNum type="arabicPeriod"/>
            </a:pPr>
            <a:r>
              <a:rPr lang="tr-TR" dirty="0"/>
              <a:t>-10+ λ</a:t>
            </a:r>
            <a:r>
              <a:rPr lang="tr-TR" baseline="-25000" dirty="0"/>
              <a:t>1</a:t>
            </a:r>
            <a:r>
              <a:rPr lang="tr-TR" dirty="0"/>
              <a:t>- λ</a:t>
            </a:r>
            <a:r>
              <a:rPr lang="tr-TR" baseline="-25000" dirty="0"/>
              <a:t>2</a:t>
            </a:r>
            <a:r>
              <a:rPr lang="tr-TR" dirty="0"/>
              <a:t>=0</a:t>
            </a:r>
          </a:p>
          <a:p>
            <a:pPr marL="1440000" lvl="0" indent="-342900">
              <a:buFont typeface="+mj-lt"/>
              <a:buAutoNum type="arabicPeriod"/>
            </a:pPr>
            <a:r>
              <a:rPr lang="tr-TR" dirty="0"/>
              <a:t>λ</a:t>
            </a:r>
            <a:r>
              <a:rPr lang="tr-TR" baseline="-25000" dirty="0"/>
              <a:t>1</a:t>
            </a:r>
            <a:r>
              <a:rPr lang="tr-TR" dirty="0"/>
              <a:t>(-x</a:t>
            </a:r>
            <a:r>
              <a:rPr lang="tr-TR" baseline="-25000" dirty="0"/>
              <a:t>1</a:t>
            </a:r>
            <a:r>
              <a:rPr lang="tr-TR" dirty="0"/>
              <a:t>-x</a:t>
            </a:r>
            <a:r>
              <a:rPr lang="tr-TR" baseline="-25000" dirty="0"/>
              <a:t>2</a:t>
            </a:r>
            <a:r>
              <a:rPr lang="tr-TR" dirty="0"/>
              <a:t>+x</a:t>
            </a:r>
            <a:r>
              <a:rPr lang="tr-TR" baseline="-25000" dirty="0"/>
              <a:t>3</a:t>
            </a:r>
            <a:r>
              <a:rPr lang="tr-TR" dirty="0"/>
              <a:t>)=0</a:t>
            </a:r>
          </a:p>
          <a:p>
            <a:pPr marL="1440000" lvl="0" indent="-342900">
              <a:buFont typeface="+mj-lt"/>
              <a:buAutoNum type="arabicPeriod"/>
            </a:pPr>
            <a:r>
              <a:rPr lang="tr-TR" dirty="0"/>
              <a:t>λ</a:t>
            </a:r>
            <a:r>
              <a:rPr lang="tr-TR" baseline="-25000" dirty="0"/>
              <a:t>2</a:t>
            </a:r>
            <a:r>
              <a:rPr lang="tr-TR" dirty="0"/>
              <a:t>(17,25-x</a:t>
            </a:r>
            <a:r>
              <a:rPr lang="tr-TR" baseline="-25000" dirty="0"/>
              <a:t>3</a:t>
            </a:r>
            <a:r>
              <a:rPr lang="tr-TR" dirty="0"/>
              <a:t>)=0</a:t>
            </a:r>
          </a:p>
          <a:p>
            <a:pPr marL="1440000" lvl="0" indent="-342900">
              <a:buFont typeface="+mj-lt"/>
              <a:buAutoNum type="arabicPeriod"/>
            </a:pPr>
            <a:r>
              <a:rPr lang="tr-TR" dirty="0"/>
              <a:t>λ</a:t>
            </a:r>
            <a:r>
              <a:rPr lang="tr-TR" baseline="-25000" dirty="0"/>
              <a:t>1 </a:t>
            </a:r>
            <a:r>
              <a:rPr lang="tr-TR" dirty="0"/>
              <a:t>≥ 0 </a:t>
            </a:r>
          </a:p>
          <a:p>
            <a:pPr marL="1440000" lvl="0" indent="-342900">
              <a:buFont typeface="+mj-lt"/>
              <a:buAutoNum type="arabicPeriod"/>
            </a:pPr>
            <a:r>
              <a:rPr lang="tr-TR" dirty="0"/>
              <a:t>λ</a:t>
            </a:r>
            <a:r>
              <a:rPr lang="tr-TR" baseline="-25000" dirty="0"/>
              <a:t>2 </a:t>
            </a:r>
            <a:r>
              <a:rPr lang="tr-TR" dirty="0"/>
              <a:t>≥ 0 </a:t>
            </a:r>
          </a:p>
          <a:p>
            <a:r>
              <a:rPr lang="tr-TR" dirty="0"/>
              <a:t>Bu şartları sağlayan λ</a:t>
            </a:r>
            <a:r>
              <a:rPr lang="tr-TR" baseline="-25000" dirty="0"/>
              <a:t>1 </a:t>
            </a:r>
            <a:r>
              <a:rPr lang="tr-TR" dirty="0"/>
              <a:t>ve λ</a:t>
            </a:r>
            <a:r>
              <a:rPr lang="tr-TR" baseline="-25000" dirty="0"/>
              <a:t>2 </a:t>
            </a:r>
            <a:r>
              <a:rPr lang="tr-TR" dirty="0"/>
              <a:t>değerlerine göre çözümü araştıralım:</a:t>
            </a:r>
          </a:p>
          <a:p>
            <a:pPr lvl="1"/>
            <a:r>
              <a:rPr lang="tr-TR" dirty="0"/>
              <a:t>Durum 1: λ</a:t>
            </a:r>
            <a:r>
              <a:rPr lang="tr-TR" baseline="-25000" dirty="0"/>
              <a:t>1</a:t>
            </a:r>
            <a:r>
              <a:rPr lang="tr-TR" dirty="0"/>
              <a:t>=λ</a:t>
            </a:r>
            <a:r>
              <a:rPr lang="tr-TR" baseline="-25000" dirty="0"/>
              <a:t>2</a:t>
            </a:r>
            <a:r>
              <a:rPr lang="tr-TR" dirty="0"/>
              <a:t>=0 olması halinde 3 </a:t>
            </a:r>
            <a:r>
              <a:rPr lang="tr-TR" dirty="0" err="1"/>
              <a:t>no’lu</a:t>
            </a:r>
            <a:r>
              <a:rPr lang="tr-TR" dirty="0"/>
              <a:t> koşul sağlanamaz.</a:t>
            </a:r>
          </a:p>
          <a:p>
            <a:pPr lvl="1"/>
            <a:r>
              <a:rPr lang="tr-TR" dirty="0"/>
              <a:t>Durum 2: λ</a:t>
            </a:r>
            <a:r>
              <a:rPr lang="tr-TR" baseline="-25000" dirty="0"/>
              <a:t>1</a:t>
            </a:r>
            <a:r>
              <a:rPr lang="tr-TR" dirty="0"/>
              <a:t>= 0 ve λ</a:t>
            </a:r>
            <a:r>
              <a:rPr lang="tr-TR" baseline="-25000" dirty="0"/>
              <a:t>2</a:t>
            </a:r>
            <a:r>
              <a:rPr lang="tr-TR" dirty="0"/>
              <a:t>&gt;0 olması halinde 3 </a:t>
            </a:r>
            <a:r>
              <a:rPr lang="tr-TR" dirty="0" err="1"/>
              <a:t>no’lu</a:t>
            </a:r>
            <a:r>
              <a:rPr lang="tr-TR" dirty="0"/>
              <a:t> koşul sağlanamaz.</a:t>
            </a:r>
          </a:p>
          <a:p>
            <a:pPr lvl="1"/>
            <a:r>
              <a:rPr lang="tr-TR" dirty="0"/>
              <a:t>Durum 3: λ</a:t>
            </a:r>
            <a:r>
              <a:rPr lang="tr-TR" baseline="-25000" dirty="0"/>
              <a:t>1</a:t>
            </a:r>
            <a:r>
              <a:rPr lang="tr-TR" dirty="0"/>
              <a:t>&gt; 0 ve λ</a:t>
            </a:r>
            <a:r>
              <a:rPr lang="tr-TR" baseline="-25000" dirty="0"/>
              <a:t>2</a:t>
            </a:r>
            <a:r>
              <a:rPr lang="tr-TR" dirty="0"/>
              <a:t>=0 olması halinde λ</a:t>
            </a:r>
            <a:r>
              <a:rPr lang="tr-TR" baseline="-25000" dirty="0"/>
              <a:t>1</a:t>
            </a:r>
            <a:r>
              <a:rPr lang="tr-TR" dirty="0"/>
              <a:t>=10, x</a:t>
            </a:r>
            <a:r>
              <a:rPr lang="tr-TR" baseline="-25000" dirty="0"/>
              <a:t>1</a:t>
            </a:r>
            <a:r>
              <a:rPr lang="tr-TR" dirty="0"/>
              <a:t>=8,5, x</a:t>
            </a:r>
            <a:r>
              <a:rPr lang="tr-TR" baseline="-25000" dirty="0"/>
              <a:t>2</a:t>
            </a:r>
            <a:r>
              <a:rPr lang="tr-TR" dirty="0"/>
              <a:t>=8,75, x</a:t>
            </a:r>
            <a:r>
              <a:rPr lang="tr-TR" baseline="-25000" dirty="0"/>
              <a:t>3</a:t>
            </a:r>
            <a:r>
              <a:rPr lang="tr-TR" dirty="0"/>
              <a:t>=17,25 olur.</a:t>
            </a:r>
          </a:p>
          <a:p>
            <a:pPr lvl="1"/>
            <a:r>
              <a:rPr lang="tr-TR" dirty="0"/>
              <a:t>Durum 4: λ</a:t>
            </a:r>
            <a:r>
              <a:rPr lang="tr-TR" baseline="-25000" dirty="0"/>
              <a:t>1</a:t>
            </a:r>
            <a:r>
              <a:rPr lang="tr-TR" dirty="0"/>
              <a:t>&gt; 0 ve λ</a:t>
            </a:r>
            <a:r>
              <a:rPr lang="tr-TR" baseline="-25000" dirty="0"/>
              <a:t>2</a:t>
            </a:r>
            <a:r>
              <a:rPr lang="tr-TR" dirty="0"/>
              <a:t>&gt;0 olması halinde x</a:t>
            </a:r>
            <a:r>
              <a:rPr lang="tr-TR" baseline="-25000" dirty="0"/>
              <a:t>3</a:t>
            </a:r>
            <a:r>
              <a:rPr lang="tr-TR" dirty="0"/>
              <a:t>=17,25 x</a:t>
            </a:r>
            <a:r>
              <a:rPr lang="tr-TR" baseline="-25000" dirty="0"/>
              <a:t>1</a:t>
            </a:r>
            <a:r>
              <a:rPr lang="tr-TR" dirty="0"/>
              <a:t>=11,75, x</a:t>
            </a:r>
            <a:r>
              <a:rPr lang="tr-TR" baseline="-25000" dirty="0"/>
              <a:t>2</a:t>
            </a:r>
            <a:r>
              <a:rPr lang="tr-TR" dirty="0"/>
              <a:t>=5,5, λ</a:t>
            </a:r>
            <a:r>
              <a:rPr lang="tr-TR" baseline="-25000" dirty="0"/>
              <a:t>1</a:t>
            </a:r>
            <a:r>
              <a:rPr lang="tr-TR" dirty="0"/>
              <a:t>=10 ve λ</a:t>
            </a:r>
            <a:r>
              <a:rPr lang="tr-TR" baseline="-25000" dirty="0"/>
              <a:t>2</a:t>
            </a:r>
            <a:r>
              <a:rPr lang="tr-TR" dirty="0"/>
              <a:t>=0 olur. III </a:t>
            </a:r>
            <a:r>
              <a:rPr lang="tr-TR" dirty="0" err="1"/>
              <a:t>nolu</a:t>
            </a:r>
            <a:r>
              <a:rPr lang="tr-TR" dirty="0"/>
              <a:t> </a:t>
            </a:r>
            <a:r>
              <a:rPr lang="tr-TR"/>
              <a:t>şart sağlanmaz.</a:t>
            </a:r>
            <a:endParaRPr lang="tr-TR" dirty="0"/>
          </a:p>
          <a:p>
            <a:pPr marL="1097100" lvl="0"/>
            <a:endParaRPr lang="tr-TR" dirty="0"/>
          </a:p>
        </p:txBody>
      </p:sp>
    </p:spTree>
    <p:extLst>
      <p:ext uri="{BB962C8B-B14F-4D97-AF65-F5344CB8AC3E}">
        <p14:creationId xmlns:p14="http://schemas.microsoft.com/office/powerpoint/2010/main" val="22560013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pic>
        <p:nvPicPr>
          <p:cNvPr id="9"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
        <p:nvSpPr>
          <p:cNvPr id="39" name="Metin kutusu 38"/>
          <p:cNvSpPr txBox="1"/>
          <p:nvPr/>
        </p:nvSpPr>
        <p:spPr>
          <a:xfrm>
            <a:off x="9738" y="692696"/>
            <a:ext cx="9145016" cy="830997"/>
          </a:xfrm>
          <a:prstGeom prst="rect">
            <a:avLst/>
          </a:prstGeom>
          <a:noFill/>
        </p:spPr>
        <p:txBody>
          <a:bodyPr wrap="square" rtlCol="0">
            <a:spAutoFit/>
          </a:bodyPr>
          <a:lstStyle/>
          <a:p>
            <a:pPr algn="ctr"/>
            <a:r>
              <a:rPr lang="tr-TR" sz="4800" b="1" dirty="0"/>
              <a:t>ÖRNEK 3</a:t>
            </a:r>
            <a:endParaRPr lang="tr-TR" sz="4800" dirty="0"/>
          </a:p>
        </p:txBody>
      </p:sp>
      <mc:AlternateContent xmlns:mc="http://schemas.openxmlformats.org/markup-compatibility/2006" xmlns:a14="http://schemas.microsoft.com/office/drawing/2010/main">
        <mc:Choice Requires="a14">
          <p:sp>
            <p:nvSpPr>
              <p:cNvPr id="40" name="Metin kutusu 39"/>
              <p:cNvSpPr txBox="1"/>
              <p:nvPr/>
            </p:nvSpPr>
            <p:spPr>
              <a:xfrm>
                <a:off x="-1588" y="1667404"/>
                <a:ext cx="9144000" cy="4425892"/>
              </a:xfrm>
              <a:prstGeom prst="rect">
                <a:avLst/>
              </a:prstGeom>
              <a:noFill/>
            </p:spPr>
            <p:txBody>
              <a:bodyPr wrap="square" rtlCol="0">
                <a:spAutoFit/>
              </a:bodyPr>
              <a:lstStyle/>
              <a:p>
                <a:r>
                  <a:rPr lang="tr-TR" dirty="0"/>
                  <a:t>Durum 3’te elde edilen değerler amaç fonksiyonu değerini 225,375 yaparken, durum 4’te elde edilen değerler amaç fonksiyonu değerini 193,69 yapar. Durum 3’te elde edilen değerler durum 4’te elde edilenlerden daha büyük sonuç verdiği için bu değerlerin oluşturduğu nokta kararlı nokta olarak seçilir. Kararlı noktanın optimal olup olmadığına bakmak için f(x</a:t>
                </a:r>
                <a:r>
                  <a:rPr lang="tr-TR" baseline="-25000" dirty="0"/>
                  <a:t>1</a:t>
                </a:r>
                <a:r>
                  <a:rPr lang="tr-TR" dirty="0"/>
                  <a:t>, x</a:t>
                </a:r>
                <a:r>
                  <a:rPr lang="tr-TR" baseline="-25000" dirty="0"/>
                  <a:t>2</a:t>
                </a:r>
                <a:r>
                  <a:rPr lang="tr-TR" dirty="0"/>
                  <a:t>, x</a:t>
                </a:r>
                <a:r>
                  <a:rPr lang="tr-TR" baseline="-25000" dirty="0"/>
                  <a:t>3</a:t>
                </a:r>
                <a:r>
                  <a:rPr lang="tr-TR" dirty="0"/>
                  <a:t>)’in </a:t>
                </a:r>
                <a:r>
                  <a:rPr lang="tr-TR" dirty="0" err="1"/>
                  <a:t>Hessian</a:t>
                </a:r>
                <a:r>
                  <a:rPr lang="tr-TR" dirty="0"/>
                  <a:t> matrisini yazalım.</a:t>
                </a:r>
              </a:p>
              <a:p>
                <a:endParaRPr lang="tr-TR" dirty="0"/>
              </a:p>
              <a:p>
                <a:endParaRPr lang="tr-TR" dirty="0"/>
              </a:p>
              <a:p>
                <a14:m>
                  <m:oMath xmlns:m="http://schemas.openxmlformats.org/officeDocument/2006/math">
                    <m:r>
                      <m:rPr>
                        <m:sty m:val="p"/>
                      </m:rPr>
                      <a:rPr lang="tr-TR">
                        <a:latin typeface="Cambria Math" panose="02040503050406030204" pitchFamily="18" charset="0"/>
                      </a:rPr>
                      <m:t>H</m:t>
                    </m:r>
                    <m:r>
                      <a:rPr lang="tr-TR">
                        <a:latin typeface="Cambria Math" panose="02040503050406030204" pitchFamily="18" charset="0"/>
                      </a:rPr>
                      <m:t>=</m:t>
                    </m:r>
                    <m:d>
                      <m:dPr>
                        <m:begChr m:val="["/>
                        <m:endChr m:val="]"/>
                        <m:ctrlPr>
                          <a:rPr lang="tr-TR" i="1">
                            <a:latin typeface="Cambria Math" panose="02040503050406030204" pitchFamily="18" charset="0"/>
                          </a:rPr>
                        </m:ctrlPr>
                      </m:dPr>
                      <m:e>
                        <m:m>
                          <m:mPr>
                            <m:mcs>
                              <m:mc>
                                <m:mcPr>
                                  <m:count m:val="3"/>
                                  <m:mcJc m:val="center"/>
                                </m:mcPr>
                              </m:mc>
                            </m:mcs>
                            <m:ctrlPr>
                              <a:rPr lang="tr-TR" i="1">
                                <a:latin typeface="Cambria Math" panose="02040503050406030204" pitchFamily="18" charset="0"/>
                              </a:rPr>
                            </m:ctrlPr>
                          </m:mPr>
                          <m:mr>
                            <m:e>
                              <m:r>
                                <a:rPr lang="tr-TR" i="1">
                                  <a:latin typeface="Cambria Math" panose="02040503050406030204" pitchFamily="18" charset="0"/>
                                </a:rPr>
                                <m:t>−</m:t>
                              </m:r>
                              <m:r>
                                <a:rPr lang="tr-TR">
                                  <a:latin typeface="Cambria Math" panose="02040503050406030204" pitchFamily="18" charset="0"/>
                                </a:rPr>
                                <m:t>2</m:t>
                              </m:r>
                            </m:e>
                            <m:e>
                              <m:r>
                                <a:rPr lang="tr-TR">
                                  <a:latin typeface="Cambria Math" panose="02040503050406030204" pitchFamily="18" charset="0"/>
                                </a:rPr>
                                <m:t>0</m:t>
                              </m:r>
                            </m:e>
                            <m:e>
                              <m:r>
                                <a:rPr lang="tr-TR">
                                  <a:latin typeface="Cambria Math" panose="02040503050406030204" pitchFamily="18" charset="0"/>
                                </a:rPr>
                                <m:t>0</m:t>
                              </m:r>
                            </m:e>
                          </m:mr>
                          <m:mr>
                            <m:e>
                              <m:r>
                                <a:rPr lang="tr-TR">
                                  <a:latin typeface="Cambria Math" panose="02040503050406030204" pitchFamily="18" charset="0"/>
                                </a:rPr>
                                <m:t>0</m:t>
                              </m:r>
                            </m:e>
                            <m:e>
                              <m:r>
                                <a:rPr lang="tr-TR" i="1">
                                  <a:latin typeface="Cambria Math" panose="02040503050406030204" pitchFamily="18" charset="0"/>
                                </a:rPr>
                                <m:t>−</m:t>
                              </m:r>
                              <m:r>
                                <a:rPr lang="tr-TR">
                                  <a:latin typeface="Cambria Math" panose="02040503050406030204" pitchFamily="18" charset="0"/>
                                </a:rPr>
                                <m:t>4</m:t>
                              </m:r>
                            </m:e>
                            <m:e>
                              <m:r>
                                <a:rPr lang="tr-TR">
                                  <a:latin typeface="Cambria Math" panose="02040503050406030204" pitchFamily="18" charset="0"/>
                                </a:rPr>
                                <m:t>0</m:t>
                              </m:r>
                            </m:e>
                          </m:mr>
                          <m:mr>
                            <m:e>
                              <m:r>
                                <a:rPr lang="tr-TR">
                                  <a:latin typeface="Cambria Math" panose="02040503050406030204" pitchFamily="18" charset="0"/>
                                </a:rPr>
                                <m:t>0</m:t>
                              </m:r>
                            </m:e>
                            <m:e>
                              <m:r>
                                <a:rPr lang="tr-TR">
                                  <a:latin typeface="Cambria Math" panose="02040503050406030204" pitchFamily="18" charset="0"/>
                                </a:rPr>
                                <m:t>0</m:t>
                              </m:r>
                            </m:e>
                            <m:e>
                              <m:r>
                                <a:rPr lang="tr-TR">
                                  <a:latin typeface="Cambria Math" panose="02040503050406030204" pitchFamily="18" charset="0"/>
                                </a:rPr>
                                <m:t>0</m:t>
                              </m:r>
                            </m:e>
                          </m:mr>
                        </m:m>
                      </m:e>
                    </m:d>
                  </m:oMath>
                </a14:m>
                <a:r>
                  <a:rPr lang="tr-TR" dirty="0"/>
                  <a:t> Matrisinin esas minörlerine baktığımızda, birinci esas minör negatif veya </a:t>
                </a:r>
              </a:p>
              <a:p>
                <a:endParaRPr lang="tr-TR" dirty="0"/>
              </a:p>
              <a:p>
                <a:endParaRPr lang="tr-TR" dirty="0"/>
              </a:p>
              <a:p>
                <a:r>
                  <a:rPr lang="tr-TR" dirty="0"/>
                  <a:t>sıfır, ikinci esas minör pozitif veya sıfır, üçüncü esas minörün de sıfır olduğunu görürüz. Buna negatif yarı belirli matris (negatif semi-</a:t>
                </a:r>
                <a:r>
                  <a:rPr lang="tr-TR" dirty="0" err="1"/>
                  <a:t>definie</a:t>
                </a:r>
                <a:r>
                  <a:rPr lang="tr-TR" dirty="0"/>
                  <a:t> </a:t>
                </a:r>
                <a:r>
                  <a:rPr lang="tr-TR" dirty="0" err="1"/>
                  <a:t>matrix</a:t>
                </a:r>
                <a:r>
                  <a:rPr lang="tr-TR" dirty="0"/>
                  <a:t>) denir ve fonksiyonun konkav olduğunu gösterir. Konkav fonksiyonun yerel </a:t>
                </a:r>
                <a:r>
                  <a:rPr lang="tr-TR" dirty="0" err="1"/>
                  <a:t>ekstremum</a:t>
                </a:r>
                <a:r>
                  <a:rPr lang="tr-TR" dirty="0"/>
                  <a:t> noktası maksimum noktasıdır. Buna göre elde dilen çözüm modelin optimal çözümüdür.</a:t>
                </a:r>
              </a:p>
            </p:txBody>
          </p:sp>
        </mc:Choice>
        <mc:Fallback xmlns="">
          <p:sp>
            <p:nvSpPr>
              <p:cNvPr id="40" name="Metin kutusu 39"/>
              <p:cNvSpPr txBox="1">
                <a:spLocks noRot="1" noChangeAspect="1" noMove="1" noResize="1" noEditPoints="1" noAdjustHandles="1" noChangeArrowheads="1" noChangeShapeType="1" noTextEdit="1"/>
              </p:cNvSpPr>
              <p:nvPr/>
            </p:nvSpPr>
            <p:spPr>
              <a:xfrm>
                <a:off x="-1588" y="1667404"/>
                <a:ext cx="9144000" cy="4425892"/>
              </a:xfrm>
              <a:prstGeom prst="rect">
                <a:avLst/>
              </a:prstGeom>
              <a:blipFill>
                <a:blip r:embed="rId5"/>
                <a:stretch>
                  <a:fillRect l="-600" t="-826" b="-1240"/>
                </a:stretch>
              </a:blipFill>
            </p:spPr>
            <p:txBody>
              <a:bodyPr/>
              <a:lstStyle/>
              <a:p>
                <a:r>
                  <a:rPr lang="tr-TR">
                    <a:noFill/>
                  </a:rPr>
                  <a:t> </a:t>
                </a:r>
              </a:p>
            </p:txBody>
          </p:sp>
        </mc:Fallback>
      </mc:AlternateContent>
    </p:spTree>
    <p:extLst>
      <p:ext uri="{BB962C8B-B14F-4D97-AF65-F5344CB8AC3E}">
        <p14:creationId xmlns:p14="http://schemas.microsoft.com/office/powerpoint/2010/main" val="22014120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pic>
        <p:nvPicPr>
          <p:cNvPr id="9"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
        <p:nvSpPr>
          <p:cNvPr id="13" name="Metin kutusu 12"/>
          <p:cNvSpPr txBox="1"/>
          <p:nvPr/>
        </p:nvSpPr>
        <p:spPr>
          <a:xfrm>
            <a:off x="9738" y="692696"/>
            <a:ext cx="9145016" cy="830997"/>
          </a:xfrm>
          <a:prstGeom prst="rect">
            <a:avLst/>
          </a:prstGeom>
          <a:noFill/>
        </p:spPr>
        <p:txBody>
          <a:bodyPr wrap="square" rtlCol="0">
            <a:spAutoFit/>
          </a:bodyPr>
          <a:lstStyle/>
          <a:p>
            <a:pPr algn="ctr"/>
            <a:r>
              <a:rPr lang="tr-TR" sz="4800" b="1" dirty="0"/>
              <a:t>ÖRNEK 4</a:t>
            </a:r>
            <a:endParaRPr lang="tr-TR" sz="4800" dirty="0"/>
          </a:p>
        </p:txBody>
      </p:sp>
      <p:sp>
        <p:nvSpPr>
          <p:cNvPr id="14" name="Metin kutusu 13"/>
          <p:cNvSpPr txBox="1"/>
          <p:nvPr/>
        </p:nvSpPr>
        <p:spPr>
          <a:xfrm>
            <a:off x="0" y="1412776"/>
            <a:ext cx="9145016" cy="1200329"/>
          </a:xfrm>
          <a:prstGeom prst="rect">
            <a:avLst/>
          </a:prstGeom>
          <a:noFill/>
        </p:spPr>
        <p:txBody>
          <a:bodyPr wrap="square" rtlCol="0">
            <a:spAutoFit/>
          </a:bodyPr>
          <a:lstStyle/>
          <a:p>
            <a:r>
              <a:rPr lang="tr-TR" b="1" dirty="0"/>
              <a:t>Örnek: </a:t>
            </a:r>
            <a:r>
              <a:rPr lang="tr-TR" dirty="0"/>
              <a:t>Aşağıdaki doğrusal olmayan modelin optimal çözümünü bulunuz ve bulduğunuz çözümün optimal olduğunu gösteriniz.</a:t>
            </a:r>
          </a:p>
          <a:p>
            <a:pPr algn="ctr"/>
            <a:r>
              <a:rPr lang="tr-TR" dirty="0" err="1"/>
              <a:t>Z</a:t>
            </a:r>
            <a:r>
              <a:rPr lang="tr-TR" baseline="-25000" dirty="0" err="1"/>
              <a:t>enaz</a:t>
            </a:r>
            <a:r>
              <a:rPr lang="tr-TR" dirty="0"/>
              <a:t>=(x</a:t>
            </a:r>
            <a:r>
              <a:rPr lang="tr-TR" baseline="-25000" dirty="0"/>
              <a:t>1</a:t>
            </a:r>
            <a:r>
              <a:rPr lang="tr-TR" dirty="0"/>
              <a:t>-3)</a:t>
            </a:r>
            <a:r>
              <a:rPr lang="tr-TR" baseline="30000" dirty="0"/>
              <a:t>2</a:t>
            </a:r>
            <a:r>
              <a:rPr lang="tr-TR" dirty="0"/>
              <a:t>+(x</a:t>
            </a:r>
            <a:r>
              <a:rPr lang="tr-TR" baseline="-25000" dirty="0"/>
              <a:t>2</a:t>
            </a:r>
            <a:r>
              <a:rPr lang="tr-TR" dirty="0"/>
              <a:t>-5)</a:t>
            </a:r>
            <a:r>
              <a:rPr lang="tr-TR" baseline="30000" dirty="0"/>
              <a:t>2</a:t>
            </a:r>
            <a:endParaRPr lang="tr-TR" dirty="0"/>
          </a:p>
          <a:p>
            <a:pPr algn="ctr"/>
            <a:r>
              <a:rPr lang="tr-TR" dirty="0"/>
              <a:t>x</a:t>
            </a:r>
            <a:r>
              <a:rPr lang="tr-TR" baseline="-25000" dirty="0"/>
              <a:t>1</a:t>
            </a:r>
            <a:r>
              <a:rPr lang="tr-TR" dirty="0"/>
              <a:t>+x</a:t>
            </a:r>
            <a:r>
              <a:rPr lang="tr-TR" baseline="-25000" dirty="0"/>
              <a:t>2</a:t>
            </a:r>
            <a:r>
              <a:rPr lang="tr-TR" dirty="0"/>
              <a:t> ≤ 7</a:t>
            </a:r>
          </a:p>
        </p:txBody>
      </p:sp>
      <mc:AlternateContent xmlns:mc="http://schemas.openxmlformats.org/markup-compatibility/2006" xmlns:a14="http://schemas.microsoft.com/office/drawing/2010/main">
        <mc:Choice Requires="a14">
          <p:sp>
            <p:nvSpPr>
              <p:cNvPr id="16" name="Metin kutusu 15"/>
              <p:cNvSpPr txBox="1"/>
              <p:nvPr/>
            </p:nvSpPr>
            <p:spPr>
              <a:xfrm>
                <a:off x="9738" y="2564904"/>
                <a:ext cx="9125332" cy="3878241"/>
              </a:xfrm>
              <a:prstGeom prst="rect">
                <a:avLst/>
              </a:prstGeom>
              <a:noFill/>
            </p:spPr>
            <p:txBody>
              <a:bodyPr wrap="square" rtlCol="0">
                <a:spAutoFit/>
              </a:bodyPr>
              <a:lstStyle/>
              <a:p>
                <a:r>
                  <a:rPr lang="tr-TR" b="1" dirty="0"/>
                  <a:t>Çözüm:</a:t>
                </a:r>
                <a:r>
                  <a:rPr lang="tr-TR" dirty="0"/>
                  <a:t> Yukarıda belirttiğimiz kurallara göre modelin </a:t>
                </a:r>
                <a:r>
                  <a:rPr lang="tr-TR" dirty="0" err="1"/>
                  <a:t>Kuhn-Tucker</a:t>
                </a:r>
                <a:r>
                  <a:rPr lang="tr-TR" dirty="0"/>
                  <a:t> şartlarını yazalım:</a:t>
                </a:r>
              </a:p>
              <a:p>
                <a:pPr lvl="0" algn="ctr"/>
                <a:r>
                  <a:rPr lang="tr-TR" dirty="0"/>
                  <a:t>2x</a:t>
                </a:r>
                <a:r>
                  <a:rPr lang="tr-TR" baseline="-25000" dirty="0"/>
                  <a:t>1</a:t>
                </a:r>
                <a:r>
                  <a:rPr lang="tr-TR" dirty="0"/>
                  <a:t>-6+ λ</a:t>
                </a:r>
                <a:r>
                  <a:rPr lang="tr-TR" baseline="-25000" dirty="0"/>
                  <a:t>1</a:t>
                </a:r>
                <a:r>
                  <a:rPr lang="tr-TR" dirty="0"/>
                  <a:t>=0</a:t>
                </a:r>
              </a:p>
              <a:p>
                <a:pPr lvl="0" algn="ctr"/>
                <a:r>
                  <a:rPr lang="tr-TR" dirty="0"/>
                  <a:t>2x</a:t>
                </a:r>
                <a:r>
                  <a:rPr lang="tr-TR" baseline="-25000" dirty="0"/>
                  <a:t>2</a:t>
                </a:r>
                <a:r>
                  <a:rPr lang="tr-TR" dirty="0"/>
                  <a:t>-10+ λ</a:t>
                </a:r>
                <a:r>
                  <a:rPr lang="tr-TR" baseline="-25000" dirty="0"/>
                  <a:t>1</a:t>
                </a:r>
                <a:r>
                  <a:rPr lang="tr-TR" dirty="0"/>
                  <a:t>=0</a:t>
                </a:r>
              </a:p>
              <a:p>
                <a:pPr lvl="0" algn="ctr"/>
                <a:r>
                  <a:rPr lang="tr-TR" dirty="0"/>
                  <a:t>λ</a:t>
                </a:r>
                <a:r>
                  <a:rPr lang="tr-TR" baseline="-25000" dirty="0"/>
                  <a:t>1</a:t>
                </a:r>
                <a:r>
                  <a:rPr lang="tr-TR" dirty="0"/>
                  <a:t>(7- x</a:t>
                </a:r>
                <a:r>
                  <a:rPr lang="tr-TR" baseline="-25000" dirty="0"/>
                  <a:t>1</a:t>
                </a:r>
                <a:r>
                  <a:rPr lang="tr-TR" dirty="0"/>
                  <a:t>-x</a:t>
                </a:r>
                <a:r>
                  <a:rPr lang="tr-TR" baseline="-25000" dirty="0"/>
                  <a:t>2</a:t>
                </a:r>
                <a:r>
                  <a:rPr lang="tr-TR" dirty="0"/>
                  <a:t>)=0</a:t>
                </a:r>
              </a:p>
              <a:p>
                <a:pPr lvl="0" algn="ctr"/>
                <a:r>
                  <a:rPr lang="tr-TR" dirty="0"/>
                  <a:t>λ</a:t>
                </a:r>
                <a:r>
                  <a:rPr lang="tr-TR" baseline="-25000" dirty="0"/>
                  <a:t>1 </a:t>
                </a:r>
                <a:r>
                  <a:rPr lang="tr-TR" dirty="0"/>
                  <a:t>≥ 0</a:t>
                </a:r>
              </a:p>
              <a:p>
                <a:r>
                  <a:rPr lang="tr-TR" dirty="0"/>
                  <a:t>Bu şartları sağlayan λ</a:t>
                </a:r>
                <a:r>
                  <a:rPr lang="tr-TR" baseline="-25000" dirty="0"/>
                  <a:t>1 </a:t>
                </a:r>
                <a:r>
                  <a:rPr lang="tr-TR" dirty="0"/>
                  <a:t>değerlerine göre çözümü araştıralım:</a:t>
                </a:r>
              </a:p>
              <a:p>
                <a:r>
                  <a:rPr lang="tr-TR" dirty="0"/>
                  <a:t>	Durum 1: λ</a:t>
                </a:r>
                <a:r>
                  <a:rPr lang="tr-TR" baseline="-25000" dirty="0"/>
                  <a:t>1</a:t>
                </a:r>
                <a:r>
                  <a:rPr lang="tr-TR" dirty="0"/>
                  <a:t>=0 olması halinde x</a:t>
                </a:r>
                <a:r>
                  <a:rPr lang="tr-TR" baseline="-25000" dirty="0"/>
                  <a:t>1</a:t>
                </a:r>
                <a:r>
                  <a:rPr lang="tr-TR" dirty="0"/>
                  <a:t>=3 ve x</a:t>
                </a:r>
                <a:r>
                  <a:rPr lang="tr-TR" baseline="-25000" dirty="0"/>
                  <a:t>2</a:t>
                </a:r>
                <a:r>
                  <a:rPr lang="tr-TR" dirty="0"/>
                  <a:t>=5 olur Fakat bu çözüm; </a:t>
                </a:r>
                <a:r>
                  <a:rPr lang="tr-TR" dirty="0" err="1"/>
                  <a:t>kısıtı</a:t>
                </a:r>
                <a:r>
                  <a:rPr lang="tr-TR" dirty="0"/>
                  <a:t> sağlamadığından kabul edilmez.</a:t>
                </a:r>
              </a:p>
              <a:p>
                <a:r>
                  <a:rPr lang="tr-TR" dirty="0"/>
                  <a:t>	Durum 2: λ</a:t>
                </a:r>
                <a:r>
                  <a:rPr lang="tr-TR" baseline="-25000" dirty="0"/>
                  <a:t>1</a:t>
                </a:r>
                <a:r>
                  <a:rPr lang="tr-TR" dirty="0"/>
                  <a:t>&gt;0 olması halinde λ</a:t>
                </a:r>
                <a:r>
                  <a:rPr lang="tr-TR" baseline="-25000" dirty="0"/>
                  <a:t>1</a:t>
                </a:r>
                <a:r>
                  <a:rPr lang="tr-TR" dirty="0"/>
                  <a:t>=1, x</a:t>
                </a:r>
                <a:r>
                  <a:rPr lang="tr-TR" baseline="-25000" dirty="0"/>
                  <a:t>1</a:t>
                </a:r>
                <a:r>
                  <a:rPr lang="tr-TR" dirty="0"/>
                  <a:t>=2,5 ve x</a:t>
                </a:r>
                <a:r>
                  <a:rPr lang="tr-TR" baseline="-25000" dirty="0"/>
                  <a:t>2</a:t>
                </a:r>
                <a:r>
                  <a:rPr lang="tr-TR" dirty="0"/>
                  <a:t>=4,5 olur.</a:t>
                </a:r>
              </a:p>
              <a:p>
                <a:r>
                  <a:rPr lang="tr-TR" dirty="0"/>
                  <a:t>Durum 2’de elde edilen değerlerin oluşturduğu nokta kararlı nokta olarak seçilir. Kararlı noktanın optimal olup olmadığına bakmak için f(x</a:t>
                </a:r>
                <a:r>
                  <a:rPr lang="tr-TR" baseline="-25000" dirty="0"/>
                  <a:t>1</a:t>
                </a:r>
                <a:r>
                  <a:rPr lang="tr-TR" dirty="0"/>
                  <a:t>, x</a:t>
                </a:r>
                <a:r>
                  <a:rPr lang="tr-TR" baseline="-25000" dirty="0"/>
                  <a:t>2</a:t>
                </a:r>
                <a:r>
                  <a:rPr lang="tr-TR" dirty="0"/>
                  <a:t>)’in </a:t>
                </a:r>
                <a:r>
                  <a:rPr lang="tr-TR" dirty="0" err="1"/>
                  <a:t>Hessian</a:t>
                </a:r>
                <a:r>
                  <a:rPr lang="tr-TR" dirty="0"/>
                  <a:t> matrisini yazalım.</a:t>
                </a:r>
              </a:p>
              <a:p>
                <a14:m>
                  <m:oMath xmlns:m="http://schemas.openxmlformats.org/officeDocument/2006/math">
                    <m:r>
                      <m:rPr>
                        <m:sty m:val="p"/>
                      </m:rPr>
                      <a:rPr lang="tr-TR">
                        <a:latin typeface="Cambria Math" panose="02040503050406030204" pitchFamily="18" charset="0"/>
                      </a:rPr>
                      <m:t>H</m:t>
                    </m:r>
                    <m:r>
                      <a:rPr lang="tr-TR">
                        <a:latin typeface="Cambria Math" panose="02040503050406030204" pitchFamily="18" charset="0"/>
                      </a:rPr>
                      <m:t>=</m:t>
                    </m:r>
                    <m:d>
                      <m:dPr>
                        <m:begChr m:val="["/>
                        <m:endChr m:val="]"/>
                        <m:ctrlPr>
                          <a:rPr lang="tr-TR" i="1">
                            <a:latin typeface="Cambria Math" panose="02040503050406030204" pitchFamily="18" charset="0"/>
                          </a:rPr>
                        </m:ctrlPr>
                      </m:dPr>
                      <m:e>
                        <m:m>
                          <m:mPr>
                            <m:mcs>
                              <m:mc>
                                <m:mcPr>
                                  <m:count m:val="2"/>
                                  <m:mcJc m:val="center"/>
                                </m:mcPr>
                              </m:mc>
                            </m:mcs>
                            <m:ctrlPr>
                              <a:rPr lang="tr-TR" i="1">
                                <a:latin typeface="Cambria Math" panose="02040503050406030204" pitchFamily="18" charset="0"/>
                              </a:rPr>
                            </m:ctrlPr>
                          </m:mPr>
                          <m:mr>
                            <m:e>
                              <m:r>
                                <a:rPr lang="tr-TR">
                                  <a:latin typeface="Cambria Math" panose="02040503050406030204" pitchFamily="18" charset="0"/>
                                </a:rPr>
                                <m:t>2</m:t>
                              </m:r>
                            </m:e>
                            <m:e>
                              <m:r>
                                <a:rPr lang="tr-TR">
                                  <a:latin typeface="Cambria Math" panose="02040503050406030204" pitchFamily="18" charset="0"/>
                                </a:rPr>
                                <m:t>0</m:t>
                              </m:r>
                            </m:e>
                          </m:mr>
                          <m:mr>
                            <m:e>
                              <m:r>
                                <a:rPr lang="tr-TR">
                                  <a:latin typeface="Cambria Math" panose="02040503050406030204" pitchFamily="18" charset="0"/>
                                </a:rPr>
                                <m:t>0</m:t>
                              </m:r>
                            </m:e>
                            <m:e>
                              <m:r>
                                <a:rPr lang="tr-TR">
                                  <a:latin typeface="Cambria Math" panose="02040503050406030204" pitchFamily="18" charset="0"/>
                                </a:rPr>
                                <m:t>2</m:t>
                              </m:r>
                            </m:e>
                          </m:mr>
                        </m:m>
                      </m:e>
                    </m:d>
                  </m:oMath>
                </a14:m>
                <a:r>
                  <a:rPr lang="tr-TR" dirty="0"/>
                  <a:t> Tüm esas minörler pozitif olduğundan fonksiyon konvekstir. Konveks fonksiyonun yerel </a:t>
                </a:r>
                <a:r>
                  <a:rPr lang="tr-TR" dirty="0" err="1"/>
                  <a:t>ekstremum</a:t>
                </a:r>
                <a:r>
                  <a:rPr lang="tr-TR" dirty="0"/>
                  <a:t> noktası minimum değeri verdiğinden seçilen kararlı nokta optimaldir.</a:t>
                </a:r>
              </a:p>
            </p:txBody>
          </p:sp>
        </mc:Choice>
        <mc:Fallback xmlns="">
          <p:sp>
            <p:nvSpPr>
              <p:cNvPr id="16" name="Metin kutusu 15"/>
              <p:cNvSpPr txBox="1">
                <a:spLocks noRot="1" noChangeAspect="1" noMove="1" noResize="1" noEditPoints="1" noAdjustHandles="1" noChangeArrowheads="1" noChangeShapeType="1" noTextEdit="1"/>
              </p:cNvSpPr>
              <p:nvPr/>
            </p:nvSpPr>
            <p:spPr>
              <a:xfrm>
                <a:off x="9738" y="2564904"/>
                <a:ext cx="9125332" cy="3878241"/>
              </a:xfrm>
              <a:prstGeom prst="rect">
                <a:avLst/>
              </a:prstGeom>
              <a:blipFill>
                <a:blip r:embed="rId5"/>
                <a:stretch>
                  <a:fillRect l="-601" t="-943" r="-868" b="-1572"/>
                </a:stretch>
              </a:blipFill>
            </p:spPr>
            <p:txBody>
              <a:bodyPr/>
              <a:lstStyle/>
              <a:p>
                <a:r>
                  <a:rPr lang="tr-TR">
                    <a:noFill/>
                  </a:rPr>
                  <a:t> </a:t>
                </a:r>
              </a:p>
            </p:txBody>
          </p:sp>
        </mc:Fallback>
      </mc:AlternateContent>
    </p:spTree>
    <p:extLst>
      <p:ext uri="{BB962C8B-B14F-4D97-AF65-F5344CB8AC3E}">
        <p14:creationId xmlns:p14="http://schemas.microsoft.com/office/powerpoint/2010/main" val="3365126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pic>
        <p:nvPicPr>
          <p:cNvPr id="9"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
        <p:nvSpPr>
          <p:cNvPr id="10" name="Metin kutusu 9"/>
          <p:cNvSpPr txBox="1"/>
          <p:nvPr/>
        </p:nvSpPr>
        <p:spPr>
          <a:xfrm>
            <a:off x="9738" y="692696"/>
            <a:ext cx="9145016" cy="830997"/>
          </a:xfrm>
          <a:prstGeom prst="rect">
            <a:avLst/>
          </a:prstGeom>
          <a:noFill/>
        </p:spPr>
        <p:txBody>
          <a:bodyPr wrap="square" rtlCol="0">
            <a:spAutoFit/>
          </a:bodyPr>
          <a:lstStyle/>
          <a:p>
            <a:pPr algn="ctr"/>
            <a:r>
              <a:rPr lang="tr-TR" sz="4800" b="1" dirty="0"/>
              <a:t>ÖRNEK 5</a:t>
            </a:r>
            <a:endParaRPr lang="tr-TR" sz="4800" dirty="0"/>
          </a:p>
        </p:txBody>
      </p:sp>
      <p:sp>
        <p:nvSpPr>
          <p:cNvPr id="12" name="Dikdörtgen 11"/>
          <p:cNvSpPr/>
          <p:nvPr/>
        </p:nvSpPr>
        <p:spPr>
          <a:xfrm>
            <a:off x="-8930" y="1522824"/>
            <a:ext cx="4076873" cy="923330"/>
          </a:xfrm>
          <a:prstGeom prst="rect">
            <a:avLst/>
          </a:prstGeom>
        </p:spPr>
        <p:txBody>
          <a:bodyPr wrap="square">
            <a:spAutoFit/>
          </a:bodyPr>
          <a:lstStyle/>
          <a:p>
            <a:r>
              <a:rPr lang="tr-TR" b="1" i="1" dirty="0">
                <a:latin typeface="Cambria Math" panose="02040503050406030204" pitchFamily="18" charset="0"/>
              </a:rPr>
              <a:t>Örnek:</a:t>
            </a:r>
            <a:r>
              <a:rPr lang="tr-TR" i="1" dirty="0">
                <a:latin typeface="Cambria Math" panose="02040503050406030204" pitchFamily="18" charset="0"/>
              </a:rPr>
              <a:t>	</a:t>
            </a:r>
            <a:r>
              <a:rPr lang="tr-TR" i="1" dirty="0" err="1">
                <a:latin typeface="Cambria Math" panose="02040503050406030204" pitchFamily="18" charset="0"/>
              </a:rPr>
              <a:t>fenbüyük</a:t>
            </a:r>
            <a:r>
              <a:rPr lang="tr-TR" i="1" dirty="0">
                <a:latin typeface="Cambria Math" panose="02040503050406030204" pitchFamily="18" charset="0"/>
              </a:rPr>
              <a:t>(x)=ln(x</a:t>
            </a:r>
            <a:r>
              <a:rPr lang="tr-TR" i="1" baseline="-25000" dirty="0">
                <a:latin typeface="Cambria Math" panose="02040503050406030204" pitchFamily="18" charset="0"/>
              </a:rPr>
              <a:t>1</a:t>
            </a:r>
            <a:r>
              <a:rPr lang="tr-TR" i="1" dirty="0">
                <a:latin typeface="Cambria Math" panose="02040503050406030204" pitchFamily="18" charset="0"/>
              </a:rPr>
              <a:t>+1)+x</a:t>
            </a:r>
            <a:r>
              <a:rPr lang="tr-TR" i="1" baseline="-25000" dirty="0">
                <a:latin typeface="Cambria Math" panose="02040503050406030204" pitchFamily="18" charset="0"/>
              </a:rPr>
              <a:t>2</a:t>
            </a:r>
          </a:p>
          <a:p>
            <a:r>
              <a:rPr lang="tr-TR" i="1" dirty="0">
                <a:latin typeface="Cambria Math" panose="02040503050406030204" pitchFamily="18" charset="0"/>
              </a:rPr>
              <a:t>	2x</a:t>
            </a:r>
            <a:r>
              <a:rPr lang="tr-TR" i="1" baseline="-25000" dirty="0">
                <a:latin typeface="Cambria Math" panose="02040503050406030204" pitchFamily="18" charset="0"/>
              </a:rPr>
              <a:t>1</a:t>
            </a:r>
            <a:r>
              <a:rPr lang="tr-TR" i="1" dirty="0">
                <a:latin typeface="Cambria Math" panose="02040503050406030204" pitchFamily="18" charset="0"/>
              </a:rPr>
              <a:t>+x</a:t>
            </a:r>
            <a:r>
              <a:rPr lang="tr-TR" i="1" baseline="-25000" dirty="0">
                <a:latin typeface="Cambria Math" panose="02040503050406030204" pitchFamily="18" charset="0"/>
              </a:rPr>
              <a:t>2</a:t>
            </a:r>
            <a:r>
              <a:rPr lang="tr-TR" i="1" dirty="0">
                <a:latin typeface="Cambria Math" panose="02040503050406030204" pitchFamily="18" charset="0"/>
              </a:rPr>
              <a:t>≤3</a:t>
            </a:r>
          </a:p>
          <a:p>
            <a:r>
              <a:rPr lang="tr-TR" i="1" dirty="0">
                <a:latin typeface="Cambria Math" panose="02040503050406030204" pitchFamily="18" charset="0"/>
              </a:rPr>
              <a:t>	x</a:t>
            </a:r>
            <a:r>
              <a:rPr lang="tr-TR" i="1" baseline="-25000" dirty="0">
                <a:latin typeface="Cambria Math" panose="02040503050406030204" pitchFamily="18" charset="0"/>
              </a:rPr>
              <a:t>1</a:t>
            </a:r>
            <a:r>
              <a:rPr lang="tr-TR" i="1" dirty="0">
                <a:latin typeface="Cambria Math" panose="02040503050406030204" pitchFamily="18" charset="0"/>
              </a:rPr>
              <a:t>≥0, 	x</a:t>
            </a:r>
            <a:r>
              <a:rPr lang="tr-TR" i="1" baseline="-25000" dirty="0">
                <a:latin typeface="Cambria Math" panose="02040503050406030204" pitchFamily="18" charset="0"/>
              </a:rPr>
              <a:t>2</a:t>
            </a:r>
            <a:r>
              <a:rPr lang="tr-TR" i="1" dirty="0">
                <a:latin typeface="Cambria Math" panose="02040503050406030204" pitchFamily="18" charset="0"/>
              </a:rPr>
              <a:t>≥0</a:t>
            </a:r>
          </a:p>
        </p:txBody>
      </p:sp>
      <p:sp>
        <p:nvSpPr>
          <p:cNvPr id="13" name="Dikdörtgen 12"/>
          <p:cNvSpPr/>
          <p:nvPr/>
        </p:nvSpPr>
        <p:spPr>
          <a:xfrm>
            <a:off x="51116" y="2550927"/>
            <a:ext cx="2064989" cy="369332"/>
          </a:xfrm>
          <a:prstGeom prst="rect">
            <a:avLst/>
          </a:prstGeom>
        </p:spPr>
        <p:txBody>
          <a:bodyPr wrap="none">
            <a:spAutoFit/>
          </a:bodyPr>
          <a:lstStyle/>
          <a:p>
            <a:r>
              <a:rPr lang="tr-TR" i="1" dirty="0">
                <a:latin typeface="Cambria Math" panose="02040503050406030204" pitchFamily="18" charset="0"/>
              </a:rPr>
              <a:t>m=1, g(x)=2x</a:t>
            </a:r>
            <a:r>
              <a:rPr lang="tr-TR" i="1" baseline="-25000" dirty="0">
                <a:latin typeface="Cambria Math" panose="02040503050406030204" pitchFamily="18" charset="0"/>
              </a:rPr>
              <a:t>1</a:t>
            </a:r>
            <a:r>
              <a:rPr lang="tr-TR" i="1" dirty="0">
                <a:latin typeface="Cambria Math" panose="02040503050406030204" pitchFamily="18" charset="0"/>
              </a:rPr>
              <a:t>+x</a:t>
            </a:r>
            <a:r>
              <a:rPr lang="tr-TR" i="1" baseline="-25000" dirty="0">
                <a:latin typeface="Cambria Math" panose="02040503050406030204" pitchFamily="18" charset="0"/>
              </a:rPr>
              <a:t>2</a:t>
            </a:r>
          </a:p>
        </p:txBody>
      </p:sp>
      <mc:AlternateContent xmlns:mc="http://schemas.openxmlformats.org/markup-compatibility/2006" xmlns:a14="http://schemas.microsoft.com/office/drawing/2010/main">
        <mc:Choice Requires="a14">
          <p:sp>
            <p:nvSpPr>
              <p:cNvPr id="14" name="Dikdörtgen 13"/>
              <p:cNvSpPr/>
              <p:nvPr/>
            </p:nvSpPr>
            <p:spPr>
              <a:xfrm>
                <a:off x="-19481" y="3005559"/>
                <a:ext cx="2239716" cy="615874"/>
              </a:xfrm>
              <a:prstGeom prst="rect">
                <a:avLst/>
              </a:prstGeom>
            </p:spPr>
            <p:txBody>
              <a:bodyPr wrap="none">
                <a:spAutoFit/>
              </a:bodyPr>
              <a:lstStyle/>
              <a:p>
                <a:r>
                  <a:rPr lang="tr-TR" i="1" dirty="0">
                    <a:latin typeface="Cambria Math" panose="02040503050406030204" pitchFamily="18" charset="0"/>
                  </a:rPr>
                  <a:t>1-a)        </a:t>
                </a:r>
                <a14:m>
                  <m:oMath xmlns:m="http://schemas.openxmlformats.org/officeDocument/2006/math">
                    <m:f>
                      <m:fPr>
                        <m:ctrlPr>
                          <a:rPr lang="tr-TR" sz="2400" i="1">
                            <a:latin typeface="Cambria Math" panose="02040503050406030204" pitchFamily="18" charset="0"/>
                          </a:rPr>
                        </m:ctrlPr>
                      </m:fPr>
                      <m:num>
                        <m:r>
                          <a:rPr lang="tr-TR" sz="2400" i="1">
                            <a:latin typeface="Cambria Math" panose="02040503050406030204" pitchFamily="18" charset="0"/>
                          </a:rPr>
                          <m:t>1</m:t>
                        </m:r>
                      </m:num>
                      <m:den>
                        <m:r>
                          <a:rPr lang="tr-TR" sz="2400" i="1">
                            <a:latin typeface="Cambria Math" panose="02040503050406030204" pitchFamily="18" charset="0"/>
                          </a:rPr>
                          <m:t>𝑥</m:t>
                        </m:r>
                        <m:r>
                          <a:rPr lang="tr-TR" sz="2400" i="1" baseline="-25000">
                            <a:latin typeface="Cambria Math" panose="02040503050406030204" pitchFamily="18" charset="0"/>
                          </a:rPr>
                          <m:t>1</m:t>
                        </m:r>
                        <m:r>
                          <a:rPr lang="tr-TR" sz="2400" i="1">
                            <a:latin typeface="Cambria Math" panose="02040503050406030204" pitchFamily="18" charset="0"/>
                          </a:rPr>
                          <m:t>+1</m:t>
                        </m:r>
                      </m:den>
                    </m:f>
                  </m:oMath>
                </a14:m>
                <a:r>
                  <a:rPr lang="tr-TR" sz="2400" i="1" dirty="0">
                    <a:latin typeface="Cambria Math" panose="02040503050406030204" pitchFamily="18" charset="0"/>
                  </a:rPr>
                  <a:t>-</a:t>
                </a:r>
                <a:r>
                  <a:rPr lang="tr-TR" i="1" dirty="0">
                    <a:latin typeface="Cambria Math" panose="02040503050406030204" pitchFamily="18" charset="0"/>
                  </a:rPr>
                  <a:t>2</a:t>
                </a:r>
                <a:r>
                  <a:rPr lang="tr-TR" dirty="0"/>
                  <a:t>λ</a:t>
                </a:r>
                <a:r>
                  <a:rPr lang="tr-TR" baseline="-25000" dirty="0"/>
                  <a:t>1</a:t>
                </a:r>
                <a:r>
                  <a:rPr lang="tr-TR" i="1" dirty="0">
                    <a:latin typeface="Cambria Math" panose="02040503050406030204" pitchFamily="18" charset="0"/>
                  </a:rPr>
                  <a:t>≤0</a:t>
                </a:r>
              </a:p>
            </p:txBody>
          </p:sp>
        </mc:Choice>
        <mc:Fallback xmlns="">
          <p:sp>
            <p:nvSpPr>
              <p:cNvPr id="14" name="Dikdörtgen 13"/>
              <p:cNvSpPr>
                <a:spLocks noRot="1" noChangeAspect="1" noMove="1" noResize="1" noEditPoints="1" noAdjustHandles="1" noChangeArrowheads="1" noChangeShapeType="1" noTextEdit="1"/>
              </p:cNvSpPr>
              <p:nvPr/>
            </p:nvSpPr>
            <p:spPr>
              <a:xfrm>
                <a:off x="-19481" y="3005559"/>
                <a:ext cx="2239716" cy="615874"/>
              </a:xfrm>
              <a:prstGeom prst="rect">
                <a:avLst/>
              </a:prstGeom>
              <a:blipFill>
                <a:blip r:embed="rId5"/>
                <a:stretch>
                  <a:fillRect l="-2452" r="-1635" b="-792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 name="Dikdörtgen 15"/>
              <p:cNvSpPr/>
              <p:nvPr/>
            </p:nvSpPr>
            <p:spPr>
              <a:xfrm>
                <a:off x="-8930" y="3704145"/>
                <a:ext cx="2545890" cy="615874"/>
              </a:xfrm>
              <a:prstGeom prst="rect">
                <a:avLst/>
              </a:prstGeom>
            </p:spPr>
            <p:txBody>
              <a:bodyPr wrap="none">
                <a:spAutoFit/>
              </a:bodyPr>
              <a:lstStyle/>
              <a:p>
                <a:r>
                  <a:rPr lang="tr-TR" i="1" dirty="0">
                    <a:latin typeface="Cambria Math" panose="02040503050406030204" pitchFamily="18" charset="0"/>
                  </a:rPr>
                  <a:t>2-a)     x</a:t>
                </a:r>
                <a:r>
                  <a:rPr lang="tr-TR" i="1" baseline="-25000" dirty="0">
                    <a:latin typeface="Cambria Math" panose="02040503050406030204" pitchFamily="18" charset="0"/>
                  </a:rPr>
                  <a:t>1</a:t>
                </a:r>
                <a:r>
                  <a:rPr lang="tr-TR" i="1" dirty="0">
                    <a:latin typeface="Cambria Math" panose="02040503050406030204" pitchFamily="18" charset="0"/>
                  </a:rPr>
                  <a:t>(</a:t>
                </a:r>
                <a14:m>
                  <m:oMath xmlns:m="http://schemas.openxmlformats.org/officeDocument/2006/math">
                    <m:f>
                      <m:fPr>
                        <m:ctrlPr>
                          <a:rPr lang="tr-TR" sz="2400" i="1">
                            <a:latin typeface="Cambria Math" panose="02040503050406030204" pitchFamily="18" charset="0"/>
                          </a:rPr>
                        </m:ctrlPr>
                      </m:fPr>
                      <m:num>
                        <m:r>
                          <a:rPr lang="tr-TR" sz="2400" i="1">
                            <a:latin typeface="Cambria Math" panose="02040503050406030204" pitchFamily="18" charset="0"/>
                          </a:rPr>
                          <m:t>1</m:t>
                        </m:r>
                      </m:num>
                      <m:den>
                        <m:r>
                          <a:rPr lang="tr-TR" sz="2400" i="1">
                            <a:latin typeface="Cambria Math" panose="02040503050406030204" pitchFamily="18" charset="0"/>
                          </a:rPr>
                          <m:t>𝑥</m:t>
                        </m:r>
                        <m:r>
                          <a:rPr lang="tr-TR" sz="2400" i="1">
                            <a:latin typeface="Cambria Math" panose="02040503050406030204" pitchFamily="18" charset="0"/>
                          </a:rPr>
                          <m:t>1+1</m:t>
                        </m:r>
                      </m:den>
                    </m:f>
                  </m:oMath>
                </a14:m>
                <a:r>
                  <a:rPr lang="tr-TR" sz="2400" i="1" dirty="0">
                    <a:latin typeface="Cambria Math" panose="02040503050406030204" pitchFamily="18" charset="0"/>
                  </a:rPr>
                  <a:t>-</a:t>
                </a:r>
                <a:r>
                  <a:rPr lang="tr-TR" i="1" dirty="0">
                    <a:latin typeface="Cambria Math" panose="02040503050406030204" pitchFamily="18" charset="0"/>
                  </a:rPr>
                  <a:t>2</a:t>
                </a:r>
                <a:r>
                  <a:rPr lang="tr-TR" dirty="0"/>
                  <a:t>λ</a:t>
                </a:r>
                <a:r>
                  <a:rPr lang="tr-TR" baseline="-25000" dirty="0"/>
                  <a:t>1</a:t>
                </a:r>
                <a:r>
                  <a:rPr lang="tr-TR" i="1" dirty="0">
                    <a:latin typeface="Cambria Math" panose="02040503050406030204" pitchFamily="18" charset="0"/>
                  </a:rPr>
                  <a:t>)=0</a:t>
                </a:r>
              </a:p>
            </p:txBody>
          </p:sp>
        </mc:Choice>
        <mc:Fallback xmlns="">
          <p:sp>
            <p:nvSpPr>
              <p:cNvPr id="16" name="Dikdörtgen 15"/>
              <p:cNvSpPr>
                <a:spLocks noRot="1" noChangeAspect="1" noMove="1" noResize="1" noEditPoints="1" noAdjustHandles="1" noChangeArrowheads="1" noChangeShapeType="1" noTextEdit="1"/>
              </p:cNvSpPr>
              <p:nvPr/>
            </p:nvSpPr>
            <p:spPr>
              <a:xfrm>
                <a:off x="-8930" y="3704145"/>
                <a:ext cx="2545890" cy="615874"/>
              </a:xfrm>
              <a:prstGeom prst="rect">
                <a:avLst/>
              </a:prstGeom>
              <a:blipFill>
                <a:blip r:embed="rId6"/>
                <a:stretch>
                  <a:fillRect l="-2158" r="-480" b="-7921"/>
                </a:stretch>
              </a:blipFill>
            </p:spPr>
            <p:txBody>
              <a:bodyPr/>
              <a:lstStyle/>
              <a:p>
                <a:r>
                  <a:rPr lang="tr-TR">
                    <a:noFill/>
                  </a:rPr>
                  <a:t> </a:t>
                </a:r>
              </a:p>
            </p:txBody>
          </p:sp>
        </mc:Fallback>
      </mc:AlternateContent>
      <p:sp>
        <p:nvSpPr>
          <p:cNvPr id="17" name="Dikdörtgen 16"/>
          <p:cNvSpPr/>
          <p:nvPr/>
        </p:nvSpPr>
        <p:spPr>
          <a:xfrm>
            <a:off x="0" y="4402891"/>
            <a:ext cx="1588897" cy="369332"/>
          </a:xfrm>
          <a:prstGeom prst="rect">
            <a:avLst/>
          </a:prstGeom>
        </p:spPr>
        <p:txBody>
          <a:bodyPr wrap="none">
            <a:spAutoFit/>
          </a:bodyPr>
          <a:lstStyle/>
          <a:p>
            <a:r>
              <a:rPr lang="tr-TR" i="1" dirty="0">
                <a:latin typeface="Cambria Math" panose="02040503050406030204" pitchFamily="18" charset="0"/>
              </a:rPr>
              <a:t>1-b)     1-</a:t>
            </a:r>
            <a:r>
              <a:rPr lang="tr-TR" dirty="0"/>
              <a:t>λ</a:t>
            </a:r>
            <a:r>
              <a:rPr lang="tr-TR" baseline="-25000" dirty="0"/>
              <a:t>1</a:t>
            </a:r>
            <a:r>
              <a:rPr lang="tr-TR" i="1" dirty="0">
                <a:latin typeface="Cambria Math" panose="02040503050406030204" pitchFamily="18" charset="0"/>
              </a:rPr>
              <a:t>≤0</a:t>
            </a:r>
          </a:p>
        </p:txBody>
      </p:sp>
      <p:sp>
        <p:nvSpPr>
          <p:cNvPr id="18" name="Dikdörtgen 17"/>
          <p:cNvSpPr/>
          <p:nvPr/>
        </p:nvSpPr>
        <p:spPr>
          <a:xfrm>
            <a:off x="-23139" y="4851350"/>
            <a:ext cx="1978427" cy="369332"/>
          </a:xfrm>
          <a:prstGeom prst="rect">
            <a:avLst/>
          </a:prstGeom>
        </p:spPr>
        <p:txBody>
          <a:bodyPr wrap="none">
            <a:spAutoFit/>
          </a:bodyPr>
          <a:lstStyle/>
          <a:p>
            <a:r>
              <a:rPr lang="tr-TR" i="1" dirty="0">
                <a:latin typeface="Cambria Math" panose="02040503050406030204" pitchFamily="18" charset="0"/>
              </a:rPr>
              <a:t>2-b)     x</a:t>
            </a:r>
            <a:r>
              <a:rPr lang="tr-TR" i="1" baseline="-25000" dirty="0">
                <a:latin typeface="Cambria Math" panose="02040503050406030204" pitchFamily="18" charset="0"/>
              </a:rPr>
              <a:t>2</a:t>
            </a:r>
            <a:r>
              <a:rPr lang="tr-TR" i="1" dirty="0">
                <a:latin typeface="Cambria Math" panose="02040503050406030204" pitchFamily="18" charset="0"/>
              </a:rPr>
              <a:t>(1-</a:t>
            </a:r>
            <a:r>
              <a:rPr lang="tr-TR" dirty="0"/>
              <a:t>λ</a:t>
            </a:r>
            <a:r>
              <a:rPr lang="tr-TR" baseline="-25000" dirty="0"/>
              <a:t>1</a:t>
            </a:r>
            <a:r>
              <a:rPr lang="tr-TR" i="1" dirty="0">
                <a:latin typeface="Cambria Math" panose="02040503050406030204" pitchFamily="18" charset="0"/>
              </a:rPr>
              <a:t>)=0</a:t>
            </a:r>
          </a:p>
        </p:txBody>
      </p:sp>
      <p:sp>
        <p:nvSpPr>
          <p:cNvPr id="19" name="Dikdörtgen 18"/>
          <p:cNvSpPr/>
          <p:nvPr/>
        </p:nvSpPr>
        <p:spPr>
          <a:xfrm>
            <a:off x="-8930" y="5303554"/>
            <a:ext cx="1906291" cy="369332"/>
          </a:xfrm>
          <a:prstGeom prst="rect">
            <a:avLst/>
          </a:prstGeom>
        </p:spPr>
        <p:txBody>
          <a:bodyPr wrap="none">
            <a:spAutoFit/>
          </a:bodyPr>
          <a:lstStyle/>
          <a:p>
            <a:r>
              <a:rPr lang="tr-TR" i="1" dirty="0">
                <a:latin typeface="Cambria Math" panose="02040503050406030204" pitchFamily="18" charset="0"/>
              </a:rPr>
              <a:t>3-        3-2x</a:t>
            </a:r>
            <a:r>
              <a:rPr lang="tr-TR" i="1" baseline="-25000" dirty="0">
                <a:latin typeface="Cambria Math" panose="02040503050406030204" pitchFamily="18" charset="0"/>
              </a:rPr>
              <a:t>1</a:t>
            </a:r>
            <a:r>
              <a:rPr lang="tr-TR" i="1" dirty="0">
                <a:latin typeface="Cambria Math" panose="02040503050406030204" pitchFamily="18" charset="0"/>
              </a:rPr>
              <a:t>-x</a:t>
            </a:r>
            <a:r>
              <a:rPr lang="tr-TR" i="1" baseline="-25000" dirty="0">
                <a:latin typeface="Cambria Math" panose="02040503050406030204" pitchFamily="18" charset="0"/>
              </a:rPr>
              <a:t>2</a:t>
            </a:r>
            <a:r>
              <a:rPr lang="tr-TR" i="1" dirty="0">
                <a:latin typeface="Cambria Math" panose="02040503050406030204" pitchFamily="18" charset="0"/>
              </a:rPr>
              <a:t>≤0</a:t>
            </a:r>
          </a:p>
        </p:txBody>
      </p:sp>
      <p:sp>
        <p:nvSpPr>
          <p:cNvPr id="20" name="Dikdörtgen 19"/>
          <p:cNvSpPr/>
          <p:nvPr/>
        </p:nvSpPr>
        <p:spPr>
          <a:xfrm>
            <a:off x="-23139" y="5758601"/>
            <a:ext cx="2260555" cy="369332"/>
          </a:xfrm>
          <a:prstGeom prst="rect">
            <a:avLst/>
          </a:prstGeom>
        </p:spPr>
        <p:txBody>
          <a:bodyPr wrap="none">
            <a:spAutoFit/>
          </a:bodyPr>
          <a:lstStyle/>
          <a:p>
            <a:r>
              <a:rPr lang="tr-TR" i="1" dirty="0">
                <a:latin typeface="Cambria Math" panose="02040503050406030204" pitchFamily="18" charset="0"/>
              </a:rPr>
              <a:t>4-       </a:t>
            </a:r>
            <a:r>
              <a:rPr lang="tr-TR" dirty="0"/>
              <a:t>λ</a:t>
            </a:r>
            <a:r>
              <a:rPr lang="tr-TR" baseline="-25000" dirty="0"/>
              <a:t>1 </a:t>
            </a:r>
            <a:r>
              <a:rPr lang="tr-TR" i="1" dirty="0">
                <a:latin typeface="Cambria Math" panose="02040503050406030204" pitchFamily="18" charset="0"/>
              </a:rPr>
              <a:t>(3-2x</a:t>
            </a:r>
            <a:r>
              <a:rPr lang="tr-TR" i="1" baseline="-25000" dirty="0">
                <a:latin typeface="Cambria Math" panose="02040503050406030204" pitchFamily="18" charset="0"/>
              </a:rPr>
              <a:t>1</a:t>
            </a:r>
            <a:r>
              <a:rPr lang="tr-TR" i="1" dirty="0">
                <a:latin typeface="Cambria Math" panose="02040503050406030204" pitchFamily="18" charset="0"/>
              </a:rPr>
              <a:t>-x</a:t>
            </a:r>
            <a:r>
              <a:rPr lang="tr-TR" i="1" baseline="-25000" dirty="0">
                <a:latin typeface="Cambria Math" panose="02040503050406030204" pitchFamily="18" charset="0"/>
              </a:rPr>
              <a:t>2</a:t>
            </a:r>
            <a:r>
              <a:rPr lang="tr-TR" i="1" dirty="0">
                <a:latin typeface="Cambria Math" panose="02040503050406030204" pitchFamily="18" charset="0"/>
              </a:rPr>
              <a:t>)=0</a:t>
            </a:r>
          </a:p>
        </p:txBody>
      </p:sp>
      <p:sp>
        <p:nvSpPr>
          <p:cNvPr id="21" name="Dikdörtgen 20"/>
          <p:cNvSpPr/>
          <p:nvPr/>
        </p:nvSpPr>
        <p:spPr>
          <a:xfrm>
            <a:off x="2891050" y="2686060"/>
            <a:ext cx="2050561" cy="369332"/>
          </a:xfrm>
          <a:prstGeom prst="rect">
            <a:avLst/>
          </a:prstGeom>
        </p:spPr>
        <p:txBody>
          <a:bodyPr wrap="none">
            <a:spAutoFit/>
          </a:bodyPr>
          <a:lstStyle/>
          <a:p>
            <a:r>
              <a:rPr lang="tr-TR" i="1" dirty="0">
                <a:latin typeface="Cambria Math" panose="02040503050406030204" pitchFamily="18" charset="0"/>
              </a:rPr>
              <a:t>5-        x</a:t>
            </a:r>
            <a:r>
              <a:rPr lang="tr-TR" i="1" baseline="-25000" dirty="0">
                <a:latin typeface="Cambria Math" panose="02040503050406030204" pitchFamily="18" charset="0"/>
              </a:rPr>
              <a:t>1</a:t>
            </a:r>
            <a:r>
              <a:rPr lang="tr-TR" i="1" dirty="0">
                <a:latin typeface="Cambria Math" panose="02040503050406030204" pitchFamily="18" charset="0"/>
              </a:rPr>
              <a:t> ≥0 , x</a:t>
            </a:r>
            <a:r>
              <a:rPr lang="tr-TR" i="1" baseline="-25000" dirty="0">
                <a:latin typeface="Cambria Math" panose="02040503050406030204" pitchFamily="18" charset="0"/>
              </a:rPr>
              <a:t>2</a:t>
            </a:r>
            <a:r>
              <a:rPr lang="tr-TR" i="1" dirty="0">
                <a:latin typeface="Cambria Math" panose="02040503050406030204" pitchFamily="18" charset="0"/>
              </a:rPr>
              <a:t> ≥0</a:t>
            </a:r>
          </a:p>
        </p:txBody>
      </p:sp>
      <p:sp>
        <p:nvSpPr>
          <p:cNvPr id="22" name="Dikdörtgen 21"/>
          <p:cNvSpPr/>
          <p:nvPr/>
        </p:nvSpPr>
        <p:spPr>
          <a:xfrm>
            <a:off x="2891618" y="3242452"/>
            <a:ext cx="1366080" cy="369332"/>
          </a:xfrm>
          <a:prstGeom prst="rect">
            <a:avLst/>
          </a:prstGeom>
        </p:spPr>
        <p:txBody>
          <a:bodyPr wrap="none">
            <a:spAutoFit/>
          </a:bodyPr>
          <a:lstStyle/>
          <a:p>
            <a:r>
              <a:rPr lang="tr-TR" i="1" dirty="0">
                <a:latin typeface="Cambria Math" panose="02040503050406030204" pitchFamily="18" charset="0"/>
              </a:rPr>
              <a:t>6-        </a:t>
            </a:r>
            <a:r>
              <a:rPr lang="tr-TR" dirty="0"/>
              <a:t>λ</a:t>
            </a:r>
            <a:r>
              <a:rPr lang="tr-TR" baseline="-25000" dirty="0"/>
              <a:t>1</a:t>
            </a:r>
            <a:r>
              <a:rPr lang="tr-TR" i="1" dirty="0">
                <a:latin typeface="Cambria Math" panose="02040503050406030204" pitchFamily="18" charset="0"/>
              </a:rPr>
              <a:t> ≥0</a:t>
            </a:r>
          </a:p>
        </p:txBody>
      </p:sp>
      <mc:AlternateContent xmlns:mc="http://schemas.openxmlformats.org/markup-compatibility/2006" xmlns:a14="http://schemas.microsoft.com/office/drawing/2010/main">
        <mc:Choice Requires="a14">
          <p:sp>
            <p:nvSpPr>
              <p:cNvPr id="23" name="Dikdörtgen 22"/>
              <p:cNvSpPr/>
              <p:nvPr/>
            </p:nvSpPr>
            <p:spPr>
              <a:xfrm>
                <a:off x="2339752" y="4323776"/>
                <a:ext cx="6581250" cy="1985544"/>
              </a:xfrm>
              <a:prstGeom prst="rect">
                <a:avLst/>
              </a:prstGeom>
            </p:spPr>
            <p:txBody>
              <a:bodyPr wrap="square">
                <a:spAutoFit/>
              </a:bodyPr>
              <a:lstStyle/>
              <a:p>
                <a:r>
                  <a:rPr lang="tr-TR" i="1" dirty="0">
                    <a:latin typeface="Cambria Math" panose="02040503050406030204" pitchFamily="18" charset="0"/>
                  </a:rPr>
                  <a:t>1-b ‘den </a:t>
                </a:r>
                <a:r>
                  <a:rPr lang="tr-TR" dirty="0"/>
                  <a:t>λ</a:t>
                </a:r>
                <a:r>
                  <a:rPr lang="tr-TR" baseline="-25000" dirty="0"/>
                  <a:t>1</a:t>
                </a:r>
                <a:r>
                  <a:rPr lang="tr-TR" i="1" dirty="0">
                    <a:latin typeface="Cambria Math" panose="02040503050406030204" pitchFamily="18" charset="0"/>
                  </a:rPr>
                  <a:t> ≥1 olarak bulunur. 5’inci koşuldan x</a:t>
                </a:r>
                <a:r>
                  <a:rPr lang="tr-TR" i="1" baseline="-25000" dirty="0">
                    <a:latin typeface="Cambria Math" panose="02040503050406030204" pitchFamily="18" charset="0"/>
                  </a:rPr>
                  <a:t>1</a:t>
                </a:r>
                <a:r>
                  <a:rPr lang="tr-TR" i="1" dirty="0">
                    <a:latin typeface="Cambria Math" panose="02040503050406030204" pitchFamily="18" charset="0"/>
                  </a:rPr>
                  <a:t> ≥0 , (</a:t>
                </a:r>
                <a14:m>
                  <m:oMath xmlns:m="http://schemas.openxmlformats.org/officeDocument/2006/math">
                    <m:f>
                      <m:fPr>
                        <m:ctrlPr>
                          <a:rPr lang="tr-TR" i="1">
                            <a:latin typeface="Cambria Math" panose="02040503050406030204" pitchFamily="18" charset="0"/>
                          </a:rPr>
                        </m:ctrlPr>
                      </m:fPr>
                      <m:num>
                        <m:r>
                          <a:rPr lang="tr-TR" i="1">
                            <a:latin typeface="Cambria Math" panose="02040503050406030204" pitchFamily="18" charset="0"/>
                          </a:rPr>
                          <m:t>1</m:t>
                        </m:r>
                      </m:num>
                      <m:den>
                        <m:r>
                          <a:rPr lang="tr-TR" i="1">
                            <a:latin typeface="Cambria Math" panose="02040503050406030204" pitchFamily="18" charset="0"/>
                          </a:rPr>
                          <m:t>𝑥</m:t>
                        </m:r>
                        <m:r>
                          <a:rPr lang="tr-TR" i="1">
                            <a:latin typeface="Cambria Math" panose="02040503050406030204" pitchFamily="18" charset="0"/>
                          </a:rPr>
                          <m:t>1+1</m:t>
                        </m:r>
                      </m:den>
                    </m:f>
                  </m:oMath>
                </a14:m>
                <a:r>
                  <a:rPr lang="tr-TR" i="1" dirty="0">
                    <a:latin typeface="Cambria Math" panose="02040503050406030204" pitchFamily="18" charset="0"/>
                  </a:rPr>
                  <a:t>-2</a:t>
                </a:r>
                <a:r>
                  <a:rPr lang="tr-TR" dirty="0"/>
                  <a:t>λ</a:t>
                </a:r>
                <a:r>
                  <a:rPr lang="tr-TR" baseline="-25000" dirty="0"/>
                  <a:t>1</a:t>
                </a:r>
                <a:r>
                  <a:rPr lang="tr-TR" i="1" dirty="0">
                    <a:latin typeface="Cambria Math" panose="02040503050406030204" pitchFamily="18" charset="0"/>
                  </a:rPr>
                  <a:t>) ifadesinde parantez içine değerler yerleştirildiğinde (</a:t>
                </a:r>
                <a14:m>
                  <m:oMath xmlns:m="http://schemas.openxmlformats.org/officeDocument/2006/math">
                    <m:f>
                      <m:fPr>
                        <m:ctrlPr>
                          <a:rPr lang="tr-TR" i="1">
                            <a:latin typeface="Cambria Math" panose="02040503050406030204" pitchFamily="18" charset="0"/>
                          </a:rPr>
                        </m:ctrlPr>
                      </m:fPr>
                      <m:num>
                        <m:r>
                          <a:rPr lang="tr-TR" i="1">
                            <a:latin typeface="Cambria Math" panose="02040503050406030204" pitchFamily="18" charset="0"/>
                          </a:rPr>
                          <m:t>1</m:t>
                        </m:r>
                      </m:num>
                      <m:den>
                        <m:r>
                          <a:rPr lang="tr-TR" i="1">
                            <a:latin typeface="Cambria Math" panose="02040503050406030204" pitchFamily="18" charset="0"/>
                          </a:rPr>
                          <m:t>𝑥</m:t>
                        </m:r>
                        <m:r>
                          <a:rPr lang="tr-TR" i="1">
                            <a:latin typeface="Cambria Math" panose="02040503050406030204" pitchFamily="18" charset="0"/>
                          </a:rPr>
                          <m:t>1+1</m:t>
                        </m:r>
                      </m:den>
                    </m:f>
                  </m:oMath>
                </a14:m>
                <a:r>
                  <a:rPr lang="tr-TR" i="1" dirty="0">
                    <a:latin typeface="Cambria Math" panose="02040503050406030204" pitchFamily="18" charset="0"/>
                  </a:rPr>
                  <a:t>-2</a:t>
                </a:r>
                <a:r>
                  <a:rPr lang="tr-TR" dirty="0"/>
                  <a:t>λ</a:t>
                </a:r>
                <a:r>
                  <a:rPr lang="tr-TR" baseline="-25000" dirty="0"/>
                  <a:t>1</a:t>
                </a:r>
                <a:r>
                  <a:rPr lang="tr-TR" i="1" dirty="0">
                    <a:latin typeface="Cambria Math" panose="02040503050406030204" pitchFamily="18" charset="0"/>
                  </a:rPr>
                  <a:t>) ≤0 olur. Dolayısıyla 2-a’ıncı şıktan x</a:t>
                </a:r>
                <a:r>
                  <a:rPr lang="tr-TR" i="1" baseline="-25000" dirty="0">
                    <a:latin typeface="Cambria Math" panose="02040503050406030204" pitchFamily="18" charset="0"/>
                  </a:rPr>
                  <a:t>1</a:t>
                </a:r>
                <a:r>
                  <a:rPr lang="tr-TR" i="1" dirty="0">
                    <a:latin typeface="Cambria Math" panose="02040503050406030204" pitchFamily="18" charset="0"/>
                  </a:rPr>
                  <a:t> =0 olur. 4’üncü koşuldan </a:t>
                </a:r>
                <a:r>
                  <a:rPr lang="tr-TR" dirty="0"/>
                  <a:t>λ</a:t>
                </a:r>
                <a:r>
                  <a:rPr lang="tr-TR" baseline="-25000" dirty="0"/>
                  <a:t>1</a:t>
                </a:r>
                <a:r>
                  <a:rPr lang="tr-TR" i="1" dirty="0">
                    <a:latin typeface="Cambria Math" panose="02040503050406030204" pitchFamily="18" charset="0"/>
                  </a:rPr>
                  <a:t> ≠0 olduğundan dolayı (3-2x</a:t>
                </a:r>
                <a:r>
                  <a:rPr lang="tr-TR" i="1" baseline="-25000" dirty="0">
                    <a:latin typeface="Cambria Math" panose="02040503050406030204" pitchFamily="18" charset="0"/>
                  </a:rPr>
                  <a:t>1</a:t>
                </a:r>
                <a:r>
                  <a:rPr lang="tr-TR" i="1" dirty="0">
                    <a:latin typeface="Cambria Math" panose="02040503050406030204" pitchFamily="18" charset="0"/>
                  </a:rPr>
                  <a:t>-x</a:t>
                </a:r>
                <a:r>
                  <a:rPr lang="tr-TR" i="1" baseline="-25000" dirty="0">
                    <a:latin typeface="Cambria Math" panose="02040503050406030204" pitchFamily="18" charset="0"/>
                  </a:rPr>
                  <a:t>2</a:t>
                </a:r>
                <a:r>
                  <a:rPr lang="tr-TR" i="1" dirty="0">
                    <a:latin typeface="Cambria Math" panose="02040503050406030204" pitchFamily="18" charset="0"/>
                  </a:rPr>
                  <a:t>) = 0 olur. 3. ve 4. koşuldan x</a:t>
                </a:r>
                <a:r>
                  <a:rPr lang="tr-TR" i="1" baseline="-25000" dirty="0">
                    <a:latin typeface="Cambria Math" panose="02040503050406030204" pitchFamily="18" charset="0"/>
                  </a:rPr>
                  <a:t>2 </a:t>
                </a:r>
                <a:r>
                  <a:rPr lang="tr-TR" i="1" dirty="0">
                    <a:latin typeface="Cambria Math" panose="02040503050406030204" pitchFamily="18" charset="0"/>
                  </a:rPr>
                  <a:t>= 3 olur. 6. ve 2-b’inci şıktan x</a:t>
                </a:r>
                <a:r>
                  <a:rPr lang="tr-TR" i="1" baseline="-25000" dirty="0">
                    <a:latin typeface="Cambria Math" panose="02040503050406030204" pitchFamily="18" charset="0"/>
                  </a:rPr>
                  <a:t>2</a:t>
                </a:r>
                <a:r>
                  <a:rPr lang="tr-TR" i="1" dirty="0">
                    <a:latin typeface="Cambria Math" panose="02040503050406030204" pitchFamily="18" charset="0"/>
                  </a:rPr>
                  <a:t>≠0 ve </a:t>
                </a:r>
                <a:r>
                  <a:rPr lang="tr-TR" dirty="0"/>
                  <a:t>λ</a:t>
                </a:r>
                <a:r>
                  <a:rPr lang="tr-TR" baseline="-25000" dirty="0"/>
                  <a:t>1</a:t>
                </a:r>
                <a:r>
                  <a:rPr lang="tr-TR" i="1" dirty="0">
                    <a:latin typeface="Cambria Math" panose="02040503050406030204" pitchFamily="18" charset="0"/>
                  </a:rPr>
                  <a:t>=1 olur.</a:t>
                </a:r>
              </a:p>
              <a:p>
                <a:endParaRPr lang="tr-TR" i="1" dirty="0">
                  <a:latin typeface="Cambria Math" panose="02040503050406030204" pitchFamily="18" charset="0"/>
                </a:endParaRPr>
              </a:p>
            </p:txBody>
          </p:sp>
        </mc:Choice>
        <mc:Fallback xmlns="">
          <p:sp>
            <p:nvSpPr>
              <p:cNvPr id="23" name="Dikdörtgen 22"/>
              <p:cNvSpPr>
                <a:spLocks noRot="1" noChangeAspect="1" noMove="1" noResize="1" noEditPoints="1" noAdjustHandles="1" noChangeArrowheads="1" noChangeShapeType="1" noTextEdit="1"/>
              </p:cNvSpPr>
              <p:nvPr/>
            </p:nvSpPr>
            <p:spPr>
              <a:xfrm>
                <a:off x="2339752" y="4323776"/>
                <a:ext cx="6581250" cy="1985544"/>
              </a:xfrm>
              <a:prstGeom prst="rect">
                <a:avLst/>
              </a:prstGeom>
              <a:blipFill>
                <a:blip r:embed="rId7"/>
                <a:stretch>
                  <a:fillRect l="-834" r="-1205"/>
                </a:stretch>
              </a:blipFill>
            </p:spPr>
            <p:txBody>
              <a:bodyPr/>
              <a:lstStyle/>
              <a:p>
                <a:r>
                  <a:rPr lang="tr-TR">
                    <a:noFill/>
                  </a:rPr>
                  <a:t> </a:t>
                </a:r>
              </a:p>
            </p:txBody>
          </p:sp>
        </mc:Fallback>
      </mc:AlternateContent>
    </p:spTree>
    <p:extLst>
      <p:ext uri="{BB962C8B-B14F-4D97-AF65-F5344CB8AC3E}">
        <p14:creationId xmlns:p14="http://schemas.microsoft.com/office/powerpoint/2010/main" val="32398280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7" grpId="0"/>
      <p:bldP spid="18" grpId="0"/>
      <p:bldP spid="19" grpId="0"/>
      <p:bldP spid="20" grpId="0"/>
      <p:bldP spid="21" grpId="0"/>
      <p:bldP spid="22" grpId="0"/>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30" y="-2"/>
            <a:ext cx="9152930" cy="69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çerik Yer Tutucusu 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115724"/>
            <a:ext cx="3082789" cy="438233"/>
          </a:xfrm>
          <a:effectLst>
            <a:outerShdw blurRad="50800" dist="50800" dir="5400000" algn="ctr" rotWithShape="0">
              <a:schemeClr val="bg2"/>
            </a:outerShdw>
          </a:effectLst>
        </p:spPr>
      </p:pic>
      <p:pic>
        <p:nvPicPr>
          <p:cNvPr id="9" name="Resim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525344"/>
            <a:ext cx="9144000" cy="332656"/>
          </a:xfrm>
          <a:prstGeom prst="rect">
            <a:avLst/>
          </a:prstGeom>
          <a:noFill/>
          <a:ln w="19050">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sp>
        <p:nvSpPr>
          <p:cNvPr id="12" name="Metin kutusu 11"/>
          <p:cNvSpPr txBox="1"/>
          <p:nvPr/>
        </p:nvSpPr>
        <p:spPr>
          <a:xfrm>
            <a:off x="9738" y="692696"/>
            <a:ext cx="9145016" cy="830997"/>
          </a:xfrm>
          <a:prstGeom prst="rect">
            <a:avLst/>
          </a:prstGeom>
          <a:noFill/>
        </p:spPr>
        <p:txBody>
          <a:bodyPr wrap="square" rtlCol="0">
            <a:spAutoFit/>
          </a:bodyPr>
          <a:lstStyle/>
          <a:p>
            <a:pPr algn="ctr"/>
            <a:r>
              <a:rPr lang="tr-TR" sz="4800" b="1" dirty="0"/>
              <a:t>ÖRNEK 6</a:t>
            </a:r>
            <a:endParaRPr lang="tr-TR" sz="4800" dirty="0"/>
          </a:p>
        </p:txBody>
      </p:sp>
      <mc:AlternateContent xmlns:mc="http://schemas.openxmlformats.org/markup-compatibility/2006" xmlns:a14="http://schemas.microsoft.com/office/drawing/2010/main">
        <mc:Choice Requires="a14">
          <p:sp>
            <p:nvSpPr>
              <p:cNvPr id="13" name="Dikdörtgen 12"/>
              <p:cNvSpPr/>
              <p:nvPr/>
            </p:nvSpPr>
            <p:spPr>
              <a:xfrm>
                <a:off x="-8930" y="1522824"/>
                <a:ext cx="4868961" cy="1314462"/>
              </a:xfrm>
              <a:prstGeom prst="rect">
                <a:avLst/>
              </a:prstGeom>
            </p:spPr>
            <p:txBody>
              <a:bodyPr wrap="square">
                <a:spAutoFit/>
              </a:bodyPr>
              <a:lstStyle/>
              <a:p>
                <a:r>
                  <a:rPr lang="tr-TR" b="1" i="1" dirty="0">
                    <a:latin typeface="Cambria Math" panose="02040503050406030204" pitchFamily="18" charset="0"/>
                  </a:rPr>
                  <a:t>Örnek:</a:t>
                </a:r>
                <a:r>
                  <a:rPr lang="tr-TR" i="1" dirty="0">
                    <a:latin typeface="Cambria Math" panose="02040503050406030204" pitchFamily="18" charset="0"/>
                  </a:rPr>
                  <a:t>	</a:t>
                </a:r>
                <a:r>
                  <a:rPr lang="tr-TR" i="1" dirty="0" err="1">
                    <a:latin typeface="Cambria Math" panose="02040503050406030204" pitchFamily="18" charset="0"/>
                  </a:rPr>
                  <a:t>fenbüyük</a:t>
                </a:r>
                <a:r>
                  <a:rPr lang="tr-TR" i="1" dirty="0">
                    <a:latin typeface="Cambria Math" panose="02040503050406030204" pitchFamily="18" charset="0"/>
                  </a:rPr>
                  <a:t>(x)=-x</a:t>
                </a:r>
                <a:r>
                  <a:rPr lang="tr-TR" i="1" baseline="-25000" dirty="0">
                    <a:latin typeface="Cambria Math" panose="02040503050406030204" pitchFamily="18" charset="0"/>
                  </a:rPr>
                  <a:t>1</a:t>
                </a:r>
                <a:r>
                  <a:rPr lang="tr-TR" i="1" dirty="0">
                    <a:latin typeface="Cambria Math" panose="02040503050406030204" pitchFamily="18" charset="0"/>
                  </a:rPr>
                  <a:t>-	x</a:t>
                </a:r>
                <a:r>
                  <a:rPr lang="tr-TR" i="1" baseline="-25000" dirty="0">
                    <a:latin typeface="Cambria Math" panose="02040503050406030204" pitchFamily="18" charset="0"/>
                  </a:rPr>
                  <a:t>2</a:t>
                </a:r>
                <a:r>
                  <a:rPr lang="tr-TR" i="1" dirty="0">
                    <a:latin typeface="Cambria Math" panose="02040503050406030204" pitchFamily="18" charset="0"/>
                  </a:rPr>
                  <a:t>+</a:t>
                </a:r>
                <a14:m>
                  <m:oMath xmlns:m="http://schemas.openxmlformats.org/officeDocument/2006/math">
                    <m:f>
                      <m:fPr>
                        <m:ctrlPr>
                          <a:rPr lang="tr-TR"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2</m:t>
                        </m:r>
                      </m:den>
                    </m:f>
                  </m:oMath>
                </a14:m>
                <a:r>
                  <a:rPr lang="tr-TR" i="1" dirty="0">
                    <a:latin typeface="Cambria Math" panose="02040503050406030204" pitchFamily="18" charset="0"/>
                  </a:rPr>
                  <a:t>x</a:t>
                </a:r>
                <a:r>
                  <a:rPr lang="tr-TR" i="1" baseline="-25000" dirty="0">
                    <a:latin typeface="Cambria Math" panose="02040503050406030204" pitchFamily="18" charset="0"/>
                  </a:rPr>
                  <a:t>1</a:t>
                </a:r>
                <a:r>
                  <a:rPr lang="tr-TR" i="1" baseline="30000" dirty="0">
                    <a:latin typeface="Cambria Math" panose="02040503050406030204" pitchFamily="18" charset="0"/>
                  </a:rPr>
                  <a:t>2</a:t>
                </a:r>
                <a:r>
                  <a:rPr lang="tr-TR" i="1" dirty="0">
                    <a:latin typeface="Cambria Math" panose="02040503050406030204" pitchFamily="18" charset="0"/>
                  </a:rPr>
                  <a:t>+ x</a:t>
                </a:r>
                <a:r>
                  <a:rPr lang="tr-TR" i="1" baseline="-25000" dirty="0">
                    <a:latin typeface="Cambria Math" panose="02040503050406030204" pitchFamily="18" charset="0"/>
                  </a:rPr>
                  <a:t>2</a:t>
                </a:r>
                <a:r>
                  <a:rPr lang="tr-TR" i="1" baseline="30000" dirty="0">
                    <a:latin typeface="Cambria Math" panose="02040503050406030204" pitchFamily="18" charset="0"/>
                  </a:rPr>
                  <a:t>2</a:t>
                </a:r>
                <a:r>
                  <a:rPr lang="tr-TR" i="1" dirty="0">
                    <a:latin typeface="Cambria Math" panose="02040503050406030204" pitchFamily="18" charset="0"/>
                  </a:rPr>
                  <a:t>- x</a:t>
                </a:r>
                <a:r>
                  <a:rPr lang="tr-TR" i="1" baseline="-25000" dirty="0">
                    <a:latin typeface="Cambria Math" panose="02040503050406030204" pitchFamily="18" charset="0"/>
                  </a:rPr>
                  <a:t>1</a:t>
                </a:r>
                <a:r>
                  <a:rPr lang="tr-TR" i="1" dirty="0">
                    <a:latin typeface="Cambria Math" panose="02040503050406030204" pitchFamily="18" charset="0"/>
                  </a:rPr>
                  <a:t>x</a:t>
                </a:r>
                <a:r>
                  <a:rPr lang="tr-TR" i="1" baseline="-25000" dirty="0">
                    <a:latin typeface="Cambria Math" panose="02040503050406030204" pitchFamily="18" charset="0"/>
                  </a:rPr>
                  <a:t>2</a:t>
                </a:r>
                <a:r>
                  <a:rPr lang="tr-TR" i="1" dirty="0">
                    <a:latin typeface="Cambria Math" panose="02040503050406030204" pitchFamily="18" charset="0"/>
                  </a:rPr>
                  <a:t> </a:t>
                </a:r>
              </a:p>
              <a:p>
                <a:r>
                  <a:rPr lang="tr-TR" i="1" dirty="0">
                    <a:latin typeface="Cambria Math" panose="02040503050406030204" pitchFamily="18" charset="0"/>
                  </a:rPr>
                  <a:t>	           x</a:t>
                </a:r>
                <a:r>
                  <a:rPr lang="tr-TR" i="1" baseline="-25000" dirty="0">
                    <a:latin typeface="Cambria Math" panose="02040503050406030204" pitchFamily="18" charset="0"/>
                  </a:rPr>
                  <a:t>1</a:t>
                </a:r>
                <a:r>
                  <a:rPr lang="tr-TR" i="1" dirty="0">
                    <a:latin typeface="Cambria Math" panose="02040503050406030204" pitchFamily="18" charset="0"/>
                  </a:rPr>
                  <a:t>+x</a:t>
                </a:r>
                <a:r>
                  <a:rPr lang="tr-TR" i="1" baseline="-25000" dirty="0">
                    <a:latin typeface="Cambria Math" panose="02040503050406030204" pitchFamily="18" charset="0"/>
                  </a:rPr>
                  <a:t>2</a:t>
                </a:r>
                <a:r>
                  <a:rPr lang="tr-TR" i="1" dirty="0">
                    <a:latin typeface="Cambria Math" panose="02040503050406030204" pitchFamily="18" charset="0"/>
                  </a:rPr>
                  <a:t>≤3</a:t>
                </a:r>
              </a:p>
              <a:p>
                <a:r>
                  <a:rPr lang="tr-TR" i="1" dirty="0">
                    <a:latin typeface="Cambria Math" panose="02040503050406030204" pitchFamily="18" charset="0"/>
                  </a:rPr>
                  <a:t>	        -2x</a:t>
                </a:r>
                <a:r>
                  <a:rPr lang="tr-TR" i="1" baseline="-25000" dirty="0">
                    <a:latin typeface="Cambria Math" panose="02040503050406030204" pitchFamily="18" charset="0"/>
                  </a:rPr>
                  <a:t>1</a:t>
                </a:r>
                <a:r>
                  <a:rPr lang="tr-TR" i="1" dirty="0">
                    <a:latin typeface="Cambria Math" panose="02040503050406030204" pitchFamily="18" charset="0"/>
                  </a:rPr>
                  <a:t>-3x</a:t>
                </a:r>
                <a:r>
                  <a:rPr lang="tr-TR" i="1" baseline="-25000" dirty="0">
                    <a:latin typeface="Cambria Math" panose="02040503050406030204" pitchFamily="18" charset="0"/>
                  </a:rPr>
                  <a:t>2</a:t>
                </a:r>
                <a:r>
                  <a:rPr lang="tr-TR" i="1" dirty="0">
                    <a:latin typeface="Cambria Math" panose="02040503050406030204" pitchFamily="18" charset="0"/>
                  </a:rPr>
                  <a:t>≤-6</a:t>
                </a:r>
              </a:p>
              <a:p>
                <a:r>
                  <a:rPr lang="tr-TR" i="1" dirty="0">
                    <a:latin typeface="Cambria Math" panose="02040503050406030204" pitchFamily="18" charset="0"/>
                  </a:rPr>
                  <a:t>	       x</a:t>
                </a:r>
                <a:r>
                  <a:rPr lang="tr-TR" i="1" baseline="-25000" dirty="0">
                    <a:latin typeface="Cambria Math" panose="02040503050406030204" pitchFamily="18" charset="0"/>
                  </a:rPr>
                  <a:t>1</a:t>
                </a:r>
                <a:r>
                  <a:rPr lang="tr-TR" i="1" dirty="0">
                    <a:latin typeface="Cambria Math" panose="02040503050406030204" pitchFamily="18" charset="0"/>
                  </a:rPr>
                  <a:t>≥0,     x</a:t>
                </a:r>
                <a:r>
                  <a:rPr lang="tr-TR" i="1" baseline="-25000" dirty="0">
                    <a:latin typeface="Cambria Math" panose="02040503050406030204" pitchFamily="18" charset="0"/>
                  </a:rPr>
                  <a:t>2</a:t>
                </a:r>
                <a:r>
                  <a:rPr lang="tr-TR" i="1" dirty="0">
                    <a:latin typeface="Cambria Math" panose="02040503050406030204" pitchFamily="18" charset="0"/>
                  </a:rPr>
                  <a:t>≥0</a:t>
                </a:r>
              </a:p>
            </p:txBody>
          </p:sp>
        </mc:Choice>
        <mc:Fallback xmlns="">
          <p:sp>
            <p:nvSpPr>
              <p:cNvPr id="13" name="Dikdörtgen 12"/>
              <p:cNvSpPr>
                <a:spLocks noRot="1" noChangeAspect="1" noMove="1" noResize="1" noEditPoints="1" noAdjustHandles="1" noChangeArrowheads="1" noChangeShapeType="1" noTextEdit="1"/>
              </p:cNvSpPr>
              <p:nvPr/>
            </p:nvSpPr>
            <p:spPr>
              <a:xfrm>
                <a:off x="-8930" y="1522824"/>
                <a:ext cx="4868961" cy="1314462"/>
              </a:xfrm>
              <a:prstGeom prst="rect">
                <a:avLst/>
              </a:prstGeom>
              <a:blipFill>
                <a:blip r:embed="rId5"/>
                <a:stretch>
                  <a:fillRect l="-1128" b="-6512"/>
                </a:stretch>
              </a:blipFill>
            </p:spPr>
            <p:txBody>
              <a:bodyPr/>
              <a:lstStyle/>
              <a:p>
                <a:r>
                  <a:rPr lang="tr-TR">
                    <a:noFill/>
                  </a:rPr>
                  <a:t> </a:t>
                </a:r>
              </a:p>
            </p:txBody>
          </p:sp>
        </mc:Fallback>
      </mc:AlternateContent>
      <p:sp>
        <p:nvSpPr>
          <p:cNvPr id="14" name="Dikdörtgen 13"/>
          <p:cNvSpPr/>
          <p:nvPr/>
        </p:nvSpPr>
        <p:spPr>
          <a:xfrm>
            <a:off x="179512" y="3008855"/>
            <a:ext cx="2759089" cy="369332"/>
          </a:xfrm>
          <a:prstGeom prst="rect">
            <a:avLst/>
          </a:prstGeom>
        </p:spPr>
        <p:txBody>
          <a:bodyPr wrap="none">
            <a:spAutoFit/>
          </a:bodyPr>
          <a:lstStyle/>
          <a:p>
            <a:r>
              <a:rPr lang="tr-TR" i="1" dirty="0">
                <a:latin typeface="Cambria Math" panose="02040503050406030204" pitchFamily="18" charset="0"/>
              </a:rPr>
              <a:t>a) -1 + x</a:t>
            </a:r>
            <a:r>
              <a:rPr lang="tr-TR" i="1" baseline="-25000" dirty="0">
                <a:latin typeface="Cambria Math" panose="02040503050406030204" pitchFamily="18" charset="0"/>
              </a:rPr>
              <a:t>1 </a:t>
            </a:r>
            <a:r>
              <a:rPr lang="tr-TR" i="1" dirty="0">
                <a:latin typeface="Cambria Math" panose="02040503050406030204" pitchFamily="18" charset="0"/>
              </a:rPr>
              <a:t>– x</a:t>
            </a:r>
            <a:r>
              <a:rPr lang="tr-TR" i="1" baseline="-25000" dirty="0">
                <a:latin typeface="Cambria Math" panose="02040503050406030204" pitchFamily="18" charset="0"/>
              </a:rPr>
              <a:t>2</a:t>
            </a:r>
            <a:r>
              <a:rPr lang="tr-TR" i="1" dirty="0">
                <a:latin typeface="Cambria Math" panose="02040503050406030204" pitchFamily="18" charset="0"/>
              </a:rPr>
              <a:t> -</a:t>
            </a:r>
            <a:r>
              <a:rPr lang="tr-TR" dirty="0"/>
              <a:t>λ</a:t>
            </a:r>
            <a:r>
              <a:rPr lang="tr-TR" baseline="-25000" dirty="0"/>
              <a:t>1</a:t>
            </a:r>
            <a:r>
              <a:rPr lang="tr-TR" i="1" baseline="-25000" dirty="0">
                <a:latin typeface="Cambria Math" panose="02040503050406030204" pitchFamily="18" charset="0"/>
              </a:rPr>
              <a:t> </a:t>
            </a:r>
            <a:r>
              <a:rPr lang="tr-TR" i="1" dirty="0">
                <a:latin typeface="Cambria Math" panose="02040503050406030204" pitchFamily="18" charset="0"/>
              </a:rPr>
              <a:t>+2</a:t>
            </a:r>
            <a:r>
              <a:rPr lang="tr-TR" dirty="0"/>
              <a:t>λ</a:t>
            </a:r>
            <a:r>
              <a:rPr lang="tr-TR" baseline="-25000" dirty="0"/>
              <a:t>2</a:t>
            </a:r>
            <a:r>
              <a:rPr lang="tr-TR" i="1" dirty="0">
                <a:latin typeface="Cambria Math" panose="02040503050406030204" pitchFamily="18" charset="0"/>
              </a:rPr>
              <a:t> ≤ 0</a:t>
            </a:r>
            <a:endParaRPr lang="tr-TR" i="1" baseline="-25000" dirty="0">
              <a:latin typeface="Cambria Math" panose="02040503050406030204" pitchFamily="18" charset="0"/>
            </a:endParaRPr>
          </a:p>
        </p:txBody>
      </p:sp>
      <p:sp>
        <p:nvSpPr>
          <p:cNvPr id="16" name="Dikdörtgen 15"/>
          <p:cNvSpPr/>
          <p:nvPr/>
        </p:nvSpPr>
        <p:spPr>
          <a:xfrm>
            <a:off x="179511" y="3482748"/>
            <a:ext cx="3491661" cy="369332"/>
          </a:xfrm>
          <a:prstGeom prst="rect">
            <a:avLst/>
          </a:prstGeom>
        </p:spPr>
        <p:txBody>
          <a:bodyPr wrap="none">
            <a:spAutoFit/>
          </a:bodyPr>
          <a:lstStyle/>
          <a:p>
            <a:r>
              <a:rPr lang="tr-TR" i="1" dirty="0">
                <a:latin typeface="Cambria Math" panose="02040503050406030204" pitchFamily="18" charset="0"/>
              </a:rPr>
              <a:t>2-a) x</a:t>
            </a:r>
            <a:r>
              <a:rPr lang="tr-TR" i="1" baseline="-25000" dirty="0">
                <a:latin typeface="Cambria Math" panose="02040503050406030204" pitchFamily="18" charset="0"/>
              </a:rPr>
              <a:t>1 </a:t>
            </a:r>
            <a:r>
              <a:rPr lang="tr-TR" i="1" dirty="0">
                <a:latin typeface="Cambria Math" panose="02040503050406030204" pitchFamily="18" charset="0"/>
              </a:rPr>
              <a:t>[-1 + x</a:t>
            </a:r>
            <a:r>
              <a:rPr lang="tr-TR" i="1" baseline="-25000" dirty="0">
                <a:latin typeface="Cambria Math" panose="02040503050406030204" pitchFamily="18" charset="0"/>
              </a:rPr>
              <a:t>1 </a:t>
            </a:r>
            <a:r>
              <a:rPr lang="tr-TR" i="1" dirty="0">
                <a:latin typeface="Cambria Math" panose="02040503050406030204" pitchFamily="18" charset="0"/>
              </a:rPr>
              <a:t>– x</a:t>
            </a:r>
            <a:r>
              <a:rPr lang="tr-TR" i="1" baseline="-25000" dirty="0">
                <a:latin typeface="Cambria Math" panose="02040503050406030204" pitchFamily="18" charset="0"/>
              </a:rPr>
              <a:t>2</a:t>
            </a:r>
            <a:r>
              <a:rPr lang="tr-TR" i="1" dirty="0">
                <a:latin typeface="Cambria Math" panose="02040503050406030204" pitchFamily="18" charset="0"/>
              </a:rPr>
              <a:t> -</a:t>
            </a:r>
            <a:r>
              <a:rPr lang="tr-TR" dirty="0"/>
              <a:t>λ</a:t>
            </a:r>
            <a:r>
              <a:rPr lang="tr-TR" baseline="-25000" dirty="0"/>
              <a:t>1</a:t>
            </a:r>
            <a:r>
              <a:rPr lang="tr-TR" i="1" baseline="-25000" dirty="0">
                <a:latin typeface="Cambria Math" panose="02040503050406030204" pitchFamily="18" charset="0"/>
              </a:rPr>
              <a:t> </a:t>
            </a:r>
            <a:r>
              <a:rPr lang="tr-TR" i="1" dirty="0">
                <a:latin typeface="Cambria Math" panose="02040503050406030204" pitchFamily="18" charset="0"/>
              </a:rPr>
              <a:t>+2</a:t>
            </a:r>
            <a:r>
              <a:rPr lang="tr-TR" dirty="0"/>
              <a:t>λ</a:t>
            </a:r>
            <a:r>
              <a:rPr lang="tr-TR" i="1" baseline="-25000" dirty="0">
                <a:latin typeface="Cambria Math" panose="02040503050406030204" pitchFamily="18" charset="0"/>
              </a:rPr>
              <a:t>2</a:t>
            </a:r>
            <a:r>
              <a:rPr lang="tr-TR" i="1" dirty="0">
                <a:latin typeface="Cambria Math" panose="02040503050406030204" pitchFamily="18" charset="0"/>
              </a:rPr>
              <a:t> ] = 0</a:t>
            </a:r>
            <a:endParaRPr lang="tr-TR" i="1" baseline="-25000" dirty="0">
              <a:latin typeface="Cambria Math" panose="02040503050406030204" pitchFamily="18" charset="0"/>
            </a:endParaRPr>
          </a:p>
        </p:txBody>
      </p:sp>
      <p:sp>
        <p:nvSpPr>
          <p:cNvPr id="17" name="Dikdörtgen 16"/>
          <p:cNvSpPr/>
          <p:nvPr/>
        </p:nvSpPr>
        <p:spPr>
          <a:xfrm>
            <a:off x="179511" y="3962082"/>
            <a:ext cx="3207929" cy="369332"/>
          </a:xfrm>
          <a:prstGeom prst="rect">
            <a:avLst/>
          </a:prstGeom>
        </p:spPr>
        <p:txBody>
          <a:bodyPr wrap="none">
            <a:spAutoFit/>
          </a:bodyPr>
          <a:lstStyle/>
          <a:p>
            <a:r>
              <a:rPr lang="tr-TR" i="1" dirty="0">
                <a:latin typeface="Cambria Math" panose="02040503050406030204" pitchFamily="18" charset="0"/>
              </a:rPr>
              <a:t>1-b) -1 + 2x</a:t>
            </a:r>
            <a:r>
              <a:rPr lang="tr-TR" i="1" baseline="-25000" dirty="0">
                <a:latin typeface="Cambria Math" panose="02040503050406030204" pitchFamily="18" charset="0"/>
              </a:rPr>
              <a:t>2 </a:t>
            </a:r>
            <a:r>
              <a:rPr lang="tr-TR" i="1" dirty="0">
                <a:latin typeface="Cambria Math" panose="02040503050406030204" pitchFamily="18" charset="0"/>
              </a:rPr>
              <a:t>– x</a:t>
            </a:r>
            <a:r>
              <a:rPr lang="tr-TR" i="1" baseline="-25000" dirty="0">
                <a:latin typeface="Cambria Math" panose="02040503050406030204" pitchFamily="18" charset="0"/>
              </a:rPr>
              <a:t>1</a:t>
            </a:r>
            <a:r>
              <a:rPr lang="tr-TR" i="1" dirty="0">
                <a:latin typeface="Cambria Math" panose="02040503050406030204" pitchFamily="18" charset="0"/>
              </a:rPr>
              <a:t> -</a:t>
            </a:r>
            <a:r>
              <a:rPr lang="tr-TR" dirty="0"/>
              <a:t>λ</a:t>
            </a:r>
            <a:r>
              <a:rPr lang="tr-TR" baseline="-25000" dirty="0"/>
              <a:t>1</a:t>
            </a:r>
            <a:r>
              <a:rPr lang="tr-TR" i="1" baseline="-25000" dirty="0">
                <a:latin typeface="Cambria Math" panose="02040503050406030204" pitchFamily="18" charset="0"/>
              </a:rPr>
              <a:t> </a:t>
            </a:r>
            <a:r>
              <a:rPr lang="tr-TR" i="1" dirty="0">
                <a:latin typeface="Cambria Math" panose="02040503050406030204" pitchFamily="18" charset="0"/>
              </a:rPr>
              <a:t>+3</a:t>
            </a:r>
            <a:r>
              <a:rPr lang="tr-TR" dirty="0"/>
              <a:t>λ</a:t>
            </a:r>
            <a:r>
              <a:rPr lang="tr-TR" i="1" baseline="-25000" dirty="0">
                <a:latin typeface="Cambria Math" panose="02040503050406030204" pitchFamily="18" charset="0"/>
              </a:rPr>
              <a:t>2</a:t>
            </a:r>
            <a:r>
              <a:rPr lang="tr-TR" i="1" dirty="0">
                <a:latin typeface="Cambria Math" panose="02040503050406030204" pitchFamily="18" charset="0"/>
              </a:rPr>
              <a:t> ≤ 0</a:t>
            </a:r>
            <a:endParaRPr lang="tr-TR" i="1" baseline="-25000" dirty="0">
              <a:latin typeface="Cambria Math" panose="02040503050406030204" pitchFamily="18" charset="0"/>
            </a:endParaRPr>
          </a:p>
        </p:txBody>
      </p:sp>
      <p:sp>
        <p:nvSpPr>
          <p:cNvPr id="18" name="Dikdörtgen 17"/>
          <p:cNvSpPr/>
          <p:nvPr/>
        </p:nvSpPr>
        <p:spPr>
          <a:xfrm>
            <a:off x="179510" y="4441416"/>
            <a:ext cx="3591048" cy="369332"/>
          </a:xfrm>
          <a:prstGeom prst="rect">
            <a:avLst/>
          </a:prstGeom>
        </p:spPr>
        <p:txBody>
          <a:bodyPr wrap="none">
            <a:spAutoFit/>
          </a:bodyPr>
          <a:lstStyle/>
          <a:p>
            <a:r>
              <a:rPr lang="tr-TR" i="1" dirty="0">
                <a:latin typeface="Cambria Math" panose="02040503050406030204" pitchFamily="18" charset="0"/>
              </a:rPr>
              <a:t>2-b) x</a:t>
            </a:r>
            <a:r>
              <a:rPr lang="tr-TR" i="1" baseline="-25000" dirty="0">
                <a:latin typeface="Cambria Math" panose="02040503050406030204" pitchFamily="18" charset="0"/>
              </a:rPr>
              <a:t>2</a:t>
            </a:r>
            <a:r>
              <a:rPr lang="tr-TR" i="1" dirty="0">
                <a:latin typeface="Cambria Math" panose="02040503050406030204" pitchFamily="18" charset="0"/>
              </a:rPr>
              <a:t>[-1 + 2x</a:t>
            </a:r>
            <a:r>
              <a:rPr lang="tr-TR" i="1" baseline="-25000" dirty="0">
                <a:latin typeface="Cambria Math" panose="02040503050406030204" pitchFamily="18" charset="0"/>
              </a:rPr>
              <a:t>2 </a:t>
            </a:r>
            <a:r>
              <a:rPr lang="tr-TR" i="1" dirty="0">
                <a:latin typeface="Cambria Math" panose="02040503050406030204" pitchFamily="18" charset="0"/>
              </a:rPr>
              <a:t>– x</a:t>
            </a:r>
            <a:r>
              <a:rPr lang="tr-TR" i="1" baseline="-25000" dirty="0">
                <a:latin typeface="Cambria Math" panose="02040503050406030204" pitchFamily="18" charset="0"/>
              </a:rPr>
              <a:t>1</a:t>
            </a:r>
            <a:r>
              <a:rPr lang="tr-TR" i="1" dirty="0">
                <a:latin typeface="Cambria Math" panose="02040503050406030204" pitchFamily="18" charset="0"/>
              </a:rPr>
              <a:t> -</a:t>
            </a:r>
            <a:r>
              <a:rPr lang="tr-TR" dirty="0"/>
              <a:t>λ</a:t>
            </a:r>
            <a:r>
              <a:rPr lang="tr-TR" baseline="-25000" dirty="0"/>
              <a:t>1</a:t>
            </a:r>
            <a:r>
              <a:rPr lang="tr-TR" i="1" baseline="-25000" dirty="0">
                <a:latin typeface="Cambria Math" panose="02040503050406030204" pitchFamily="18" charset="0"/>
              </a:rPr>
              <a:t> </a:t>
            </a:r>
            <a:r>
              <a:rPr lang="tr-TR" i="1" dirty="0">
                <a:latin typeface="Cambria Math" panose="02040503050406030204" pitchFamily="18" charset="0"/>
              </a:rPr>
              <a:t>+3</a:t>
            </a:r>
            <a:r>
              <a:rPr lang="tr-TR" dirty="0"/>
              <a:t>λ</a:t>
            </a:r>
            <a:r>
              <a:rPr lang="tr-TR" i="1" baseline="-25000" dirty="0">
                <a:latin typeface="Cambria Math" panose="02040503050406030204" pitchFamily="18" charset="0"/>
              </a:rPr>
              <a:t>2</a:t>
            </a:r>
            <a:r>
              <a:rPr lang="tr-TR" i="1" dirty="0">
                <a:latin typeface="Cambria Math" panose="02040503050406030204" pitchFamily="18" charset="0"/>
              </a:rPr>
              <a:t> ] = 0</a:t>
            </a:r>
            <a:endParaRPr lang="tr-TR" i="1" baseline="-25000" dirty="0">
              <a:latin typeface="Cambria Math" panose="02040503050406030204" pitchFamily="18" charset="0"/>
            </a:endParaRPr>
          </a:p>
        </p:txBody>
      </p:sp>
      <p:sp>
        <p:nvSpPr>
          <p:cNvPr id="19" name="Dikdörtgen 18"/>
          <p:cNvSpPr/>
          <p:nvPr/>
        </p:nvSpPr>
        <p:spPr>
          <a:xfrm>
            <a:off x="179510" y="4903181"/>
            <a:ext cx="4968554" cy="369332"/>
          </a:xfrm>
          <a:prstGeom prst="rect">
            <a:avLst/>
          </a:prstGeom>
        </p:spPr>
        <p:txBody>
          <a:bodyPr wrap="square">
            <a:spAutoFit/>
          </a:bodyPr>
          <a:lstStyle/>
          <a:p>
            <a:r>
              <a:rPr lang="tr-TR" i="1" dirty="0">
                <a:latin typeface="Cambria Math" panose="02040503050406030204" pitchFamily="18" charset="0"/>
              </a:rPr>
              <a:t>x</a:t>
            </a:r>
            <a:r>
              <a:rPr lang="tr-TR" i="1" baseline="-25000" dirty="0">
                <a:latin typeface="Cambria Math" panose="02040503050406030204" pitchFamily="18" charset="0"/>
              </a:rPr>
              <a:t>1</a:t>
            </a:r>
            <a:r>
              <a:rPr lang="tr-TR" i="1" dirty="0">
                <a:latin typeface="Cambria Math" panose="02040503050406030204" pitchFamily="18" charset="0"/>
              </a:rPr>
              <a:t>+x</a:t>
            </a:r>
            <a:r>
              <a:rPr lang="tr-TR" i="1" baseline="-25000" dirty="0">
                <a:latin typeface="Cambria Math" panose="02040503050406030204" pitchFamily="18" charset="0"/>
              </a:rPr>
              <a:t>2</a:t>
            </a:r>
            <a:r>
              <a:rPr lang="tr-TR" i="1" dirty="0">
                <a:latin typeface="Cambria Math" panose="02040503050406030204" pitchFamily="18" charset="0"/>
              </a:rPr>
              <a:t>-3 ≤ 0  ve  -2x</a:t>
            </a:r>
            <a:r>
              <a:rPr lang="tr-TR" i="1" baseline="-25000" dirty="0">
                <a:latin typeface="Cambria Math" panose="02040503050406030204" pitchFamily="18" charset="0"/>
              </a:rPr>
              <a:t>1</a:t>
            </a:r>
            <a:r>
              <a:rPr lang="tr-TR" i="1" dirty="0">
                <a:latin typeface="Cambria Math" panose="02040503050406030204" pitchFamily="18" charset="0"/>
              </a:rPr>
              <a:t>-3x</a:t>
            </a:r>
            <a:r>
              <a:rPr lang="tr-TR" i="1" baseline="-25000" dirty="0">
                <a:latin typeface="Cambria Math" panose="02040503050406030204" pitchFamily="18" charset="0"/>
              </a:rPr>
              <a:t>2</a:t>
            </a:r>
            <a:r>
              <a:rPr lang="tr-TR" i="1" dirty="0">
                <a:latin typeface="Cambria Math" panose="02040503050406030204" pitchFamily="18" charset="0"/>
              </a:rPr>
              <a:t>+6 ≤ 0</a:t>
            </a:r>
          </a:p>
        </p:txBody>
      </p:sp>
      <p:sp>
        <p:nvSpPr>
          <p:cNvPr id="20" name="Dikdörtgen 19"/>
          <p:cNvSpPr/>
          <p:nvPr/>
        </p:nvSpPr>
        <p:spPr>
          <a:xfrm>
            <a:off x="179510" y="5386133"/>
            <a:ext cx="3942426" cy="369332"/>
          </a:xfrm>
          <a:prstGeom prst="rect">
            <a:avLst/>
          </a:prstGeom>
        </p:spPr>
        <p:txBody>
          <a:bodyPr wrap="none">
            <a:spAutoFit/>
          </a:bodyPr>
          <a:lstStyle/>
          <a:p>
            <a:r>
              <a:rPr lang="tr-TR" dirty="0"/>
              <a:t>λ</a:t>
            </a:r>
            <a:r>
              <a:rPr lang="tr-TR" baseline="-25000" dirty="0"/>
              <a:t>1</a:t>
            </a:r>
            <a:r>
              <a:rPr lang="tr-TR" i="1" dirty="0">
                <a:latin typeface="Cambria Math" panose="02040503050406030204" pitchFamily="18" charset="0"/>
              </a:rPr>
              <a:t>[x</a:t>
            </a:r>
            <a:r>
              <a:rPr lang="tr-TR" i="1" baseline="-25000" dirty="0">
                <a:latin typeface="Cambria Math" panose="02040503050406030204" pitchFamily="18" charset="0"/>
              </a:rPr>
              <a:t>1</a:t>
            </a:r>
            <a:r>
              <a:rPr lang="tr-TR" i="1" dirty="0">
                <a:latin typeface="Cambria Math" panose="02040503050406030204" pitchFamily="18" charset="0"/>
              </a:rPr>
              <a:t>+x</a:t>
            </a:r>
            <a:r>
              <a:rPr lang="tr-TR" i="1" baseline="-25000" dirty="0">
                <a:latin typeface="Cambria Math" panose="02040503050406030204" pitchFamily="18" charset="0"/>
              </a:rPr>
              <a:t>2</a:t>
            </a:r>
            <a:r>
              <a:rPr lang="tr-TR" i="1" dirty="0">
                <a:latin typeface="Cambria Math" panose="02040503050406030204" pitchFamily="18" charset="0"/>
              </a:rPr>
              <a:t>-3]= 0  ve  </a:t>
            </a:r>
            <a:r>
              <a:rPr lang="tr-TR" dirty="0"/>
              <a:t>λ</a:t>
            </a:r>
            <a:r>
              <a:rPr lang="tr-TR" baseline="-25000" dirty="0"/>
              <a:t>2</a:t>
            </a:r>
            <a:r>
              <a:rPr lang="tr-TR" i="1" dirty="0">
                <a:latin typeface="Cambria Math" panose="02040503050406030204" pitchFamily="18" charset="0"/>
              </a:rPr>
              <a:t>[-2x</a:t>
            </a:r>
            <a:r>
              <a:rPr lang="tr-TR" i="1" baseline="-25000" dirty="0">
                <a:latin typeface="Cambria Math" panose="02040503050406030204" pitchFamily="18" charset="0"/>
              </a:rPr>
              <a:t>1</a:t>
            </a:r>
            <a:r>
              <a:rPr lang="tr-TR" i="1" dirty="0">
                <a:latin typeface="Cambria Math" panose="02040503050406030204" pitchFamily="18" charset="0"/>
              </a:rPr>
              <a:t>-3x</a:t>
            </a:r>
            <a:r>
              <a:rPr lang="tr-TR" i="1" baseline="-25000" dirty="0">
                <a:latin typeface="Cambria Math" panose="02040503050406030204" pitchFamily="18" charset="0"/>
              </a:rPr>
              <a:t>2</a:t>
            </a:r>
            <a:r>
              <a:rPr lang="tr-TR" i="1" dirty="0">
                <a:latin typeface="Cambria Math" panose="02040503050406030204" pitchFamily="18" charset="0"/>
              </a:rPr>
              <a:t>+6] = 0</a:t>
            </a:r>
          </a:p>
        </p:txBody>
      </p:sp>
      <p:sp>
        <p:nvSpPr>
          <p:cNvPr id="21" name="Dikdörtgen 20"/>
          <p:cNvSpPr/>
          <p:nvPr/>
        </p:nvSpPr>
        <p:spPr>
          <a:xfrm>
            <a:off x="179510" y="5869085"/>
            <a:ext cx="2666814" cy="369332"/>
          </a:xfrm>
          <a:prstGeom prst="rect">
            <a:avLst/>
          </a:prstGeom>
        </p:spPr>
        <p:txBody>
          <a:bodyPr wrap="square">
            <a:spAutoFit/>
          </a:bodyPr>
          <a:lstStyle/>
          <a:p>
            <a:r>
              <a:rPr lang="tr-TR" i="1" dirty="0">
                <a:latin typeface="Cambria Math" panose="02040503050406030204" pitchFamily="18" charset="0"/>
              </a:rPr>
              <a:t>x</a:t>
            </a:r>
            <a:r>
              <a:rPr lang="tr-TR" i="1" baseline="-25000" dirty="0">
                <a:latin typeface="Cambria Math" panose="02040503050406030204" pitchFamily="18" charset="0"/>
              </a:rPr>
              <a:t>1</a:t>
            </a:r>
            <a:r>
              <a:rPr lang="tr-TR" i="1" dirty="0">
                <a:latin typeface="Cambria Math" panose="02040503050406030204" pitchFamily="18" charset="0"/>
              </a:rPr>
              <a:t>,x</a:t>
            </a:r>
            <a:r>
              <a:rPr lang="tr-TR" i="1" baseline="-25000" dirty="0">
                <a:latin typeface="Cambria Math" panose="02040503050406030204" pitchFamily="18" charset="0"/>
              </a:rPr>
              <a:t>2</a:t>
            </a:r>
            <a:r>
              <a:rPr lang="tr-TR" i="1" dirty="0">
                <a:latin typeface="Cambria Math" panose="02040503050406030204" pitchFamily="18" charset="0"/>
              </a:rPr>
              <a:t> ≥ 0  ve </a:t>
            </a:r>
            <a:r>
              <a:rPr lang="tr-TR" dirty="0"/>
              <a:t>λ</a:t>
            </a:r>
            <a:r>
              <a:rPr lang="tr-TR" baseline="-25000" dirty="0"/>
              <a:t>1</a:t>
            </a:r>
            <a:r>
              <a:rPr lang="tr-TR" i="1" dirty="0">
                <a:latin typeface="Cambria Math" panose="02040503050406030204" pitchFamily="18" charset="0"/>
              </a:rPr>
              <a:t>,</a:t>
            </a:r>
            <a:r>
              <a:rPr lang="tr-TR" dirty="0"/>
              <a:t> λ</a:t>
            </a:r>
            <a:r>
              <a:rPr lang="tr-TR" baseline="-25000" dirty="0"/>
              <a:t>2</a:t>
            </a:r>
            <a:r>
              <a:rPr lang="tr-TR" i="1" dirty="0">
                <a:latin typeface="Cambria Math" panose="02040503050406030204" pitchFamily="18" charset="0"/>
              </a:rPr>
              <a:t> ≥ 0 </a:t>
            </a:r>
          </a:p>
        </p:txBody>
      </p:sp>
    </p:spTree>
    <p:extLst>
      <p:ext uri="{BB962C8B-B14F-4D97-AF65-F5344CB8AC3E}">
        <p14:creationId xmlns:p14="http://schemas.microsoft.com/office/powerpoint/2010/main" val="9206083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8" grpId="0"/>
      <p:bldP spid="19" grpId="0"/>
      <p:bldP spid="20" grpId="0"/>
      <p:bldP spid="21" grpId="0"/>
    </p:bldLst>
  </p:timing>
</p:sld>
</file>

<file path=ppt/theme/theme1.xml><?xml version="1.0" encoding="utf-8"?>
<a:theme xmlns:a="http://schemas.openxmlformats.org/drawingml/2006/main" name="Sunum_Sablon">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sunum_01</Template>
  <TotalTime>8494</TotalTime>
  <Words>3020</Words>
  <Application>Microsoft Office PowerPoint</Application>
  <PresentationFormat>Ekran Gösterisi (4:3)</PresentationFormat>
  <Paragraphs>260</Paragraphs>
  <Slides>20</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20</vt:i4>
      </vt:variant>
    </vt:vector>
  </HeadingPairs>
  <TitlesOfParts>
    <vt:vector size="25" baseType="lpstr">
      <vt:lpstr>Arial</vt:lpstr>
      <vt:lpstr>Calibri</vt:lpstr>
      <vt:lpstr>Cambria Math</vt:lpstr>
      <vt:lpstr>Times New Roman</vt:lpstr>
      <vt:lpstr>Sunum_Sablon</vt:lpstr>
      <vt:lpstr>Doğrusal Olmayan Modeller (Nonlinear Programming)</vt:lpstr>
      <vt:lpstr>Çok Değişkenli Kısıtlı Doğrusal Olmayan Problemlerin Optimizasyonu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mfbim</dc:creator>
  <cp:lastModifiedBy>Furkan Yener</cp:lastModifiedBy>
  <cp:revision>264</cp:revision>
  <dcterms:created xsi:type="dcterms:W3CDTF">2014-06-24T22:31:22Z</dcterms:created>
  <dcterms:modified xsi:type="dcterms:W3CDTF">2026-04-14T09:17:48Z</dcterms:modified>
</cp:coreProperties>
</file>